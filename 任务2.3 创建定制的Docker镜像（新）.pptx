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7"/>
  </p:handoutMasterIdLst>
  <p:sldIdLst>
    <p:sldId id="395" r:id="rId3"/>
    <p:sldId id="461" r:id="rId4"/>
    <p:sldId id="441" r:id="rId6"/>
    <p:sldId id="519" r:id="rId7"/>
    <p:sldId id="509" r:id="rId8"/>
    <p:sldId id="510" r:id="rId9"/>
    <p:sldId id="443" r:id="rId10"/>
    <p:sldId id="511" r:id="rId11"/>
    <p:sldId id="444" r:id="rId12"/>
    <p:sldId id="445" r:id="rId13"/>
    <p:sldId id="522" r:id="rId14"/>
    <p:sldId id="446" r:id="rId15"/>
    <p:sldId id="523" r:id="rId16"/>
    <p:sldId id="533" r:id="rId17"/>
    <p:sldId id="521" r:id="rId18"/>
    <p:sldId id="447" r:id="rId19"/>
    <p:sldId id="552" r:id="rId20"/>
    <p:sldId id="448" r:id="rId21"/>
    <p:sldId id="449" r:id="rId22"/>
    <p:sldId id="553" r:id="rId23"/>
    <p:sldId id="512" r:id="rId24"/>
    <p:sldId id="524" r:id="rId25"/>
    <p:sldId id="457" r:id="rId26"/>
    <p:sldId id="450" r:id="rId27"/>
    <p:sldId id="513" r:id="rId28"/>
    <p:sldId id="451" r:id="rId29"/>
    <p:sldId id="463" r:id="rId30"/>
    <p:sldId id="514" r:id="rId31"/>
    <p:sldId id="452" r:id="rId32"/>
    <p:sldId id="453" r:id="rId33"/>
    <p:sldId id="454" r:id="rId34"/>
    <p:sldId id="525" r:id="rId35"/>
    <p:sldId id="515" r:id="rId36"/>
    <p:sldId id="455" r:id="rId37"/>
    <p:sldId id="516" r:id="rId38"/>
    <p:sldId id="456" r:id="rId39"/>
    <p:sldId id="517" r:id="rId40"/>
    <p:sldId id="458" r:id="rId41"/>
    <p:sldId id="518" r:id="rId42"/>
    <p:sldId id="526" r:id="rId43"/>
    <p:sldId id="459" r:id="rId44"/>
    <p:sldId id="554" r:id="rId45"/>
    <p:sldId id="460"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8DD6"/>
    <a:srgbClr val="0063B2"/>
    <a:srgbClr val="EDF1F9"/>
    <a:srgbClr val="B6D9F0"/>
    <a:srgbClr val="A0B0D3"/>
    <a:srgbClr val="DAE3F3"/>
    <a:srgbClr val="016BB9"/>
    <a:srgbClr val="DEEBF7"/>
    <a:srgbClr val="0068B6"/>
    <a:srgbClr val="0064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812" autoAdjust="0"/>
  </p:normalViewPr>
  <p:slideViewPr>
    <p:cSldViewPr snapToGrid="0" showGuides="1">
      <p:cViewPr varScale="1">
        <p:scale>
          <a:sx n="61" d="100"/>
          <a:sy n="61" d="100"/>
        </p:scale>
        <p:origin x="884" y="44"/>
      </p:cViewPr>
      <p:guideLst>
        <p:guide orient="horz" pos="2183"/>
        <p:guide pos="3840"/>
      </p:guideLst>
    </p:cSldViewPr>
  </p:slideViewPr>
  <p:notesTextViewPr>
    <p:cViewPr>
      <p:scale>
        <a:sx n="100" d="100"/>
        <a:sy n="100" d="100"/>
      </p:scale>
      <p:origin x="0" y="0"/>
    </p:cViewPr>
  </p:notesTextViewPr>
  <p:notesViewPr>
    <p:cSldViewPr snapToGrid="0">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BBF551-70EC-4E3F-9FBE-1862FD986C5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0A9C15-4D1B-4AA7-802D-1E9F37B707E8}"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C97C25-A3C2-437F-B073-E206E94E42F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11E8FA-5AB5-4729-980C-381F1271828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en-US" altLang="zh-CN" sz="1200" dirty="0">
              <a:latin typeface="+mn-ea"/>
              <a:ea typeface="+mn-ea"/>
            </a:endParaRPr>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en-US" altLang="zh-CN" sz="1200" dirty="0">
              <a:latin typeface="+mn-ea"/>
              <a:ea typeface="+mn-ea"/>
            </a:endParaRPr>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611E8FA-5AB5-4729-980C-381F1271828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en-US" altLang="zh-CN" dirty="0"/>
          </a:p>
          <a:p>
            <a:endParaRPr lang="en-US" altLang="zh-CN" dirty="0"/>
          </a:p>
          <a:p>
            <a:r>
              <a:rPr lang="en-US" altLang="zh-CN" sz="1200" dirty="0">
                <a:latin typeface="+mn-ea"/>
                <a:ea typeface="+mn-ea"/>
              </a:rPr>
              <a:t>digest</a:t>
            </a:r>
            <a:r>
              <a:rPr lang="zh-CN" altLang="en-US" sz="1200" dirty="0">
                <a:latin typeface="+mn-ea"/>
                <a:ea typeface="+mn-ea"/>
              </a:rPr>
              <a:t>翻译摘要</a:t>
            </a:r>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en-US" altLang="zh-CN" dirty="0"/>
          </a:p>
          <a:p>
            <a:endParaRPr lang="en-US" altLang="zh-CN" dirty="0"/>
          </a:p>
          <a:p>
            <a:r>
              <a:rPr lang="en-US" altLang="zh-CN" sz="1200" dirty="0">
                <a:latin typeface="+mn-ea"/>
                <a:ea typeface="+mn-ea"/>
              </a:rPr>
              <a:t>digest</a:t>
            </a:r>
            <a:r>
              <a:rPr lang="zh-CN" altLang="en-US" sz="1200" dirty="0">
                <a:latin typeface="+mn-ea"/>
                <a:ea typeface="+mn-ea"/>
              </a:rPr>
              <a:t>翻译摘要</a:t>
            </a:r>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dirty="0">
              <a:latin typeface="+mn-ea"/>
              <a:ea typeface="+mn-ea"/>
            </a:endParaRPr>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dirty="0">
              <a:latin typeface="+mn-ea"/>
              <a:ea typeface="+mn-ea"/>
            </a:endParaRPr>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err="1"/>
              <a:t>Aufs</a:t>
            </a:r>
            <a:r>
              <a:rPr lang="zh-CN" altLang="en-US" sz="1200" dirty="0"/>
              <a:t>为联合文件系统</a:t>
            </a:r>
            <a:endParaRPr lang="zh-CN" altLang="zh-CN" sz="1200" dirty="0">
              <a:latin typeface="+mn-ea"/>
              <a:ea typeface="+mn-ea"/>
            </a:endParaRPr>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dirty="0">
              <a:latin typeface="+mn-ea"/>
              <a:ea typeface="+mn-ea"/>
            </a:endParaRPr>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9F8A8C39-4D01-412E-8852-E8850FD803D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7" name="矩形 6"/>
          <p:cNvSpPr/>
          <p:nvPr userDrawn="1"/>
        </p:nvSpPr>
        <p:spPr>
          <a:xfrm>
            <a:off x="0" y="1630590"/>
            <a:ext cx="12192000" cy="2075831"/>
          </a:xfrm>
          <a:prstGeom prst="rect">
            <a:avLst/>
          </a:prstGeom>
          <a:solidFill>
            <a:srgbClr val="0380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矩形 7"/>
          <p:cNvSpPr/>
          <p:nvPr userDrawn="1"/>
        </p:nvSpPr>
        <p:spPr>
          <a:xfrm>
            <a:off x="-12700" y="1489833"/>
            <a:ext cx="12187773" cy="62048"/>
          </a:xfrm>
          <a:prstGeom prst="rect">
            <a:avLst/>
          </a:prstGeom>
          <a:gradFill flip="none" rotWithShape="1">
            <a:gsLst>
              <a:gs pos="40000">
                <a:srgbClr val="0876EE"/>
              </a:gs>
              <a:gs pos="89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矩形 8"/>
          <p:cNvSpPr/>
          <p:nvPr userDrawn="1"/>
        </p:nvSpPr>
        <p:spPr>
          <a:xfrm flipH="1">
            <a:off x="4226" y="3786992"/>
            <a:ext cx="12187773" cy="62048"/>
          </a:xfrm>
          <a:prstGeom prst="rect">
            <a:avLst/>
          </a:prstGeom>
          <a:gradFill flip="none" rotWithShape="1">
            <a:gsLst>
              <a:gs pos="40000">
                <a:srgbClr val="0380F5"/>
              </a:gs>
              <a:gs pos="89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7" name="文本框 16"/>
          <p:cNvSpPr txBox="1"/>
          <p:nvPr userDrawn="1"/>
        </p:nvSpPr>
        <p:spPr>
          <a:xfrm>
            <a:off x="11205796" y="6381704"/>
            <a:ext cx="730250"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/11</a:t>
            </a:r>
            <a:endParaRPr lang="zh-CN" altLang="en-US" sz="1600" dirty="0">
              <a:latin typeface="Times New Roman" panose="02020603050405020304" pitchFamily="18" charset="0"/>
              <a:cs typeface="Times New Roman" panose="02020603050405020304" pitchFamily="18" charset="0"/>
            </a:endParaRPr>
          </a:p>
        </p:txBody>
      </p:sp>
      <p:sp>
        <p:nvSpPr>
          <p:cNvPr id="18" name="日期占位符 17"/>
          <p:cNvSpPr>
            <a:spLocks noGrp="1"/>
          </p:cNvSpPr>
          <p:nvPr>
            <p:ph type="dt" sz="half" idx="10"/>
          </p:nvPr>
        </p:nvSpPr>
        <p:spPr/>
        <p:txBody>
          <a:bodyPr/>
          <a:lstStyle/>
          <a:p>
            <a:fld id="{63500EF0-3F86-4491-BB4E-704FA8E6DE37}" type="datetime1">
              <a:rPr lang="zh-CN" altLang="en-US" smtClean="0"/>
            </a:fld>
            <a:endParaRPr lang="zh-CN" altLang="en-US"/>
          </a:p>
        </p:txBody>
      </p:sp>
      <p:sp>
        <p:nvSpPr>
          <p:cNvPr id="19" name="页脚占位符 18"/>
          <p:cNvSpPr>
            <a:spLocks noGrp="1"/>
          </p:cNvSpPr>
          <p:nvPr>
            <p:ph type="ftr" sz="quarter" idx="11"/>
          </p:nvPr>
        </p:nvSpPr>
        <p:spPr/>
        <p:txBody>
          <a:bodyPr/>
          <a:lstStyle/>
          <a:p>
            <a:endParaRPr lang="zh-CN" altLang="en-US"/>
          </a:p>
        </p:txBody>
      </p:sp>
      <p:sp>
        <p:nvSpPr>
          <p:cNvPr id="12" name="灯片编号占位符 5"/>
          <p:cNvSpPr txBox="1"/>
          <p:nvPr userDrawn="1"/>
        </p:nvSpPr>
        <p:spPr>
          <a:xfrm>
            <a:off x="8646040" y="6370525"/>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D0E1D26-A124-4844-9428-FF4B8031A4B7}" type="slidenum">
              <a:rPr lang="zh-CN" altLang="en-US" sz="1600" smtClean="0">
                <a:solidFill>
                  <a:schemeClr val="tx1"/>
                </a:solidFill>
                <a:latin typeface="Times New Roman" panose="02020603050405020304" pitchFamily="18" charset="0"/>
                <a:cs typeface="Times New Roman" panose="02020603050405020304" pitchFamily="18" charset="0"/>
              </a:rPr>
            </a:fld>
            <a:endParaRPr lang="zh-CN" altLang="en-US" sz="1600" dirty="0">
              <a:solidFill>
                <a:schemeClr val="tx1"/>
              </a:solidFill>
              <a:latin typeface="Times New Roman" panose="02020603050405020304" pitchFamily="18" charset="0"/>
              <a:cs typeface="Times New Roman" panose="02020603050405020304" pitchFamily="18" charset="0"/>
            </a:endParaRPr>
          </a:p>
        </p:txBody>
      </p:sp>
      <p:sp>
        <p:nvSpPr>
          <p:cNvPr id="14" name="矩形 13"/>
          <p:cNvSpPr/>
          <p:nvPr userDrawn="1"/>
        </p:nvSpPr>
        <p:spPr>
          <a:xfrm>
            <a:off x="-12700" y="707573"/>
            <a:ext cx="12187773" cy="45719"/>
          </a:xfrm>
          <a:prstGeom prst="rect">
            <a:avLst/>
          </a:prstGeom>
          <a:gradFill flip="none" rotWithShape="1">
            <a:gsLst>
              <a:gs pos="40000">
                <a:srgbClr val="0876EE"/>
              </a:gs>
              <a:gs pos="89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4" y="504496"/>
            <a:ext cx="12198728" cy="6353504"/>
          </a:xfrm>
          <a:prstGeom prst="rect">
            <a:avLst/>
          </a:prstGeom>
        </p:spPr>
      </p:pic>
      <p:sp>
        <p:nvSpPr>
          <p:cNvPr id="6" name="矩形 5"/>
          <p:cNvSpPr/>
          <p:nvPr userDrawn="1"/>
        </p:nvSpPr>
        <p:spPr>
          <a:xfrm>
            <a:off x="0" y="504496"/>
            <a:ext cx="12192000" cy="6353504"/>
          </a:xfrm>
          <a:prstGeom prst="rect">
            <a:avLst/>
          </a:prstGeom>
          <a:gradFill>
            <a:gsLst>
              <a:gs pos="0">
                <a:schemeClr val="bg1"/>
              </a:gs>
              <a:gs pos="55000">
                <a:srgbClr val="F0F4FA">
                  <a:alpha val="76000"/>
                </a:srgbClr>
              </a:gs>
              <a:gs pos="91000">
                <a:schemeClr val="accent1">
                  <a:lumMod val="20000"/>
                  <a:lumOff val="80000"/>
                  <a:alpha val="3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1" dirty="0"/>
          </a:p>
        </p:txBody>
      </p:sp>
      <p:sp>
        <p:nvSpPr>
          <p:cNvPr id="7" name="矩形 6"/>
          <p:cNvSpPr/>
          <p:nvPr userDrawn="1"/>
        </p:nvSpPr>
        <p:spPr>
          <a:xfrm>
            <a:off x="-3364" y="504496"/>
            <a:ext cx="12202092" cy="6353504"/>
          </a:xfrm>
          <a:prstGeom prst="rect">
            <a:avLst/>
          </a:prstGeom>
          <a:gradFill>
            <a:gsLst>
              <a:gs pos="0">
                <a:schemeClr val="bg1"/>
              </a:gs>
              <a:gs pos="55000">
                <a:schemeClr val="bg1">
                  <a:alpha val="30000"/>
                </a:schemeClr>
              </a:gs>
              <a:gs pos="91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grpSp>
        <p:nvGrpSpPr>
          <p:cNvPr id="5" name="组合 4"/>
          <p:cNvGrpSpPr/>
          <p:nvPr userDrawn="1"/>
        </p:nvGrpSpPr>
        <p:grpSpPr>
          <a:xfrm>
            <a:off x="0" y="356660"/>
            <a:ext cx="839416" cy="459741"/>
            <a:chOff x="0" y="1196752"/>
            <a:chExt cx="839416" cy="576064"/>
          </a:xfrm>
        </p:grpSpPr>
        <p:sp>
          <p:nvSpPr>
            <p:cNvPr id="3" name="矩形 2"/>
            <p:cNvSpPr/>
            <p:nvPr userDrawn="1"/>
          </p:nvSpPr>
          <p:spPr>
            <a:xfrm>
              <a:off x="0" y="1196752"/>
              <a:ext cx="839416" cy="576064"/>
            </a:xfrm>
            <a:custGeom>
              <a:avLst/>
              <a:gdLst>
                <a:gd name="connsiteX0" fmla="*/ 0 w 839416"/>
                <a:gd name="connsiteY0" fmla="*/ 0 h 576064"/>
                <a:gd name="connsiteX1" fmla="*/ 839416 w 839416"/>
                <a:gd name="connsiteY1" fmla="*/ 0 h 576064"/>
                <a:gd name="connsiteX2" fmla="*/ 839416 w 839416"/>
                <a:gd name="connsiteY2" fmla="*/ 576064 h 576064"/>
                <a:gd name="connsiteX3" fmla="*/ 0 w 839416"/>
                <a:gd name="connsiteY3" fmla="*/ 576064 h 576064"/>
                <a:gd name="connsiteX4" fmla="*/ 0 w 839416"/>
                <a:gd name="connsiteY4" fmla="*/ 0 h 576064"/>
                <a:gd name="connsiteX0-1" fmla="*/ 0 w 839416"/>
                <a:gd name="connsiteY0-2" fmla="*/ 0 h 576064"/>
                <a:gd name="connsiteX1-3" fmla="*/ 839416 w 839416"/>
                <a:gd name="connsiteY1-4" fmla="*/ 0 h 576064"/>
                <a:gd name="connsiteX2-5" fmla="*/ 622722 w 839416"/>
                <a:gd name="connsiteY2-6" fmla="*/ 576064 h 576064"/>
                <a:gd name="connsiteX3-7" fmla="*/ 0 w 839416"/>
                <a:gd name="connsiteY3-8" fmla="*/ 576064 h 576064"/>
                <a:gd name="connsiteX4-9" fmla="*/ 0 w 839416"/>
                <a:gd name="connsiteY4-10" fmla="*/ 0 h 57606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39416" h="576064">
                  <a:moveTo>
                    <a:pt x="0" y="0"/>
                  </a:moveTo>
                  <a:lnTo>
                    <a:pt x="839416" y="0"/>
                  </a:lnTo>
                  <a:lnTo>
                    <a:pt x="622722" y="576064"/>
                  </a:lnTo>
                  <a:lnTo>
                    <a:pt x="0" y="576064"/>
                  </a:lnTo>
                  <a:lnTo>
                    <a:pt x="0" y="0"/>
                  </a:lnTo>
                  <a:close/>
                </a:path>
              </a:pathLst>
            </a:custGeom>
            <a:gradFill>
              <a:gsLst>
                <a:gs pos="0">
                  <a:srgbClr val="0290D9"/>
                </a:gs>
                <a:gs pos="100000">
                  <a:srgbClr val="005EAE"/>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 name="平行四边形 3"/>
            <p:cNvSpPr/>
            <p:nvPr userDrawn="1"/>
          </p:nvSpPr>
          <p:spPr>
            <a:xfrm>
              <a:off x="335360" y="1196752"/>
              <a:ext cx="359010" cy="576064"/>
            </a:xfrm>
            <a:prstGeom prst="parallelogram">
              <a:avLst>
                <a:gd name="adj" fmla="val 644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grpSp>
      <p:sp>
        <p:nvSpPr>
          <p:cNvPr id="9" name="文本占位符 8"/>
          <p:cNvSpPr>
            <a:spLocks noGrp="1"/>
          </p:cNvSpPr>
          <p:nvPr>
            <p:ph type="body" sz="quarter" idx="11"/>
          </p:nvPr>
        </p:nvSpPr>
        <p:spPr>
          <a:xfrm>
            <a:off x="911424" y="356660"/>
            <a:ext cx="5832648" cy="459741"/>
          </a:xfrm>
          <a:prstGeom prst="rect">
            <a:avLst/>
          </a:prstGeom>
        </p:spPr>
        <p:txBody>
          <a:bodyPr anchor="ctr"/>
          <a:lstStyle>
            <a:lvl1pPr marL="0" indent="0">
              <a:lnSpc>
                <a:spcPct val="100000"/>
              </a:lnSpc>
              <a:buNone/>
              <a:defRPr b="1">
                <a:gradFill>
                  <a:gsLst>
                    <a:gs pos="0">
                      <a:srgbClr val="0290D9"/>
                    </a:gs>
                    <a:gs pos="100000">
                      <a:srgbClr val="005EAE"/>
                    </a:gs>
                  </a:gsLst>
                  <a:lin ang="12600000" scaled="0"/>
                </a:gra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endParaRPr lang="zh-CN" altLang="en-US" dirty="0"/>
          </a:p>
        </p:txBody>
      </p:sp>
      <p:sp>
        <p:nvSpPr>
          <p:cNvPr id="15" name="灯片编号占位符 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zh-CN"/>
            </a:defPPr>
            <a:lvl1pPr algn="r" rtl="0" fontAlgn="base">
              <a:spcBef>
                <a:spcPct val="0"/>
              </a:spcBef>
              <a:spcAft>
                <a:spcPct val="0"/>
              </a:spcAft>
              <a:defRPr sz="1200" kern="1200">
                <a:solidFill>
                  <a:schemeClr val="tx1">
                    <a:tint val="75000"/>
                  </a:schemeClr>
                </a:solidFill>
                <a:latin typeface="Calibri" panose="020F0502020204030204" pitchFamily="34" charset="0"/>
                <a:ea typeface="宋体" panose="02010600030101010101" pitchFamily="2" charset="-122"/>
                <a:cs typeface="+mn-cs"/>
              </a:defRPr>
            </a:lvl1pPr>
            <a:lvl2pPr marL="853440" indent="-2438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710055" indent="-4908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2567940" indent="-7391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3424555" indent="-9861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30480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36576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42672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48768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fld id="{F21F446F-02CD-4906-9B37-1D4219243EBF}"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 name="任意多边形: 形状 1"/>
          <p:cNvSpPr/>
          <p:nvPr userDrawn="1"/>
        </p:nvSpPr>
        <p:spPr>
          <a:xfrm>
            <a:off x="1" y="0"/>
            <a:ext cx="3602183" cy="6858000"/>
          </a:xfrm>
          <a:custGeom>
            <a:avLst/>
            <a:gdLst>
              <a:gd name="connsiteX0" fmla="*/ 0 w 3602182"/>
              <a:gd name="connsiteY0" fmla="*/ 0 h 6858000"/>
              <a:gd name="connsiteX1" fmla="*/ 3602182 w 3602182"/>
              <a:gd name="connsiteY1" fmla="*/ 0 h 6858000"/>
              <a:gd name="connsiteX2" fmla="*/ 3602182 w 3602182"/>
              <a:gd name="connsiteY2" fmla="*/ 766916 h 6858000"/>
              <a:gd name="connsiteX3" fmla="*/ 2628788 w 3602182"/>
              <a:gd name="connsiteY3" fmla="*/ 1740310 h 6858000"/>
              <a:gd name="connsiteX4" fmla="*/ 3602182 w 3602182"/>
              <a:gd name="connsiteY4" fmla="*/ 2713704 h 6858000"/>
              <a:gd name="connsiteX5" fmla="*/ 3602182 w 3602182"/>
              <a:gd name="connsiteY5" fmla="*/ 6858000 h 6858000"/>
              <a:gd name="connsiteX6" fmla="*/ 0 w 36021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2182" h="6858000">
                <a:moveTo>
                  <a:pt x="0" y="0"/>
                </a:moveTo>
                <a:lnTo>
                  <a:pt x="3602182" y="0"/>
                </a:lnTo>
                <a:lnTo>
                  <a:pt x="3602182" y="766916"/>
                </a:lnTo>
                <a:cubicBezTo>
                  <a:pt x="3064591" y="766916"/>
                  <a:pt x="2628788" y="1202719"/>
                  <a:pt x="2628788" y="1740310"/>
                </a:cubicBezTo>
                <a:cubicBezTo>
                  <a:pt x="2628788" y="2277901"/>
                  <a:pt x="3064591" y="2713704"/>
                  <a:pt x="3602182" y="2713704"/>
                </a:cubicBezTo>
                <a:lnTo>
                  <a:pt x="3602182" y="6858000"/>
                </a:lnTo>
                <a:lnTo>
                  <a:pt x="0" y="6858000"/>
                </a:lnTo>
                <a:close/>
              </a:path>
            </a:pathLst>
          </a:custGeom>
          <a:gradFill>
            <a:gsLst>
              <a:gs pos="0">
                <a:srgbClr val="005EAE"/>
              </a:gs>
              <a:gs pos="100000">
                <a:srgbClr val="0290D9"/>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2805769" y="943897"/>
            <a:ext cx="1592827" cy="1592827"/>
            <a:chOff x="2805769" y="943897"/>
            <a:chExt cx="1592826" cy="1592826"/>
          </a:xfrm>
        </p:grpSpPr>
        <p:sp>
          <p:nvSpPr>
            <p:cNvPr id="4" name="椭圆 3"/>
            <p:cNvSpPr/>
            <p:nvPr/>
          </p:nvSpPr>
          <p:spPr>
            <a:xfrm>
              <a:off x="2805769" y="943897"/>
              <a:ext cx="1592826" cy="1592826"/>
            </a:xfrm>
            <a:prstGeom prst="ellipse">
              <a:avLst/>
            </a:prstGeom>
            <a:gradFill>
              <a:gsLst>
                <a:gs pos="0">
                  <a:srgbClr val="005EAE"/>
                </a:gs>
                <a:gs pos="100000">
                  <a:srgbClr val="0290D9"/>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923757" y="1061885"/>
              <a:ext cx="1356850" cy="135685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userDrawn="1"/>
        </p:nvSpPr>
        <p:spPr>
          <a:xfrm>
            <a:off x="9232490" y="383459"/>
            <a:ext cx="2959511" cy="206477"/>
          </a:xfrm>
          <a:prstGeom prst="rect">
            <a:avLst/>
          </a:prstGeom>
          <a:gradFill>
            <a:gsLst>
              <a:gs pos="0">
                <a:srgbClr val="005EAE"/>
              </a:gs>
              <a:gs pos="100000">
                <a:srgbClr val="0290D9"/>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p:nvPr userDrawn="1"/>
        </p:nvPicPr>
        <p:blipFill>
          <a:blip r:embed="rId2">
            <a:extLst>
              <a:ext uri="{28A0092B-C50C-407E-A947-70E740481C1C}">
                <a14:useLocalDpi xmlns:a14="http://schemas.microsoft.com/office/drawing/2010/main" val="0"/>
              </a:ext>
            </a:extLst>
          </a:blip>
          <a:stretch>
            <a:fillRect/>
          </a:stretch>
        </p:blipFill>
        <p:spPr>
          <a:xfrm flipH="1">
            <a:off x="-1582658" y="2418736"/>
            <a:ext cx="5596707" cy="559670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7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400"/>
            <a:r>
              <a:rPr lang="zh-CN" altLang="en-US" dirty="0"/>
              <a:t>添加标题</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5" name="矩形 4"/>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6" name="矩形 5"/>
          <p:cNvSpPr/>
          <p:nvPr userDrawn="1"/>
        </p:nvSpPr>
        <p:spPr>
          <a:xfrm>
            <a:off x="4972050" y="-1"/>
            <a:ext cx="7219950" cy="6934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3676650" y="-1"/>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3676650" y="1158607"/>
            <a:ext cx="1295401" cy="1170543"/>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3676650" y="2280173"/>
            <a:ext cx="1295401" cy="465402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381248"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085846"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209556" y="1146672"/>
            <a:ext cx="1295401" cy="117054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085846" y="0"/>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4972053" y="1158607"/>
            <a:ext cx="7219947" cy="1170543"/>
          </a:xfrm>
          <a:prstGeom prst="rect">
            <a:avLst/>
          </a:pr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21"/>
          <p:cNvSpPr>
            <a:spLocks noGrp="1"/>
          </p:cNvSpPr>
          <p:nvPr>
            <p:ph type="body" sz="quarter" idx="11"/>
          </p:nvPr>
        </p:nvSpPr>
        <p:spPr>
          <a:xfrm>
            <a:off x="5181607" y="1365313"/>
            <a:ext cx="5405967" cy="757130"/>
          </a:xfrm>
          <a:prstGeom prst="rect">
            <a:avLst/>
          </a:prstGeom>
          <a:noFill/>
        </p:spPr>
        <p:txBody>
          <a:bodyPr wrap="square" rtlCol="0">
            <a:spAutoFit/>
          </a:bodyPr>
          <a:lstStyle>
            <a:lvl1pPr marL="0" indent="0">
              <a:buNone/>
              <a:defRPr lang="zh-CN" altLang="en-US" sz="4800" b="1" dirty="0">
                <a:solidFill>
                  <a:schemeClr val="bg1"/>
                </a:solidFill>
              </a:defRPr>
            </a:lvl1pPr>
          </a:lstStyle>
          <a:p>
            <a:pPr marL="0" lvl="0" defTabSz="914400"/>
            <a:endParaRPr lang="zh-CN" altLang="en-US" dirty="0"/>
          </a:p>
        </p:txBody>
      </p:sp>
      <p:sp>
        <p:nvSpPr>
          <p:cNvPr id="16" name="文本占位符 21"/>
          <p:cNvSpPr>
            <a:spLocks noGrp="1"/>
          </p:cNvSpPr>
          <p:nvPr>
            <p:ph type="body" sz="quarter" idx="12"/>
          </p:nvPr>
        </p:nvSpPr>
        <p:spPr>
          <a:xfrm>
            <a:off x="5181606" y="2508676"/>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400"/>
            <a:endParaRPr lang="zh-CN" altLang="en-US" dirty="0"/>
          </a:p>
        </p:txBody>
      </p:sp>
      <p:sp>
        <p:nvSpPr>
          <p:cNvPr id="17" name="文本占位符 21"/>
          <p:cNvSpPr>
            <a:spLocks noGrp="1"/>
          </p:cNvSpPr>
          <p:nvPr>
            <p:ph type="body" sz="quarter" idx="13"/>
          </p:nvPr>
        </p:nvSpPr>
        <p:spPr>
          <a:xfrm>
            <a:off x="5181606" y="3256640"/>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400"/>
            <a:endParaRPr lang="zh-CN" altLang="en-US" dirty="0"/>
          </a:p>
        </p:txBody>
      </p:sp>
      <p:sp>
        <p:nvSpPr>
          <p:cNvPr id="18" name="文本占位符 21"/>
          <p:cNvSpPr>
            <a:spLocks noGrp="1"/>
          </p:cNvSpPr>
          <p:nvPr>
            <p:ph type="body" sz="quarter" idx="14"/>
          </p:nvPr>
        </p:nvSpPr>
        <p:spPr>
          <a:xfrm>
            <a:off x="5181606" y="4004604"/>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400"/>
            <a:endParaRPr lang="zh-CN" altLang="en-US" dirty="0"/>
          </a:p>
        </p:txBody>
      </p:sp>
      <p:sp>
        <p:nvSpPr>
          <p:cNvPr id="19" name="文本占位符 21"/>
          <p:cNvSpPr>
            <a:spLocks noGrp="1"/>
          </p:cNvSpPr>
          <p:nvPr>
            <p:ph type="body" sz="quarter" idx="15"/>
          </p:nvPr>
        </p:nvSpPr>
        <p:spPr>
          <a:xfrm>
            <a:off x="5181606" y="4752568"/>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400"/>
            <a:endParaRPr lang="zh-CN" altLang="en-US" dirty="0"/>
          </a:p>
        </p:txBody>
      </p:sp>
      <p:sp>
        <p:nvSpPr>
          <p:cNvPr id="20" name="文本占位符 21"/>
          <p:cNvSpPr>
            <a:spLocks noGrp="1"/>
          </p:cNvSpPr>
          <p:nvPr>
            <p:ph type="body" sz="quarter" idx="16"/>
          </p:nvPr>
        </p:nvSpPr>
        <p:spPr>
          <a:xfrm>
            <a:off x="5181606" y="5465653"/>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400"/>
            <a:endParaRPr lang="zh-CN" altLang="en-US" dirty="0"/>
          </a:p>
        </p:txBody>
      </p:sp>
      <p:sp>
        <p:nvSpPr>
          <p:cNvPr id="21" name="文本占位符 21"/>
          <p:cNvSpPr>
            <a:spLocks noGrp="1"/>
          </p:cNvSpPr>
          <p:nvPr>
            <p:ph type="body" sz="quarter" idx="17"/>
          </p:nvPr>
        </p:nvSpPr>
        <p:spPr>
          <a:xfrm>
            <a:off x="5181606" y="6213617"/>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400"/>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12" name="矩形 11"/>
          <p:cNvSpPr/>
          <p:nvPr userDrawn="1"/>
        </p:nvSpPr>
        <p:spPr bwMode="auto">
          <a:xfrm>
            <a:off x="0" y="-124529"/>
            <a:ext cx="12192000" cy="698252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3" name="矩形 12"/>
          <p:cNvSpPr/>
          <p:nvPr userDrawn="1"/>
        </p:nvSpPr>
        <p:spPr>
          <a:xfrm>
            <a:off x="2813050" y="2298700"/>
            <a:ext cx="5994400" cy="3124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807449" y="4378592"/>
            <a:ext cx="1155701" cy="104430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9963149" y="3334284"/>
            <a:ext cx="1155701" cy="104430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820147" y="2289976"/>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7600944" y="1245668"/>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657348" y="4378592"/>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657347" y="3334284"/>
            <a:ext cx="1155701" cy="10443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占位符 18"/>
          <p:cNvSpPr>
            <a:spLocks noGrp="1"/>
          </p:cNvSpPr>
          <p:nvPr>
            <p:ph type="body" sz="quarter" idx="10" hasCustomPrompt="1"/>
          </p:nvPr>
        </p:nvSpPr>
        <p:spPr>
          <a:xfrm>
            <a:off x="4379409" y="2501900"/>
            <a:ext cx="2861681" cy="2048766"/>
          </a:xfrm>
          <a:prstGeom prst="rect">
            <a:avLst/>
          </a:prstGeom>
        </p:spPr>
        <p:txBody>
          <a:bodyPr wrap="none">
            <a:spAutoFit/>
          </a:bodyPr>
          <a:lstStyle>
            <a:lvl1pPr marL="0" indent="0">
              <a:buNone/>
              <a:defRPr kumimoji="1" lang="zh-CN" altLang="en-US" sz="6600" b="1" dirty="0">
                <a:solidFill>
                  <a:schemeClr val="bg1"/>
                </a:solidFill>
              </a:defRPr>
            </a:lvl1pPr>
          </a:lstStyle>
          <a:p>
            <a:pPr algn="ctr"/>
            <a:r>
              <a:rPr kumimoji="1" lang="en-US" altLang="zh-CN" sz="6600" b="1" dirty="0">
                <a:solidFill>
                  <a:schemeClr val="bg1"/>
                </a:solidFill>
              </a:rPr>
              <a:t>THANK</a:t>
            </a:r>
            <a:r>
              <a:rPr kumimoji="1" lang="zh-CN" altLang="en-US" sz="6600" b="1" dirty="0">
                <a:solidFill>
                  <a:schemeClr val="bg1"/>
                </a:solidFill>
              </a:rPr>
              <a:t> </a:t>
            </a:r>
            <a:endParaRPr kumimoji="1" lang="en-US" altLang="zh-CN" sz="6600" b="1" dirty="0">
              <a:solidFill>
                <a:schemeClr val="bg1"/>
              </a:solidFill>
            </a:endParaRPr>
          </a:p>
          <a:p>
            <a:pPr algn="ctr"/>
            <a:r>
              <a:rPr kumimoji="1" lang="en-US" altLang="zh-CN" sz="6600" b="1" dirty="0">
                <a:solidFill>
                  <a:schemeClr val="bg1"/>
                </a:solidFill>
              </a:rPr>
              <a:t>YOU!</a:t>
            </a:r>
            <a:endParaRPr kumimoji="1" lang="zh-CN" altLang="en-US" sz="6600" b="1" dirty="0">
              <a:solidFill>
                <a:schemeClr val="bg1"/>
              </a:solidFill>
            </a:endParaRPr>
          </a:p>
        </p:txBody>
      </p:sp>
      <p:grpSp>
        <p:nvGrpSpPr>
          <p:cNvPr id="11" name="组合 10"/>
          <p:cNvGrpSpPr/>
          <p:nvPr userDrawn="1"/>
        </p:nvGrpSpPr>
        <p:grpSpPr>
          <a:xfrm>
            <a:off x="-177800" y="-127000"/>
            <a:ext cx="2614611" cy="1590675"/>
            <a:chOff x="-177800" y="-127000"/>
            <a:chExt cx="2614611" cy="1590675"/>
          </a:xfrm>
        </p:grpSpPr>
        <p:sp>
          <p:nvSpPr>
            <p:cNvPr id="21" name="矩形 20"/>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22" name="矩形 21"/>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1C4949-EDD6-4953-A7DE-7A0CF9B1E992}"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8.xml"/><Relationship Id="rId2" Type="http://schemas.openxmlformats.org/officeDocument/2006/relationships/image" Target="../media/image9.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8.xml"/><Relationship Id="rId2" Type="http://schemas.openxmlformats.org/officeDocument/2006/relationships/image" Target="../media/image17.png"/><Relationship Id="rId1"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660905" y="1550965"/>
            <a:ext cx="2943225" cy="1383665"/>
          </a:xfrm>
          <a:prstGeom prst="rect">
            <a:avLst/>
          </a:prstGeom>
        </p:spPr>
        <p:txBody>
          <a:bodyPr wrap="none">
            <a:spAutoFit/>
          </a:bodyPr>
          <a:lstStyle>
            <a:defPPr>
              <a:defRPr lang="zh-CN"/>
            </a:defPPr>
            <a:lvl1pPr algn="ctr" defTabSz="457200">
              <a:lnSpc>
                <a:spcPct val="150000"/>
              </a:lnSpc>
              <a:defRPr sz="3600" b="1" spc="300">
                <a:gradFill>
                  <a:gsLst>
                    <a:gs pos="0">
                      <a:srgbClr val="0070C0"/>
                    </a:gs>
                    <a:gs pos="100000">
                      <a:srgbClr val="002060"/>
                    </a:gs>
                  </a:gsLst>
                  <a:lin ang="5400000" scaled="0"/>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sz="2800" dirty="0">
                <a:effectLst/>
                <a:latin typeface="Times New Roman" panose="02020603050405020304" pitchFamily="18" charset="0"/>
                <a:ea typeface="华文中宋" panose="02010600040101010101" pitchFamily="2" charset="-122"/>
                <a:cs typeface="Times New Roman" panose="02020603050405020304" pitchFamily="18" charset="0"/>
              </a:rPr>
              <a:t>Docker</a:t>
            </a:r>
            <a:endParaRPr lang="en-US" altLang="zh-CN" sz="2800" dirty="0">
              <a:effectLst/>
              <a:latin typeface="Times New Roman" panose="02020603050405020304" pitchFamily="18" charset="0"/>
              <a:ea typeface="华文中宋" panose="02010600040101010101" pitchFamily="2" charset="-122"/>
              <a:cs typeface="Times New Roman" panose="02020603050405020304" pitchFamily="18" charset="0"/>
            </a:endParaRPr>
          </a:p>
          <a:p>
            <a:r>
              <a:rPr lang="zh-CN" altLang="en-US" sz="2800" dirty="0">
                <a:effectLst/>
                <a:latin typeface="Times New Roman" panose="02020603050405020304" pitchFamily="18" charset="0"/>
                <a:ea typeface="华文中宋" panose="02010600040101010101" pitchFamily="2" charset="-122"/>
                <a:cs typeface="Times New Roman" panose="02020603050405020304" pitchFamily="18" charset="0"/>
              </a:rPr>
              <a:t>容器技术与应用</a:t>
            </a:r>
            <a:endParaRPr lang="zh-CN" altLang="en-US" sz="38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24291" y="1637949"/>
            <a:ext cx="11695723" cy="2252027"/>
          </a:xfrm>
          <a:prstGeom prst="rect">
            <a:avLst/>
          </a:prstGeom>
          <a:noFill/>
        </p:spPr>
        <p:txBody>
          <a:bodyPr wrap="square" rtlCol="0">
            <a:spAutoFit/>
          </a:bodyPr>
          <a:lstStyle/>
          <a:p>
            <a:pPr indent="612140">
              <a:lnSpc>
                <a:spcPct val="150000"/>
              </a:lnSpc>
            </a:pPr>
            <a:r>
              <a:rPr lang="zh-CN" altLang="en-US" sz="2400" dirty="0">
                <a:latin typeface="宋体" panose="02010600030101010101" pitchFamily="2" charset="-122"/>
                <a:ea typeface="宋体" panose="02010600030101010101" pitchFamily="2" charset="-122"/>
              </a:rPr>
              <a:t>小王编写完</a:t>
            </a:r>
            <a:r>
              <a:rPr lang="en-US" altLang="zh-CN" sz="2400" dirty="0">
                <a:latin typeface="宋体" panose="02010600030101010101" pitchFamily="2" charset="-122"/>
                <a:ea typeface="宋体" panose="02010600030101010101" pitchFamily="2" charset="-122"/>
              </a:rPr>
              <a:t>Docker</a:t>
            </a:r>
            <a:r>
              <a:rPr lang="zh-CN" altLang="en-US" sz="2400" dirty="0">
                <a:latin typeface="宋体" panose="02010600030101010101" pitchFamily="2" charset="-122"/>
                <a:ea typeface="宋体" panose="02010600030101010101" pitchFamily="2" charset="-122"/>
              </a:rPr>
              <a:t>镜像基础操作手册后，发现镜像基础操作手册中所用的镜像均为</a:t>
            </a:r>
            <a:r>
              <a:rPr lang="en-US" altLang="zh-CN" sz="2400" dirty="0">
                <a:latin typeface="宋体" panose="02010600030101010101" pitchFamily="2" charset="-122"/>
                <a:ea typeface="宋体" panose="02010600030101010101" pitchFamily="2" charset="-122"/>
              </a:rPr>
              <a:t>Docker Hub</a:t>
            </a:r>
            <a:r>
              <a:rPr lang="zh-CN" altLang="en-US" sz="2400" dirty="0">
                <a:latin typeface="宋体" panose="02010600030101010101" pitchFamily="2" charset="-122"/>
                <a:ea typeface="宋体" panose="02010600030101010101" pitchFamily="2" charset="-122"/>
              </a:rPr>
              <a:t>提供的镜像，但这些通用镜像在实际部署中可能与具体项目需求存在不匹配的情况。因此，小王决定在操作手册中添加关于</a:t>
            </a:r>
            <a:r>
              <a:rPr lang="en-US" altLang="zh-CN" sz="2400" dirty="0">
                <a:latin typeface="宋体" panose="02010600030101010101" pitchFamily="2" charset="-122"/>
                <a:ea typeface="宋体" panose="02010600030101010101" pitchFamily="2" charset="-122"/>
              </a:rPr>
              <a:t>Docker</a:t>
            </a:r>
            <a:r>
              <a:rPr lang="zh-CN" altLang="en-US" sz="2400" dirty="0">
                <a:latin typeface="宋体" panose="02010600030101010101" pitchFamily="2" charset="-122"/>
                <a:ea typeface="宋体" panose="02010600030101010101" pitchFamily="2" charset="-122"/>
              </a:rPr>
              <a:t>镜像定制的功能，并通过实例进行说明</a:t>
            </a:r>
            <a:r>
              <a:rPr lang="zh-CN" altLang="zh-CN"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err="1">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任务要求</a:t>
            </a:r>
            <a:endParaRPr lang="zh-CN" altLang="en-US" sz="3200" b="1" dirty="0">
              <a:latin typeface="宋体" panose="02010600030101010101" pitchFamily="2" charset="-122"/>
              <a:ea typeface="宋体" panose="02010600030101010101" pitchFamily="2" charset="-122"/>
            </a:endParaRPr>
          </a:p>
        </p:txBody>
      </p:sp>
      <p:sp>
        <p:nvSpPr>
          <p:cNvPr id="7"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883755"/>
          </a:xfrm>
          <a:prstGeom prst="rect">
            <a:avLst/>
          </a:prstGeom>
          <a:noFill/>
        </p:spPr>
        <p:txBody>
          <a:bodyPr wrap="square" rtlCol="0">
            <a:spAutoFit/>
          </a:bodyPr>
          <a:lstStyle/>
          <a:p>
            <a:pPr algn="just" fontAlgn="ctr">
              <a:lnSpc>
                <a:spcPct val="150000"/>
              </a:lnSpc>
            </a:pPr>
            <a:r>
              <a:rPr lang="zh-CN" altLang="en-US" sz="2400" b="1" dirty="0">
                <a:latin typeface="宋体" panose="02010600030101010101" pitchFamily="2" charset="-122"/>
                <a:ea typeface="宋体" panose="02010600030101010101" pitchFamily="2" charset="-122"/>
              </a:rPr>
              <a:t>通过</a:t>
            </a:r>
            <a:r>
              <a:rPr lang="en-US" altLang="zh-CN" sz="2400" b="1" dirty="0">
                <a:latin typeface="宋体" panose="02010600030101010101" pitchFamily="2" charset="-122"/>
                <a:ea typeface="宋体" panose="02010600030101010101" pitchFamily="2" charset="-122"/>
              </a:rPr>
              <a:t>commit</a:t>
            </a:r>
            <a:r>
              <a:rPr lang="zh-CN" altLang="en-US" sz="2400" b="1" dirty="0">
                <a:latin typeface="宋体" panose="02010600030101010101" pitchFamily="2" charset="-122"/>
                <a:ea typeface="宋体" panose="02010600030101010101" pitchFamily="2" charset="-122"/>
              </a:rPr>
              <a:t>命令创建镜像</a:t>
            </a:r>
            <a:endParaRPr lang="en-US" altLang="zh-CN" sz="2400" b="1"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构建</a:t>
            </a:r>
            <a:r>
              <a:rPr lang="en-US" altLang="zh-CN" sz="2400" dirty="0" err="1">
                <a:latin typeface="宋体" panose="02010600030101010101" pitchFamily="2" charset="-122"/>
                <a:ea typeface="宋体" panose="02010600030101010101" pitchFamily="2" charset="-122"/>
              </a:rPr>
              <a:t>Docker</a:t>
            </a:r>
            <a:r>
              <a:rPr lang="zh-CN" altLang="zh-CN" sz="2400" dirty="0">
                <a:latin typeface="宋体" panose="02010600030101010101" pitchFamily="2" charset="-122"/>
                <a:ea typeface="宋体" panose="02010600030101010101" pitchFamily="2" charset="-122"/>
              </a:rPr>
              <a:t>镜像有以下两种方法。</a:t>
            </a:r>
            <a:endParaRPr lang="zh-CN" altLang="zh-CN" sz="2400"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）使用</a:t>
            </a:r>
            <a:r>
              <a:rPr lang="en-US" altLang="zh-CN" sz="2400" dirty="0" err="1">
                <a:latin typeface="宋体" panose="02010600030101010101" pitchFamily="2" charset="-122"/>
                <a:ea typeface="宋体" panose="02010600030101010101" pitchFamily="2" charset="-122"/>
              </a:rPr>
              <a:t>docker</a:t>
            </a:r>
            <a:r>
              <a:rPr lang="en-US" altLang="zh-CN" sz="2400" dirty="0">
                <a:latin typeface="宋体" panose="02010600030101010101" pitchFamily="2" charset="-122"/>
                <a:ea typeface="宋体" panose="02010600030101010101" pitchFamily="2" charset="-122"/>
              </a:rPr>
              <a:t> commit</a:t>
            </a:r>
            <a:r>
              <a:rPr lang="zh-CN" altLang="zh-CN" sz="2400" dirty="0">
                <a:latin typeface="宋体" panose="02010600030101010101" pitchFamily="2" charset="-122"/>
                <a:ea typeface="宋体" panose="02010600030101010101" pitchFamily="2" charset="-122"/>
              </a:rPr>
              <a:t>命令手动构建。</a:t>
            </a:r>
            <a:endParaRPr lang="zh-CN" altLang="zh-CN" sz="2400"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）使用</a:t>
            </a:r>
            <a:r>
              <a:rPr lang="en-US" altLang="zh-CN" sz="2400" dirty="0" err="1">
                <a:latin typeface="宋体" panose="02010600030101010101" pitchFamily="2" charset="-122"/>
                <a:ea typeface="宋体" panose="02010600030101010101" pitchFamily="2" charset="-122"/>
              </a:rPr>
              <a:t>docker</a:t>
            </a:r>
            <a:r>
              <a:rPr lang="en-US" altLang="zh-CN" sz="2400" dirty="0">
                <a:latin typeface="宋体" panose="02010600030101010101" pitchFamily="2" charset="-122"/>
                <a:ea typeface="宋体" panose="02010600030101010101" pitchFamily="2" charset="-122"/>
              </a:rPr>
              <a:t> build</a:t>
            </a:r>
            <a:r>
              <a:rPr lang="zh-CN" altLang="zh-CN" sz="2400" dirty="0">
                <a:latin typeface="宋体" panose="02010600030101010101" pitchFamily="2" charset="-122"/>
                <a:ea typeface="宋体" panose="02010600030101010101" pitchFamily="2" charset="-122"/>
              </a:rPr>
              <a:t>命令和</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文件进行构建</a:t>
            </a:r>
            <a:endParaRPr lang="en-US" altLang="zh-CN" sz="2400" dirty="0">
              <a:latin typeface="宋体" panose="02010600030101010101" pitchFamily="2" charset="-122"/>
              <a:ea typeface="宋体" panose="02010600030101010101" pitchFamily="2" charset="-122"/>
            </a:endParaRPr>
          </a:p>
          <a:p>
            <a:pPr indent="720090">
              <a:lnSpc>
                <a:spcPct val="150000"/>
              </a:lnSpc>
            </a:pPr>
            <a:r>
              <a:rPr lang="zh-CN" altLang="en-US" sz="2400" dirty="0">
                <a:solidFill>
                  <a:srgbClr val="FF0000"/>
                </a:solidFill>
                <a:latin typeface="宋体" panose="02010600030101010101" pitchFamily="2" charset="-122"/>
                <a:ea typeface="宋体" panose="02010600030101010101" pitchFamily="2" charset="-122"/>
              </a:rPr>
              <a:t>原则上不能无中生有地创建一个镜像，需要一个基础镜像。</a:t>
            </a:r>
            <a:endParaRPr lang="en-US" altLang="zh-CN" sz="2400" dirty="0">
              <a:solidFill>
                <a:srgbClr val="FF0000"/>
              </a:solidFill>
              <a:latin typeface="宋体" panose="02010600030101010101" pitchFamily="2" charset="-122"/>
              <a:ea typeface="宋体" panose="02010600030101010101" pitchFamily="2" charset="-122"/>
            </a:endParaRPr>
          </a:p>
          <a:p>
            <a:pPr indent="720090">
              <a:lnSpc>
                <a:spcPct val="150000"/>
              </a:lnSpc>
            </a:pPr>
            <a:r>
              <a:rPr lang="zh-CN" altLang="en-US" sz="2400" dirty="0">
                <a:latin typeface="宋体" panose="02010600030101010101" pitchFamily="2" charset="-122"/>
                <a:ea typeface="宋体" panose="02010600030101010101" pitchFamily="2" charset="-122"/>
              </a:rPr>
              <a:t>严格来说，用户并不是真正创建一个新的镜像，无论是启动一个容器还是创建一个镜像，一般都是在基础镜像基础之上的，比如基础</a:t>
            </a:r>
            <a:r>
              <a:rPr lang="en-US" altLang="zh-CN" sz="2400" dirty="0" err="1">
                <a:latin typeface="宋体" panose="02010600030101010101" pitchFamily="2" charset="-122"/>
                <a:ea typeface="宋体" panose="02010600030101010101" pitchFamily="2" charset="-122"/>
              </a:rPr>
              <a:t>redhat</a:t>
            </a:r>
            <a:r>
              <a:rPr lang="zh-CN" altLang="en-US" sz="2400" dirty="0">
                <a:latin typeface="宋体" panose="02010600030101010101" pitchFamily="2" charset="-122"/>
                <a:ea typeface="宋体" panose="02010600030101010101" pitchFamily="2" charset="-122"/>
              </a:rPr>
              <a:t>镜像、</a:t>
            </a:r>
            <a:r>
              <a:rPr lang="en-US" altLang="zh-CN" sz="2400" dirty="0" err="1">
                <a:latin typeface="宋体" panose="02010600030101010101" pitchFamily="2" charset="-122"/>
                <a:ea typeface="宋体" panose="02010600030101010101" pitchFamily="2" charset="-122"/>
              </a:rPr>
              <a:t>ubuntun</a:t>
            </a:r>
            <a:r>
              <a:rPr lang="zh-CN" altLang="en-US" sz="2400" dirty="0">
                <a:latin typeface="宋体" panose="02010600030101010101" pitchFamily="2" charset="-122"/>
                <a:ea typeface="宋体" panose="02010600030101010101" pitchFamily="2" charset="-122"/>
              </a:rPr>
              <a:t>镜像等。</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2775760"/>
          </a:xfrm>
          <a:prstGeom prst="rect">
            <a:avLst/>
          </a:prstGeom>
          <a:noFill/>
        </p:spPr>
        <p:txBody>
          <a:bodyPr wrap="square" rtlCol="0">
            <a:spAutoFit/>
          </a:bodyPr>
          <a:lstStyle/>
          <a:p>
            <a:pPr algn="just" fontAlgn="ctr">
              <a:lnSpc>
                <a:spcPct val="150000"/>
              </a:lnSpc>
            </a:pPr>
            <a:r>
              <a:rPr lang="zh-CN" altLang="en-US" sz="2400" b="1" dirty="0">
                <a:latin typeface="宋体" panose="02010600030101010101" pitchFamily="2" charset="-122"/>
                <a:ea typeface="宋体" panose="02010600030101010101" pitchFamily="2" charset="-122"/>
              </a:rPr>
              <a:t>通过</a:t>
            </a:r>
            <a:r>
              <a:rPr lang="en-US" altLang="zh-CN" sz="2400" b="1" dirty="0">
                <a:latin typeface="宋体" panose="02010600030101010101" pitchFamily="2" charset="-122"/>
                <a:ea typeface="宋体" panose="02010600030101010101" pitchFamily="2" charset="-122"/>
              </a:rPr>
              <a:t>commit</a:t>
            </a:r>
            <a:r>
              <a:rPr lang="zh-CN" altLang="en-US" sz="2400" b="1" dirty="0">
                <a:latin typeface="宋体" panose="02010600030101010101" pitchFamily="2" charset="-122"/>
                <a:ea typeface="宋体" panose="02010600030101010101" pitchFamily="2" charset="-122"/>
              </a:rPr>
              <a:t>命令创建镜像</a:t>
            </a:r>
            <a:endParaRPr lang="en-US" altLang="zh-CN" sz="2400" b="1"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docker commit</a:t>
            </a:r>
            <a:r>
              <a:rPr lang="zh-CN" altLang="zh-CN" sz="2400" dirty="0">
                <a:latin typeface="宋体" panose="02010600030101010101" pitchFamily="2" charset="-122"/>
                <a:ea typeface="宋体" panose="02010600030101010101" pitchFamily="2" charset="-122"/>
              </a:rPr>
              <a:t>命令</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docker build</a:t>
            </a:r>
            <a:r>
              <a:rPr lang="zh-CN" altLang="zh-CN" sz="2400" dirty="0">
                <a:latin typeface="宋体" panose="02010600030101010101" pitchFamily="2" charset="-122"/>
                <a:ea typeface="宋体" panose="02010600030101010101" pitchFamily="2" charset="-122"/>
              </a:rPr>
              <a:t>命令</a:t>
            </a:r>
            <a:r>
              <a:rPr lang="zh-CN" altLang="en-US" sz="2400" dirty="0">
                <a:latin typeface="宋体" panose="02010600030101010101" pitchFamily="2" charset="-122"/>
                <a:ea typeface="宋体" panose="02010600030101010101" pitchFamily="2" charset="-122"/>
              </a:rPr>
              <a:t>的区别：</a:t>
            </a:r>
            <a:endParaRPr lang="en-US" altLang="zh-CN" dirty="0">
              <a:solidFill>
                <a:srgbClr val="FF0000"/>
              </a:solidFill>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是将容器提交为一个镜像，</a:t>
            </a:r>
            <a:r>
              <a:rPr lang="zh-CN" altLang="zh-CN" sz="2400" dirty="0">
                <a:latin typeface="宋体" panose="02010600030101010101" pitchFamily="2" charset="-122"/>
                <a:ea typeface="宋体" panose="02010600030101010101" pitchFamily="2" charset="-122"/>
              </a:rPr>
              <a:t>只提交容器镜像发生变更的部分，即修改后的容器镜像与当前仓库对应镜像之间的差异部分</a:t>
            </a:r>
            <a:r>
              <a:rPr lang="zh-CN" altLang="en-US" sz="2400" dirty="0">
                <a:latin typeface="宋体" panose="02010600030101010101" pitchFamily="2" charset="-122"/>
                <a:ea typeface="宋体" panose="02010600030101010101" pitchFamily="2" charset="-122"/>
              </a:rPr>
              <a:t>，这使得更新非常轻量级。</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而</a:t>
            </a:r>
            <a:r>
              <a:rPr lang="en-US" altLang="zh-CN" sz="2400" dirty="0">
                <a:latin typeface="宋体" panose="02010600030101010101" pitchFamily="2" charset="-122"/>
                <a:ea typeface="宋体" panose="02010600030101010101" pitchFamily="2" charset="-122"/>
              </a:rPr>
              <a:t>docker build</a:t>
            </a:r>
            <a:r>
              <a:rPr lang="zh-CN" altLang="en-US" sz="2400" dirty="0">
                <a:latin typeface="宋体" panose="02010600030101010101" pitchFamily="2" charset="-122"/>
                <a:ea typeface="宋体" panose="02010600030101010101" pitchFamily="2" charset="-122"/>
              </a:rPr>
              <a:t>是在一个基础镜像上重新构建一个新的镜像。</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373486" y="1818130"/>
            <a:ext cx="11695723" cy="1144031"/>
          </a:xfrm>
          <a:prstGeom prst="rect">
            <a:avLst/>
          </a:prstGeom>
          <a:noFill/>
        </p:spPr>
        <p:txBody>
          <a:bodyPr wrap="square" rtlCol="0">
            <a:spAutoFit/>
          </a:bodyPr>
          <a:lstStyle/>
          <a:p>
            <a:pPr>
              <a:lnSpc>
                <a:spcPct val="150000"/>
              </a:lnSpc>
            </a:pPr>
            <a:r>
              <a:rPr lang="zh-CN" altLang="en-US" sz="2400" dirty="0">
                <a:latin typeface="宋体" panose="02010600030101010101" pitchFamily="2" charset="-122"/>
                <a:ea typeface="宋体" panose="02010600030101010101" pitchFamily="2" charset="-122"/>
              </a:rPr>
              <a:t>举例：以</a:t>
            </a:r>
            <a:r>
              <a:rPr lang="en-US" altLang="zh-CN" sz="2400" dirty="0">
                <a:latin typeface="宋体" panose="02010600030101010101" pitchFamily="2" charset="-122"/>
                <a:ea typeface="宋体" panose="02010600030101010101" pitchFamily="2" charset="-122"/>
              </a:rPr>
              <a:t>ubuntu</a:t>
            </a:r>
            <a:r>
              <a:rPr lang="zh-CN" altLang="en-US" sz="2400" dirty="0">
                <a:latin typeface="宋体" panose="02010600030101010101" pitchFamily="2" charset="-122"/>
                <a:ea typeface="宋体" panose="02010600030101010101" pitchFamily="2" charset="-122"/>
              </a:rPr>
              <a:t>安装</a:t>
            </a:r>
            <a:r>
              <a:rPr lang="en-US" altLang="zh-CN" sz="2400" dirty="0">
                <a:latin typeface="宋体" panose="02010600030101010101" pitchFamily="2" charset="-122"/>
                <a:ea typeface="宋体" panose="02010600030101010101" pitchFamily="2" charset="-122"/>
              </a:rPr>
              <a:t>vim</a:t>
            </a:r>
            <a:r>
              <a:rPr lang="zh-CN" altLang="en-US" sz="2400" dirty="0">
                <a:latin typeface="宋体" panose="02010600030101010101" pitchFamily="2" charset="-122"/>
                <a:ea typeface="宋体" panose="02010600030101010101" pitchFamily="2" charset="-122"/>
              </a:rPr>
              <a:t>为例，说明</a:t>
            </a: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创建定制</a:t>
            </a:r>
            <a:r>
              <a:rPr lang="en-US" altLang="zh-CN" sz="2400" dirty="0">
                <a:latin typeface="宋体" panose="02010600030101010101" pitchFamily="2" charset="-122"/>
                <a:ea typeface="宋体" panose="02010600030101010101" pitchFamily="2" charset="-122"/>
              </a:rPr>
              <a:t>docker</a:t>
            </a:r>
            <a:r>
              <a:rPr lang="zh-CN" altLang="en-US" sz="2400" dirty="0">
                <a:latin typeface="宋体" panose="02010600030101010101" pitchFamily="2" charset="-122"/>
                <a:ea typeface="宋体" panose="02010600030101010101" pitchFamily="2" charset="-122"/>
              </a:rPr>
              <a:t>镜像的过程</a:t>
            </a:r>
            <a:r>
              <a:rPr lang="zh-CN" altLang="zh-CN" sz="2400" dirty="0">
                <a:latin typeface="宋体" panose="02010600030101010101" pitchFamily="2" charset="-122"/>
                <a:ea typeface="宋体" panose="02010600030101010101" pitchFamily="2" charset="-122"/>
              </a:rPr>
              <a:t>。</a:t>
            </a:r>
            <a:endParaRPr lang="zh-CN" altLang="zh-CN" sz="2400" dirty="0">
              <a:latin typeface="宋体" panose="02010600030101010101" pitchFamily="2" charset="-122"/>
              <a:ea typeface="宋体" panose="02010600030101010101" pitchFamily="2" charset="-122"/>
            </a:endParaRPr>
          </a:p>
          <a:p>
            <a:pPr>
              <a:lnSpc>
                <a:spcPct val="150000"/>
              </a:lnSpc>
            </a:pPr>
            <a:endParaRPr lang="zh-CN"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1"/>
          <a:stretch>
            <a:fillRect/>
          </a:stretch>
        </p:blipFill>
        <p:spPr>
          <a:xfrm>
            <a:off x="217099" y="2628332"/>
            <a:ext cx="10163574" cy="2739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373486" y="1520978"/>
            <a:ext cx="11695723" cy="1569660"/>
          </a:xfrm>
          <a:prstGeom prst="rect">
            <a:avLst/>
          </a:prstGeom>
          <a:noFill/>
        </p:spPr>
        <p:txBody>
          <a:bodyPr wrap="square" rtlCol="0">
            <a:spAutoFit/>
          </a:bodyPr>
          <a:lstStyle/>
          <a:p>
            <a:pPr>
              <a:lnSpc>
                <a:spcPct val="150000"/>
              </a:lnSpc>
            </a:pPr>
            <a:r>
              <a:rPr lang="zh-CN" altLang="en-US" sz="2400" dirty="0">
                <a:latin typeface="宋体" panose="02010600030101010101" pitchFamily="2" charset="-122"/>
                <a:ea typeface="宋体" panose="02010600030101010101" pitchFamily="2" charset="-122"/>
              </a:rPr>
              <a:t>举例：以</a:t>
            </a:r>
            <a:r>
              <a:rPr lang="en-US" altLang="zh-CN" sz="2400" dirty="0">
                <a:latin typeface="宋体" panose="02010600030101010101" pitchFamily="2" charset="-122"/>
                <a:ea typeface="宋体" panose="02010600030101010101" pitchFamily="2" charset="-122"/>
              </a:rPr>
              <a:t>ubuntu</a:t>
            </a:r>
            <a:r>
              <a:rPr lang="zh-CN" altLang="en-US" sz="2400" dirty="0">
                <a:latin typeface="宋体" panose="02010600030101010101" pitchFamily="2" charset="-122"/>
                <a:ea typeface="宋体" panose="02010600030101010101" pitchFamily="2" charset="-122"/>
              </a:rPr>
              <a:t>更新</a:t>
            </a:r>
            <a:r>
              <a:rPr lang="en-US" altLang="zh-CN" sz="2400" dirty="0">
                <a:latin typeface="宋体" panose="02010600030101010101" pitchFamily="2" charset="-122"/>
                <a:ea typeface="宋体" panose="02010600030101010101" pitchFamily="2" charset="-122"/>
              </a:rPr>
              <a:t>apt-get</a:t>
            </a:r>
            <a:r>
              <a:rPr lang="zh-CN" altLang="en-US" sz="2400" dirty="0">
                <a:latin typeface="宋体" panose="02010600030101010101" pitchFamily="2" charset="-122"/>
                <a:ea typeface="宋体" panose="02010600030101010101" pitchFamily="2" charset="-122"/>
              </a:rPr>
              <a:t>为例，说明</a:t>
            </a: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更新</a:t>
            </a:r>
            <a:r>
              <a:rPr lang="en-US" altLang="zh-CN" sz="2400" dirty="0">
                <a:latin typeface="宋体" panose="02010600030101010101" pitchFamily="2" charset="-122"/>
                <a:ea typeface="宋体" panose="02010600030101010101" pitchFamily="2" charset="-122"/>
              </a:rPr>
              <a:t>docker</a:t>
            </a:r>
            <a:r>
              <a:rPr lang="zh-CN" altLang="en-US" sz="2400" dirty="0">
                <a:latin typeface="宋体" panose="02010600030101010101" pitchFamily="2" charset="-122"/>
                <a:ea typeface="宋体" panose="02010600030101010101" pitchFamily="2" charset="-122"/>
              </a:rPr>
              <a:t>镜像的过程。</a:t>
            </a:r>
            <a:endParaRPr lang="zh-CN" altLang="en-US" sz="2400" b="1" dirty="0">
              <a:latin typeface="宋体" panose="02010600030101010101" pitchFamily="2" charset="-122"/>
              <a:ea typeface="宋体" panose="02010600030101010101" pitchFamily="2" charset="-122"/>
            </a:endParaRPr>
          </a:p>
          <a:p>
            <a:pPr>
              <a:lnSpc>
                <a:spcPct val="150000"/>
              </a:lnSpc>
            </a:pPr>
            <a:r>
              <a:rPr lang="zh-CN" altLang="en-US" sz="2400" dirty="0">
                <a:latin typeface="宋体" panose="02010600030101010101" pitchFamily="2" charset="-122"/>
                <a:ea typeface="宋体" panose="02010600030101010101" pitchFamily="2" charset="-122"/>
              </a:rPr>
              <a:t>更新镜像之前，我们需要使用镜像来创建一个容器。</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95158" y="2720363"/>
            <a:ext cx="10178330" cy="1305899"/>
          </a:xfrm>
          <a:prstGeom prst="rect">
            <a:avLst/>
          </a:prstGeom>
        </p:spPr>
      </p:pic>
      <p:sp>
        <p:nvSpPr>
          <p:cNvPr id="10" name="TextBox 2"/>
          <p:cNvSpPr txBox="1"/>
          <p:nvPr/>
        </p:nvSpPr>
        <p:spPr>
          <a:xfrm>
            <a:off x="373486" y="4237810"/>
            <a:ext cx="11413629" cy="2221762"/>
          </a:xfrm>
          <a:prstGeom prst="rect">
            <a:avLst/>
          </a:prstGeom>
          <a:noFill/>
        </p:spPr>
        <p:txBody>
          <a:bodyPr wrap="square" rtlCol="0">
            <a:spAutoFit/>
          </a:bodyPr>
          <a:lstStyle/>
          <a:p>
            <a:pPr marL="457200" indent="-457200" latinLnBrk="1">
              <a:lnSpc>
                <a:spcPct val="150000"/>
              </a:lnSpc>
              <a:buFont typeface="+mj-lt"/>
              <a:buAutoNum type="arabicPeriod"/>
            </a:pPr>
            <a:r>
              <a:rPr lang="zh-CN" altLang="en-US" sz="2400" dirty="0">
                <a:latin typeface="宋体" panose="02010600030101010101" pitchFamily="2" charset="-122"/>
                <a:ea typeface="宋体" panose="02010600030101010101" pitchFamily="2" charset="-122"/>
              </a:rPr>
              <a:t>在运行的容器内使用 </a:t>
            </a:r>
            <a:r>
              <a:rPr lang="en-US" altLang="zh-CN" sz="2400" b="1" dirty="0">
                <a:latin typeface="宋体" panose="02010600030101010101" pitchFamily="2" charset="-122"/>
                <a:ea typeface="宋体" panose="02010600030101010101" pitchFamily="2" charset="-122"/>
              </a:rPr>
              <a:t>apt-get update</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命令进行更新。</a:t>
            </a:r>
            <a:endParaRPr lang="zh-CN" altLang="en-US" sz="2400" dirty="0">
              <a:latin typeface="宋体" panose="02010600030101010101" pitchFamily="2" charset="-122"/>
              <a:ea typeface="宋体" panose="02010600030101010101" pitchFamily="2" charset="-122"/>
            </a:endParaRPr>
          </a:p>
          <a:p>
            <a:pPr marL="457200" indent="-457200" latinLnBrk="1">
              <a:lnSpc>
                <a:spcPct val="150000"/>
              </a:lnSpc>
              <a:buFont typeface="+mj-lt"/>
              <a:buAutoNum type="arabicPeriod"/>
            </a:pPr>
            <a:r>
              <a:rPr lang="zh-CN" altLang="en-US" sz="2400" dirty="0">
                <a:latin typeface="宋体" panose="02010600030101010101" pitchFamily="2" charset="-122"/>
                <a:ea typeface="宋体" panose="02010600030101010101" pitchFamily="2" charset="-122"/>
              </a:rPr>
              <a:t>在完成操作之后，输入 </a:t>
            </a:r>
            <a:r>
              <a:rPr lang="en-US" altLang="zh-CN" sz="2400" dirty="0">
                <a:latin typeface="宋体" panose="02010600030101010101" pitchFamily="2" charset="-122"/>
                <a:ea typeface="宋体" panose="02010600030101010101" pitchFamily="2" charset="-122"/>
              </a:rPr>
              <a:t>exit </a:t>
            </a:r>
            <a:r>
              <a:rPr lang="zh-CN" altLang="en-US" sz="2400" dirty="0">
                <a:latin typeface="宋体" panose="02010600030101010101" pitchFamily="2" charset="-122"/>
                <a:ea typeface="宋体" panose="02010600030101010101" pitchFamily="2" charset="-122"/>
              </a:rPr>
              <a:t>命令来退出这个容器。</a:t>
            </a:r>
            <a:endParaRPr lang="zh-CN" altLang="en-US" sz="2400" dirty="0">
              <a:latin typeface="宋体" panose="02010600030101010101" pitchFamily="2" charset="-122"/>
              <a:ea typeface="宋体" panose="02010600030101010101" pitchFamily="2" charset="-122"/>
            </a:endParaRPr>
          </a:p>
          <a:p>
            <a:pPr marL="457200" indent="-457200" latinLnBrk="1">
              <a:lnSpc>
                <a:spcPct val="150000"/>
              </a:lnSpc>
              <a:buFont typeface="+mj-lt"/>
              <a:buAutoNum type="arabicPeriod"/>
            </a:pPr>
            <a:r>
              <a:rPr lang="zh-CN" altLang="en-US" sz="2400" dirty="0">
                <a:latin typeface="宋体" panose="02010600030101010101" pitchFamily="2" charset="-122"/>
                <a:ea typeface="宋体" panose="02010600030101010101" pitchFamily="2" charset="-122"/>
              </a:rPr>
              <a:t>此时 </a:t>
            </a:r>
            <a:r>
              <a:rPr lang="en-US" altLang="zh-CN" sz="2400" dirty="0">
                <a:latin typeface="宋体" panose="02010600030101010101" pitchFamily="2" charset="-122"/>
                <a:ea typeface="宋体" panose="02010600030101010101" pitchFamily="2" charset="-122"/>
              </a:rPr>
              <a:t>ID </a:t>
            </a:r>
            <a:r>
              <a:rPr lang="zh-CN" altLang="en-US" sz="2400" dirty="0">
                <a:latin typeface="宋体" panose="02010600030101010101" pitchFamily="2" charset="-122"/>
                <a:ea typeface="宋体" panose="02010600030101010101" pitchFamily="2" charset="-122"/>
              </a:rPr>
              <a:t>为 </a:t>
            </a:r>
            <a:r>
              <a:rPr lang="en-US" altLang="zh-CN" sz="2400" dirty="0">
                <a:latin typeface="宋体" panose="02010600030101010101" pitchFamily="2" charset="-122"/>
                <a:ea typeface="宋体" panose="02010600030101010101" pitchFamily="2" charset="-122"/>
              </a:rPr>
              <a:t>e218edb10161 </a:t>
            </a:r>
            <a:r>
              <a:rPr lang="zh-CN" altLang="en-US" sz="2400" dirty="0">
                <a:latin typeface="宋体" panose="02010600030101010101" pitchFamily="2" charset="-122"/>
                <a:ea typeface="宋体" panose="02010600030101010101" pitchFamily="2" charset="-122"/>
              </a:rPr>
              <a:t>的容器，是按我们的需求更改的容器。我们可以通过命令 </a:t>
            </a:r>
            <a:r>
              <a:rPr lang="en-US" altLang="zh-CN" sz="2400" dirty="0">
                <a:latin typeface="宋体" panose="02010600030101010101" pitchFamily="2" charset="-122"/>
                <a:ea typeface="宋体" panose="02010600030101010101" pitchFamily="2" charset="-122"/>
              </a:rPr>
              <a:t>docker commit </a:t>
            </a:r>
            <a:r>
              <a:rPr lang="zh-CN" altLang="en-US" sz="2400" dirty="0">
                <a:latin typeface="宋体" panose="02010600030101010101" pitchFamily="2" charset="-122"/>
                <a:ea typeface="宋体" panose="02010600030101010101" pitchFamily="2" charset="-122"/>
              </a:rPr>
              <a:t>来提交容器副本。</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05043"/>
          </a:xfrm>
          <a:prstGeom prst="rect">
            <a:avLst/>
          </a:prstGeom>
          <a:noFill/>
        </p:spPr>
        <p:txBody>
          <a:bodyPr wrap="square" rtlCol="0">
            <a:spAutoFit/>
          </a:bodyPr>
          <a:lstStyle/>
          <a:p>
            <a:pPr>
              <a:lnSpc>
                <a:spcPct val="150000"/>
              </a:lnSpc>
            </a:pPr>
            <a:r>
              <a:rPr lang="en-US" altLang="zh-CN" sz="2400" b="1" dirty="0" err="1">
                <a:latin typeface="宋体" panose="02010600030101010101" pitchFamily="2" charset="-122"/>
                <a:ea typeface="宋体" panose="02010600030101010101" pitchFamily="2" charset="-122"/>
              </a:rPr>
              <a:t>docker</a:t>
            </a:r>
            <a:r>
              <a:rPr lang="en-US" altLang="zh-CN" sz="2400" b="1" dirty="0">
                <a:latin typeface="宋体" panose="02010600030101010101" pitchFamily="2" charset="-122"/>
                <a:ea typeface="宋体" panose="02010600030101010101" pitchFamily="2" charset="-122"/>
              </a:rPr>
              <a:t> commit</a:t>
            </a:r>
            <a:r>
              <a:rPr lang="zh-CN" altLang="zh-CN" sz="2400" b="1" dirty="0">
                <a:latin typeface="宋体" panose="02010600030101010101" pitchFamily="2" charset="-122"/>
                <a:ea typeface="宋体" panose="02010600030101010101" pitchFamily="2" charset="-122"/>
              </a:rPr>
              <a:t>命令的格式</a:t>
            </a:r>
            <a:endParaRPr lang="zh-CN" altLang="zh-CN" sz="2400" b="1"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docker commit [</a:t>
            </a:r>
            <a:r>
              <a:rPr lang="zh-CN" altLang="zh-CN" sz="2400" dirty="0">
                <a:latin typeface="宋体" panose="02010600030101010101" pitchFamily="2" charset="-122"/>
                <a:ea typeface="宋体" panose="02010600030101010101" pitchFamily="2" charset="-122"/>
              </a:rPr>
              <a:t>选项</a:t>
            </a:r>
            <a:r>
              <a:rPr lang="en-US" altLang="zh-CN" sz="2400" dirty="0">
                <a:latin typeface="宋体" panose="02010600030101010101" pitchFamily="2" charset="-122"/>
                <a:ea typeface="宋体" panose="02010600030101010101" pitchFamily="2" charset="-122"/>
              </a:rPr>
              <a:t>] &lt;</a:t>
            </a:r>
            <a:r>
              <a:rPr lang="zh-CN" altLang="zh-CN" sz="2400" dirty="0">
                <a:latin typeface="宋体" panose="02010600030101010101" pitchFamily="2" charset="-122"/>
                <a:ea typeface="宋体" panose="02010600030101010101" pitchFamily="2" charset="-122"/>
              </a:rPr>
              <a:t>容器</a:t>
            </a:r>
            <a:r>
              <a:rPr lang="en-US" altLang="zh-CN" sz="2400" dirty="0">
                <a:latin typeface="宋体" panose="02010600030101010101" pitchFamily="2" charset="-122"/>
                <a:ea typeface="宋体" panose="02010600030101010101" pitchFamily="2" charset="-122"/>
              </a:rPr>
              <a:t>ID</a:t>
            </a:r>
            <a:r>
              <a:rPr lang="zh-CN" altLang="zh-CN" sz="2400" dirty="0">
                <a:latin typeface="宋体" panose="02010600030101010101" pitchFamily="2" charset="-122"/>
                <a:ea typeface="宋体" panose="02010600030101010101" pitchFamily="2" charset="-122"/>
              </a:rPr>
              <a:t>或容器名</a:t>
            </a:r>
            <a:r>
              <a:rPr lang="en-US" altLang="zh-CN" sz="2400" dirty="0">
                <a:latin typeface="宋体" panose="02010600030101010101" pitchFamily="2" charset="-122"/>
                <a:ea typeface="宋体" panose="02010600030101010101" pitchFamily="2" charset="-122"/>
              </a:rPr>
              <a:t>&gt; [&lt;</a:t>
            </a:r>
            <a:r>
              <a:rPr lang="zh-CN" altLang="zh-CN" sz="2400" dirty="0">
                <a:latin typeface="宋体" panose="02010600030101010101" pitchFamily="2" charset="-122"/>
                <a:ea typeface="宋体" panose="02010600030101010101" pitchFamily="2" charset="-122"/>
              </a:rPr>
              <a:t>仓库名</a:t>
            </a:r>
            <a:r>
              <a:rPr lang="en-US" altLang="zh-CN" sz="2400" dirty="0">
                <a:latin typeface="宋体" panose="02010600030101010101" pitchFamily="2" charset="-122"/>
                <a:ea typeface="宋体" panose="02010600030101010101" pitchFamily="2" charset="-122"/>
              </a:rPr>
              <a:t>&gt;[:&lt;</a:t>
            </a:r>
            <a:r>
              <a:rPr lang="zh-CN" altLang="zh-CN" sz="2400" dirty="0">
                <a:latin typeface="宋体" panose="02010600030101010101" pitchFamily="2" charset="-122"/>
                <a:ea typeface="宋体" panose="02010600030101010101" pitchFamily="2" charset="-122"/>
              </a:rPr>
              <a:t>标签</a:t>
            </a:r>
            <a:r>
              <a:rPr lang="en-US" altLang="zh-CN" sz="2400" dirty="0">
                <a:latin typeface="宋体" panose="02010600030101010101" pitchFamily="2" charset="-122"/>
                <a:ea typeface="宋体" panose="02010600030101010101" pitchFamily="2" charset="-122"/>
              </a:rPr>
              <a:t>&gt;]]</a:t>
            </a: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err="1">
                <a:latin typeface="宋体" panose="02010600030101010101" pitchFamily="2" charset="-122"/>
                <a:ea typeface="宋体" panose="02010600030101010101" pitchFamily="2" charset="-122"/>
              </a:rPr>
              <a:t>docker</a:t>
            </a:r>
            <a:r>
              <a:rPr lang="en-US" altLang="zh-CN" sz="2400" dirty="0">
                <a:latin typeface="宋体" panose="02010600030101010101" pitchFamily="2" charset="-122"/>
                <a:ea typeface="宋体" panose="02010600030101010101" pitchFamily="2" charset="-122"/>
              </a:rPr>
              <a:t> commit</a:t>
            </a:r>
            <a:r>
              <a:rPr lang="zh-CN" altLang="zh-CN" sz="2400" dirty="0">
                <a:latin typeface="宋体" panose="02010600030101010101" pitchFamily="2" charset="-122"/>
                <a:ea typeface="宋体" panose="02010600030101010101" pitchFamily="2" charset="-122"/>
              </a:rPr>
              <a:t>命令的常用选项如下。</a:t>
            </a:r>
            <a:endParaRPr lang="zh-CN" altLang="zh-CN" sz="2400"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a:t>
            </a:r>
            <a:r>
              <a:rPr lang="zh-CN" altLang="zh-CN" sz="2400" dirty="0">
                <a:latin typeface="宋体" panose="02010600030101010101" pitchFamily="2" charset="-122"/>
                <a:ea typeface="宋体" panose="02010600030101010101" pitchFamily="2" charset="-122"/>
              </a:rPr>
              <a:t>：提交镜像的作者。</a:t>
            </a:r>
            <a:endParaRPr lang="zh-CN" altLang="zh-CN" sz="2400"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a:t>
            </a:r>
            <a:r>
              <a:rPr lang="zh-CN" altLang="zh-CN" sz="2400" dirty="0">
                <a:latin typeface="宋体" panose="02010600030101010101" pitchFamily="2" charset="-122"/>
                <a:ea typeface="宋体" panose="02010600030101010101" pitchFamily="2" charset="-122"/>
              </a:rPr>
              <a:t>：使用</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指令来创建镜像。</a:t>
            </a:r>
            <a:endParaRPr lang="zh-CN" altLang="zh-CN" sz="2400"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-m</a:t>
            </a:r>
            <a:r>
              <a:rPr lang="zh-CN" altLang="zh-CN" sz="2400" dirty="0">
                <a:latin typeface="宋体" panose="02010600030101010101" pitchFamily="2" charset="-122"/>
                <a:ea typeface="宋体" panose="02010600030101010101" pitchFamily="2" charset="-122"/>
              </a:rPr>
              <a:t>：提交时的说明文字。</a:t>
            </a:r>
            <a:endParaRPr lang="zh-CN" altLang="zh-CN" sz="2400" dirty="0">
              <a:latin typeface="宋体" panose="02010600030101010101" pitchFamily="2" charset="-122"/>
              <a:ea typeface="宋体" panose="02010600030101010101" pitchFamily="2" charset="-122"/>
            </a:endParaRPr>
          </a:p>
          <a:p>
            <a:pPr>
              <a:lnSpc>
                <a:spcPct val="150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4</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-p</a:t>
            </a:r>
            <a:r>
              <a:rPr lang="zh-CN" altLang="zh-CN" sz="2400" dirty="0">
                <a:latin typeface="宋体" panose="02010600030101010101" pitchFamily="2" charset="-122"/>
                <a:ea typeface="宋体" panose="02010600030101010101" pitchFamily="2" charset="-122"/>
              </a:rPr>
              <a:t>：在提交时，将容器暂停。</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235019" y="1909121"/>
            <a:ext cx="11956981" cy="1308270"/>
          </a:xfrm>
          <a:prstGeom prst="rect">
            <a:avLst/>
          </a:prstGeom>
        </p:spPr>
      </p:pic>
      <p:sp>
        <p:nvSpPr>
          <p:cNvPr id="12" name="TextBox 2"/>
          <p:cNvSpPr txBox="1"/>
          <p:nvPr/>
        </p:nvSpPr>
        <p:spPr>
          <a:xfrm>
            <a:off x="180428" y="3180142"/>
            <a:ext cx="12203723" cy="1938992"/>
          </a:xfrm>
          <a:prstGeom prst="rect">
            <a:avLst/>
          </a:prstGeom>
          <a:noFill/>
        </p:spPr>
        <p:txBody>
          <a:bodyPr wrap="square" rtlCol="0">
            <a:spAutoFit/>
          </a:bodyPr>
          <a:lstStyle/>
          <a:p>
            <a:pPr latinLnBrk="1"/>
            <a:r>
              <a:rPr lang="zh-CN" altLang="en-US" sz="2000" dirty="0">
                <a:latin typeface="宋体" panose="02010600030101010101" pitchFamily="2" charset="-122"/>
                <a:ea typeface="宋体" panose="02010600030101010101" pitchFamily="2" charset="-122"/>
              </a:rPr>
              <a:t>各个参数说明：</a:t>
            </a:r>
            <a:endParaRPr lang="zh-CN" altLang="en-US" sz="2000" dirty="0">
              <a:latin typeface="宋体" panose="02010600030101010101" pitchFamily="2" charset="-122"/>
              <a:ea typeface="宋体" panose="02010600030101010101" pitchFamily="2" charset="-122"/>
            </a:endParaRPr>
          </a:p>
          <a:p>
            <a:pPr marL="342900" indent="-342900" latinLnBrk="1">
              <a:buFont typeface="Arial" panose="020B0604020202020204" pitchFamily="34" charset="0"/>
              <a:buChar char="•"/>
            </a:pPr>
            <a:r>
              <a:rPr lang="en-US" altLang="zh-CN" sz="2000" b="1" dirty="0">
                <a:latin typeface="宋体" panose="02010600030101010101" pitchFamily="2" charset="-122"/>
                <a:ea typeface="宋体" panose="02010600030101010101" pitchFamily="2" charset="-122"/>
              </a:rPr>
              <a:t>-m:</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提交的描述信息</a:t>
            </a:r>
            <a:endParaRPr lang="zh-CN" altLang="en-US" sz="2000" dirty="0">
              <a:latin typeface="宋体" panose="02010600030101010101" pitchFamily="2" charset="-122"/>
              <a:ea typeface="宋体" panose="02010600030101010101" pitchFamily="2" charset="-122"/>
            </a:endParaRPr>
          </a:p>
          <a:p>
            <a:pPr marL="342900" indent="-342900" latinLnBrk="1">
              <a:buFont typeface="Arial" panose="020B0604020202020204" pitchFamily="34" charset="0"/>
              <a:buChar char="•"/>
            </a:pPr>
            <a:r>
              <a:rPr lang="en-US" altLang="zh-CN" sz="2000" b="1" dirty="0">
                <a:latin typeface="宋体" panose="02010600030101010101" pitchFamily="2" charset="-122"/>
                <a:ea typeface="宋体" panose="02010600030101010101" pitchFamily="2" charset="-122"/>
              </a:rPr>
              <a:t>-a:</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指定镜像作者</a:t>
            </a:r>
            <a:endParaRPr lang="zh-CN" altLang="en-US" sz="2000" dirty="0">
              <a:latin typeface="宋体" panose="02010600030101010101" pitchFamily="2" charset="-122"/>
              <a:ea typeface="宋体" panose="02010600030101010101" pitchFamily="2" charset="-122"/>
            </a:endParaRPr>
          </a:p>
          <a:p>
            <a:pPr marL="342900" indent="-342900" latinLnBrk="1">
              <a:buFont typeface="Arial" panose="020B0604020202020204" pitchFamily="34" charset="0"/>
              <a:buChar char="•"/>
            </a:pPr>
            <a:r>
              <a:rPr lang="en-US" altLang="zh-CN" sz="2000" b="1" dirty="0">
                <a:latin typeface="宋体" panose="02010600030101010101" pitchFamily="2" charset="-122"/>
                <a:ea typeface="宋体" panose="02010600030101010101" pitchFamily="2" charset="-122"/>
              </a:rPr>
              <a:t>e218edb10161</a:t>
            </a:r>
            <a:r>
              <a:rPr lang="zh-CN" altLang="en-US" sz="2000" b="1"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容器 </a:t>
            </a:r>
            <a:r>
              <a:rPr lang="en-US" altLang="zh-CN" sz="2000" dirty="0">
                <a:latin typeface="宋体" panose="02010600030101010101" pitchFamily="2" charset="-122"/>
                <a:ea typeface="宋体" panose="02010600030101010101" pitchFamily="2" charset="-122"/>
              </a:rPr>
              <a:t>ID</a:t>
            </a:r>
            <a:endParaRPr lang="en-US" altLang="zh-CN" sz="2000" dirty="0">
              <a:latin typeface="宋体" panose="02010600030101010101" pitchFamily="2" charset="-122"/>
              <a:ea typeface="宋体" panose="02010600030101010101" pitchFamily="2" charset="-122"/>
            </a:endParaRPr>
          </a:p>
          <a:p>
            <a:pPr marL="342900" indent="-342900" latinLnBrk="1">
              <a:buFont typeface="Arial" panose="020B0604020202020204" pitchFamily="34" charset="0"/>
              <a:buChar char="•"/>
            </a:pPr>
            <a:r>
              <a:rPr lang="en-US" altLang="zh-CN" sz="2000" b="1" dirty="0" err="1">
                <a:latin typeface="宋体" panose="02010600030101010101" pitchFamily="2" charset="-122"/>
                <a:ea typeface="宋体" panose="02010600030101010101" pitchFamily="2" charset="-122"/>
              </a:rPr>
              <a:t>runoob</a:t>
            </a:r>
            <a:r>
              <a:rPr lang="en-US" altLang="zh-CN" sz="2000" b="1" dirty="0">
                <a:latin typeface="宋体" panose="02010600030101010101" pitchFamily="2" charset="-122"/>
                <a:ea typeface="宋体" panose="02010600030101010101" pitchFamily="2" charset="-122"/>
              </a:rPr>
              <a:t>/ubuntu:v2:</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指定要创建的目标镜像名</a:t>
            </a:r>
            <a:endParaRPr lang="zh-CN" altLang="en-US" sz="2000" dirty="0">
              <a:latin typeface="宋体" panose="02010600030101010101" pitchFamily="2" charset="-122"/>
              <a:ea typeface="宋体" panose="02010600030101010101" pitchFamily="2" charset="-122"/>
            </a:endParaRPr>
          </a:p>
          <a:p>
            <a:pPr latinLnBrk="1"/>
            <a:r>
              <a:rPr lang="zh-CN" altLang="en-US" sz="2000" dirty="0">
                <a:latin typeface="宋体" panose="02010600030101010101" pitchFamily="2" charset="-122"/>
                <a:ea typeface="宋体" panose="02010600030101010101" pitchFamily="2" charset="-122"/>
              </a:rPr>
              <a:t>我们可以使用 </a:t>
            </a:r>
            <a:r>
              <a:rPr lang="en-US" altLang="zh-CN" sz="2000" b="1" dirty="0">
                <a:latin typeface="宋体" panose="02010600030101010101" pitchFamily="2" charset="-122"/>
                <a:ea typeface="宋体" panose="02010600030101010101" pitchFamily="2" charset="-122"/>
              </a:rPr>
              <a:t>docker images</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命令来查看我们的新镜像 </a:t>
            </a:r>
            <a:r>
              <a:rPr lang="en-US" altLang="zh-CN" sz="2000" b="1" dirty="0" err="1">
                <a:latin typeface="宋体" panose="02010600030101010101" pitchFamily="2" charset="-122"/>
                <a:ea typeface="宋体" panose="02010600030101010101" pitchFamily="2" charset="-122"/>
              </a:rPr>
              <a:t>runoob</a:t>
            </a:r>
            <a:r>
              <a:rPr lang="en-US" altLang="zh-CN" sz="2000" b="1" dirty="0">
                <a:latin typeface="宋体" panose="02010600030101010101" pitchFamily="2" charset="-122"/>
                <a:ea typeface="宋体" panose="02010600030101010101" pitchFamily="2" charset="-122"/>
              </a:rPr>
              <a:t>/ubuntu:v2</a:t>
            </a:r>
            <a:endParaRPr lang="zh-CN" altLang="en-US" sz="2000" dirty="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235019" y="5170373"/>
            <a:ext cx="10229780" cy="1459630"/>
          </a:xfrm>
          <a:prstGeom prst="rect">
            <a:avLst/>
          </a:prstGeom>
        </p:spPr>
      </p:pic>
      <p:sp>
        <p:nvSpPr>
          <p:cNvPr id="10" name="TextBox 2"/>
          <p:cNvSpPr txBox="1"/>
          <p:nvPr/>
        </p:nvSpPr>
        <p:spPr>
          <a:xfrm>
            <a:off x="295702" y="1447456"/>
            <a:ext cx="12203723" cy="461665"/>
          </a:xfrm>
          <a:prstGeom prst="rect">
            <a:avLst/>
          </a:prstGeom>
          <a:noFill/>
        </p:spPr>
        <p:txBody>
          <a:bodyPr wrap="square" rtlCol="0">
            <a:spAutoFit/>
          </a:bodyPr>
          <a:lstStyle/>
          <a:p>
            <a:pPr latinLnBrk="1"/>
            <a:r>
              <a:rPr lang="zh-CN" altLang="en-US" sz="2400" dirty="0">
                <a:latin typeface="宋体" panose="02010600030101010101" pitchFamily="2" charset="-122"/>
                <a:ea typeface="宋体" panose="02010600030101010101" pitchFamily="2" charset="-122"/>
              </a:rPr>
              <a:t>举例：利用</a:t>
            </a: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创建定制</a:t>
            </a:r>
            <a:r>
              <a:rPr lang="en-US" altLang="zh-CN" sz="2400" dirty="0">
                <a:latin typeface="宋体" panose="02010600030101010101" pitchFamily="2" charset="-122"/>
                <a:ea typeface="宋体" panose="02010600030101010101" pitchFamily="2" charset="-122"/>
              </a:rPr>
              <a:t>docker</a:t>
            </a:r>
            <a:r>
              <a:rPr lang="zh-CN" altLang="en-US" sz="2400" dirty="0">
                <a:latin typeface="宋体" panose="02010600030101010101" pitchFamily="2" charset="-122"/>
                <a:ea typeface="宋体" panose="02010600030101010101" pitchFamily="2" charset="-122"/>
              </a:rPr>
              <a:t>镜像。</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4468018"/>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docker commit</a:t>
            </a:r>
            <a:r>
              <a:rPr lang="zh-CN" altLang="en-US" sz="2400" b="1" dirty="0">
                <a:latin typeface="宋体" panose="02010600030101010101" pitchFamily="2" charset="-122"/>
                <a:ea typeface="宋体" panose="02010600030101010101" pitchFamily="2" charset="-122"/>
              </a:rPr>
              <a:t>的缺点</a:t>
            </a:r>
            <a:endParaRPr lang="en-US" altLang="zh-CN" sz="2400" b="1" dirty="0">
              <a:latin typeface="宋体" panose="02010600030101010101" pitchFamily="2" charset="-122"/>
              <a:ea typeface="宋体" panose="02010600030101010101" pitchFamily="2" charset="-122"/>
            </a:endParaRPr>
          </a:p>
          <a:p>
            <a:pPr indent="720090">
              <a:lnSpc>
                <a:spcPct val="150000"/>
              </a:lnSpc>
            </a:pPr>
            <a:r>
              <a:rPr lang="zh-CN" altLang="en-US" sz="2400" dirty="0">
                <a:latin typeface="宋体" panose="02010600030101010101" pitchFamily="2" charset="-122"/>
                <a:ea typeface="宋体" panose="02010600030101010101" pitchFamily="2" charset="-122"/>
              </a:rPr>
              <a:t>虽然</a:t>
            </a: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命令可以比较直观的构建镜像，但在实际环境中并不建议使用</a:t>
            </a: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命令构建镜像，因为存在以下缺点：</a:t>
            </a:r>
            <a:endParaRPr lang="zh-CN" altLang="en-US" sz="2400" dirty="0">
              <a:latin typeface="宋体" panose="02010600030101010101" pitchFamily="2" charset="-122"/>
              <a:ea typeface="宋体" panose="02010600030101010101" pitchFamily="2" charset="-122"/>
            </a:endParaRPr>
          </a:p>
          <a:p>
            <a:pPr indent="720090">
              <a:lnSpc>
                <a:spcPct val="150000"/>
              </a:lnSpc>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、在构建镜像中，由于需要安装相关的软件，可能会造成大量不必要的软件也被安装，如果清理软件不小心，也会导致镜像比较大。</a:t>
            </a:r>
            <a:endParaRPr lang="zh-CN" altLang="en-US" sz="2400" dirty="0">
              <a:latin typeface="宋体" panose="02010600030101010101" pitchFamily="2" charset="-122"/>
              <a:ea typeface="宋体" panose="02010600030101010101" pitchFamily="2" charset="-122"/>
            </a:endParaRPr>
          </a:p>
          <a:p>
            <a:pPr indent="720090">
              <a:lnSpc>
                <a:spcPct val="150000"/>
              </a:lnSpc>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、利用</a:t>
            </a:r>
            <a:r>
              <a:rPr lang="en-US" altLang="zh-CN" sz="2400" dirty="0" err="1">
                <a:latin typeface="宋体" panose="02010600030101010101" pitchFamily="2" charset="-122"/>
                <a:ea typeface="宋体" panose="02010600030101010101" pitchFamily="2" charset="-122"/>
              </a:rPr>
              <a:t>docker</a:t>
            </a:r>
            <a:r>
              <a:rPr lang="en-US" altLang="zh-CN" sz="2400" dirty="0">
                <a:latin typeface="宋体" panose="02010600030101010101" pitchFamily="2" charset="-122"/>
                <a:ea typeface="宋体" panose="02010600030101010101" pitchFamily="2" charset="-122"/>
              </a:rPr>
              <a:t> commit</a:t>
            </a:r>
            <a:r>
              <a:rPr lang="zh-CN" altLang="en-US" sz="2400" dirty="0">
                <a:latin typeface="宋体" panose="02010600030101010101" pitchFamily="2" charset="-122"/>
                <a:ea typeface="宋体" panose="02010600030101010101" pitchFamily="2" charset="-122"/>
              </a:rPr>
              <a:t>在构建镜像的过程中，由于</a:t>
            </a:r>
            <a:r>
              <a:rPr lang="en-US" altLang="zh-CN" sz="2400" dirty="0" err="1">
                <a:latin typeface="宋体" panose="02010600030101010101" pitchFamily="2" charset="-122"/>
                <a:ea typeface="宋体" panose="02010600030101010101" pitchFamily="2" charset="-122"/>
              </a:rPr>
              <a:t>docker</a:t>
            </a:r>
            <a:r>
              <a:rPr lang="en-US" altLang="zh-CN" sz="2400" dirty="0">
                <a:latin typeface="宋体" panose="02010600030101010101" pitchFamily="2" charset="-122"/>
                <a:ea typeface="宋体" panose="02010600030101010101" pitchFamily="2" charset="-122"/>
              </a:rPr>
              <a:t> commit</a:t>
            </a:r>
            <a:r>
              <a:rPr lang="zh-CN" altLang="en-US" sz="2400" dirty="0">
                <a:latin typeface="宋体" panose="02010600030101010101" pitchFamily="2" charset="-122"/>
                <a:ea typeface="宋体" panose="02010600030101010101" pitchFamily="2" charset="-122"/>
              </a:rPr>
              <a:t>对镜像的操作属于黑箱操作，主要指除了制定镜像的用户知道执行过什么命令，怎么生成镜像的，而其他用户无从得知，将会给后期对镜像维护工作带来很大的困难。</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4"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373486" y="1480193"/>
            <a:ext cx="11695723" cy="6119945"/>
          </a:xfrm>
          <a:prstGeom prst="rect">
            <a:avLst/>
          </a:prstGeom>
          <a:noFill/>
        </p:spPr>
        <p:txBody>
          <a:bodyPr wrap="square" rtlCol="0">
            <a:spAutoFit/>
          </a:bodyPr>
          <a:lstStyle/>
          <a:p>
            <a:pPr algn="just" fontAlgn="ct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Dockerfile</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构建镜像</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gn="just" fontAlgn="ctr">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我们使用命令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docker build</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 从零开始来创建一个新的镜像。为此，我们需要创建一个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Dockerfile</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文件，其中包含一组指令来告诉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Docker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如何构建我们的镜像。</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Dockerfile</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文件是一个文本文件，也是一个</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Docker</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可以解读的脚本文件，在这个脚本文件中记录着用户“创建”镜像过程中需要执行的所有命令。</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当</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docker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读取并执行</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Dockerfile</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文件</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中所定义的指令时，这些指令将产生一些临时文件层，并会用一个名称来标记这些临时文件层。</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有些</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Dockerfile</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中的指令并不会创建新的镜像层。比如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ENV</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EXPOSE</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CMD </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以及</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ENTRY- POINT</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。不过，这些命令会在镜像中添加元数据。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endPar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360022"/>
          </a:xfrm>
          <a:prstGeom prst="rect">
            <a:avLst/>
          </a:prstGeom>
          <a:noFill/>
        </p:spPr>
        <p:txBody>
          <a:bodyPr wrap="square" rtlCol="0">
            <a:spAutoFit/>
          </a:bodyPr>
          <a:lstStyle/>
          <a:p>
            <a:pPr algn="just" fontAlgn="ctr">
              <a:lnSpc>
                <a:spcPct val="150000"/>
              </a:lnSpc>
            </a:pPr>
            <a:r>
              <a:rPr lang="zh-CN" altLang="en-US" sz="2400" b="1" dirty="0">
                <a:latin typeface="宋体" panose="02010600030101010101" pitchFamily="2" charset="-122"/>
                <a:ea typeface="宋体" panose="02010600030101010101" pitchFamily="2" charset="-122"/>
              </a:rPr>
              <a:t>利用</a:t>
            </a:r>
            <a:r>
              <a:rPr lang="en-US" altLang="zh-CN" sz="2400" b="1" dirty="0" err="1">
                <a:latin typeface="宋体" panose="02010600030101010101" pitchFamily="2" charset="-122"/>
                <a:ea typeface="宋体" panose="02010600030101010101" pitchFamily="2" charset="-122"/>
              </a:rPr>
              <a:t>Dockerfile</a:t>
            </a:r>
            <a:r>
              <a:rPr lang="zh-CN" altLang="en-US" sz="2400" b="1" dirty="0">
                <a:latin typeface="宋体" panose="02010600030101010101" pitchFamily="2" charset="-122"/>
                <a:ea typeface="宋体" panose="02010600030101010101" pitchFamily="2" charset="-122"/>
              </a:rPr>
              <a:t>构建镜像</a:t>
            </a:r>
            <a:endParaRPr lang="en-US" altLang="zh-CN" sz="2400" b="1" dirty="0">
              <a:latin typeface="宋体" panose="02010600030101010101" pitchFamily="2" charset="-122"/>
              <a:ea typeface="宋体" panose="02010600030101010101" pitchFamily="2" charset="-122"/>
            </a:endParaRPr>
          </a:p>
          <a:p>
            <a:pPr indent="457200">
              <a:lnSpc>
                <a:spcPct val="150000"/>
              </a:lnSpc>
            </a:pP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从</a:t>
            </a:r>
            <a:r>
              <a:rPr lang="en-US" altLang="zh-CN" sz="2400" dirty="0">
                <a:latin typeface="宋体" panose="02010600030101010101" pitchFamily="2" charset="-122"/>
                <a:ea typeface="宋体" panose="02010600030101010101" pitchFamily="2" charset="-122"/>
              </a:rPr>
              <a:t>FROM</a:t>
            </a:r>
            <a:r>
              <a:rPr lang="zh-CN" altLang="zh-CN" sz="2400" dirty="0">
                <a:latin typeface="宋体" panose="02010600030101010101" pitchFamily="2" charset="-122"/>
                <a:ea typeface="宋体" panose="02010600030101010101" pitchFamily="2" charset="-122"/>
              </a:rPr>
              <a:t>命令开始，紧接着是各种方法、命令和参数。其产出为一个新的可以用于创建容器的镜像。</a:t>
            </a:r>
            <a:endParaRPr lang="en-US" altLang="zh-CN" sz="2400" dirty="0">
              <a:solidFill>
                <a:srgbClr val="000000"/>
              </a:solidFill>
              <a:latin typeface="宋体" panose="02010600030101010101" pitchFamily="2" charset="-122"/>
              <a:ea typeface="宋体" panose="02010600030101010101" pitchFamily="2" charset="-122"/>
            </a:endParaRPr>
          </a:p>
          <a:p>
            <a:pPr>
              <a:lnSpc>
                <a:spcPct val="150000"/>
              </a:lnSpc>
            </a:pPr>
            <a:r>
              <a:rPr lang="en-US" altLang="zh-CN" sz="2400" dirty="0">
                <a:solidFill>
                  <a:srgbClr val="000000"/>
                </a:solidFill>
                <a:latin typeface="宋体" panose="02010600030101010101" pitchFamily="2" charset="-122"/>
                <a:ea typeface="宋体" panose="02010600030101010101" pitchFamily="2" charset="-122"/>
              </a:rPr>
              <a:t>     </a:t>
            </a:r>
            <a:r>
              <a:rPr lang="en-US" altLang="zh-CN" sz="2400" dirty="0" err="1">
                <a:solidFill>
                  <a:srgbClr val="000000"/>
                </a:solidFill>
                <a:latin typeface="宋体" panose="02010600030101010101" pitchFamily="2" charset="-122"/>
                <a:ea typeface="宋体" panose="02010600030101010101" pitchFamily="2" charset="-122"/>
              </a:rPr>
              <a:t>Dockerfile</a:t>
            </a:r>
            <a:r>
              <a:rPr lang="zh-CN" altLang="en-US" sz="2400" dirty="0">
                <a:solidFill>
                  <a:srgbClr val="000000"/>
                </a:solidFill>
                <a:latin typeface="宋体" panose="02010600030101010101" pitchFamily="2" charset="-122"/>
                <a:ea typeface="宋体" panose="02010600030101010101" pitchFamily="2" charset="-122"/>
              </a:rPr>
              <a:t>整体就两类语句组成：</a:t>
            </a:r>
            <a:endParaRPr lang="zh-CN" altLang="en-US" sz="2400" dirty="0">
              <a:solidFill>
                <a:srgbClr val="000000"/>
              </a:solidFill>
              <a:latin typeface="宋体" panose="02010600030101010101" pitchFamily="2" charset="-122"/>
              <a:ea typeface="宋体" panose="02010600030101010101" pitchFamily="2" charset="-122"/>
            </a:endParaRPr>
          </a:p>
          <a:p>
            <a:pPr marL="742950" lvl="1" indent="-285750" latinLnBrk="1">
              <a:lnSpc>
                <a:spcPct val="150000"/>
              </a:lnSpc>
              <a:buFont typeface="+mj-lt"/>
              <a:buAutoNum type="arabicPeriod"/>
            </a:pPr>
            <a:r>
              <a:rPr lang="en-US" altLang="zh-CN" sz="2400" dirty="0">
                <a:solidFill>
                  <a:srgbClr val="000000"/>
                </a:solidFill>
                <a:latin typeface="宋体" panose="02010600030101010101" pitchFamily="2" charset="-122"/>
                <a:ea typeface="宋体" panose="02010600030101010101" pitchFamily="2" charset="-122"/>
              </a:rPr>
              <a:t># Comment </a:t>
            </a:r>
            <a:r>
              <a:rPr lang="zh-CN" altLang="en-US" sz="2400" dirty="0">
                <a:solidFill>
                  <a:srgbClr val="000000"/>
                </a:solidFill>
                <a:latin typeface="宋体" panose="02010600030101010101" pitchFamily="2" charset="-122"/>
                <a:ea typeface="宋体" panose="02010600030101010101" pitchFamily="2" charset="-122"/>
              </a:rPr>
              <a:t>注释信息</a:t>
            </a:r>
            <a:endParaRPr lang="zh-CN" altLang="en-US" sz="2400" dirty="0">
              <a:solidFill>
                <a:srgbClr val="000000"/>
              </a:solidFill>
              <a:latin typeface="宋体" panose="02010600030101010101" pitchFamily="2" charset="-122"/>
              <a:ea typeface="宋体" panose="02010600030101010101" pitchFamily="2" charset="-122"/>
            </a:endParaRPr>
          </a:p>
          <a:p>
            <a:pPr marL="742950" lvl="1" indent="-285750" latinLnBrk="1">
              <a:lnSpc>
                <a:spcPct val="150000"/>
              </a:lnSpc>
              <a:buFont typeface="+mj-lt"/>
              <a:buAutoNum type="arabicPeriod"/>
            </a:pPr>
            <a:r>
              <a:rPr lang="en-US" altLang="zh-CN" sz="2400" dirty="0">
                <a:solidFill>
                  <a:srgbClr val="000000"/>
                </a:solidFill>
                <a:latin typeface="宋体" panose="02010600030101010101" pitchFamily="2" charset="-122"/>
                <a:ea typeface="宋体" panose="02010600030101010101" pitchFamily="2" charset="-122"/>
              </a:rPr>
              <a:t>Instruction arguments </a:t>
            </a:r>
            <a:r>
              <a:rPr lang="zh-CN" altLang="en-US" sz="2400" dirty="0">
                <a:solidFill>
                  <a:srgbClr val="000000"/>
                </a:solidFill>
                <a:latin typeface="宋体" panose="02010600030101010101" pitchFamily="2" charset="-122"/>
                <a:ea typeface="宋体" panose="02010600030101010101" pitchFamily="2" charset="-122"/>
              </a:rPr>
              <a:t>指令参数，一行一个指令。</a:t>
            </a:r>
            <a:endParaRPr lang="en-US" altLang="zh-CN" sz="2400" dirty="0">
              <a:solidFill>
                <a:srgbClr val="000000"/>
              </a:solidFill>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20939" y="1459890"/>
            <a:ext cx="11959068" cy="4708981"/>
          </a:xfrm>
          <a:prstGeom prst="rect">
            <a:avLst/>
          </a:prstGeom>
        </p:spPr>
        <p:txBody>
          <a:bodyPr wrap="square">
            <a:spAutoFit/>
          </a:bodyPr>
          <a:lstStyle/>
          <a:p>
            <a:pPr marL="0" lvl="1" latinLnBrk="1">
              <a:lnSpc>
                <a:spcPct val="150000"/>
              </a:lnSpc>
            </a:pPr>
            <a:r>
              <a:rPr lang="zh-CN" altLang="en-US" sz="2400" dirty="0">
                <a:solidFill>
                  <a:srgbClr val="000000"/>
                </a:solidFill>
                <a:latin typeface="宋体" panose="02010600030101010101" pitchFamily="2" charset="-122"/>
                <a:ea typeface="宋体" panose="02010600030101010101" pitchFamily="2" charset="-122"/>
              </a:rPr>
              <a:t>说明：</a:t>
            </a:r>
            <a:endParaRPr lang="zh-CN" altLang="en-US" sz="2400" dirty="0">
              <a:solidFill>
                <a:srgbClr val="000000"/>
              </a:solidFill>
              <a:latin typeface="宋体" panose="02010600030101010101" pitchFamily="2" charset="-122"/>
              <a:ea typeface="宋体" panose="02010600030101010101" pitchFamily="2" charset="-122"/>
            </a:endParaRPr>
          </a:p>
          <a:p>
            <a:pPr marL="800100" lvl="1" indent="-342900">
              <a:lnSpc>
                <a:spcPct val="150000"/>
              </a:lnSpc>
              <a:buFont typeface="Wingdings" panose="05000000000000000000" pitchFamily="2" charset="2"/>
              <a:buChar char="n"/>
            </a:pPr>
            <a:r>
              <a:rPr lang="en-US" altLang="zh-CN" sz="2200" dirty="0" err="1">
                <a:solidFill>
                  <a:srgbClr val="000000"/>
                </a:solidFill>
                <a:latin typeface="宋体" panose="02010600030101010101" pitchFamily="2" charset="-122"/>
                <a:ea typeface="宋体" panose="02010600030101010101" pitchFamily="2" charset="-122"/>
              </a:rPr>
              <a:t>Dockerfile</a:t>
            </a:r>
            <a:r>
              <a:rPr lang="zh-CN" altLang="en-US" sz="2200" dirty="0">
                <a:solidFill>
                  <a:srgbClr val="000000"/>
                </a:solidFill>
                <a:latin typeface="宋体" panose="02010600030101010101" pitchFamily="2" charset="-122"/>
                <a:ea typeface="宋体" panose="02010600030101010101" pitchFamily="2" charset="-122"/>
              </a:rPr>
              <a:t>文件名首字母必须大写。</a:t>
            </a:r>
            <a:endParaRPr lang="zh-CN" altLang="en-US" sz="2200" dirty="0">
              <a:solidFill>
                <a:srgbClr val="000000"/>
              </a:solidFill>
              <a:latin typeface="宋体" panose="02010600030101010101" pitchFamily="2" charset="-122"/>
              <a:ea typeface="宋体" panose="02010600030101010101" pitchFamily="2" charset="-122"/>
            </a:endParaRPr>
          </a:p>
          <a:p>
            <a:pPr marL="800100" lvl="1" indent="-342900">
              <a:lnSpc>
                <a:spcPct val="150000"/>
              </a:lnSpc>
              <a:buFont typeface="Wingdings" panose="05000000000000000000" pitchFamily="2" charset="2"/>
              <a:buChar char="n"/>
            </a:pPr>
            <a:r>
              <a:rPr lang="en-US" altLang="zh-CN" sz="2200" dirty="0" err="1">
                <a:solidFill>
                  <a:srgbClr val="000000"/>
                </a:solidFill>
                <a:latin typeface="宋体" panose="02010600030101010101" pitchFamily="2" charset="-122"/>
                <a:ea typeface="宋体" panose="02010600030101010101" pitchFamily="2" charset="-122"/>
              </a:rPr>
              <a:t>Dockerfile</a:t>
            </a:r>
            <a:r>
              <a:rPr lang="zh-CN" altLang="en-US" sz="2200" dirty="0">
                <a:solidFill>
                  <a:srgbClr val="000000"/>
                </a:solidFill>
                <a:latin typeface="宋体" panose="02010600030101010101" pitchFamily="2" charset="-122"/>
                <a:ea typeface="宋体" panose="02010600030101010101" pitchFamily="2" charset="-122"/>
              </a:rPr>
              <a:t>指令不区分大小写，但是为方便和参数做区分，通常指令使用大写字母。</a:t>
            </a:r>
            <a:endParaRPr lang="zh-CN" altLang="en-US" sz="2200" dirty="0">
              <a:solidFill>
                <a:srgbClr val="000000"/>
              </a:solidFill>
              <a:latin typeface="宋体" panose="02010600030101010101" pitchFamily="2" charset="-122"/>
              <a:ea typeface="宋体" panose="02010600030101010101" pitchFamily="2" charset="-122"/>
            </a:endParaRPr>
          </a:p>
          <a:p>
            <a:pPr marL="800100" lvl="1" indent="-342900">
              <a:lnSpc>
                <a:spcPct val="150000"/>
              </a:lnSpc>
              <a:buFont typeface="Wingdings" panose="05000000000000000000" pitchFamily="2" charset="2"/>
              <a:buChar char="n"/>
            </a:pPr>
            <a:r>
              <a:rPr lang="en-US" altLang="zh-CN" sz="2200" dirty="0" err="1">
                <a:solidFill>
                  <a:srgbClr val="000000"/>
                </a:solidFill>
                <a:latin typeface="宋体" panose="02010600030101010101" pitchFamily="2" charset="-122"/>
                <a:ea typeface="宋体" panose="02010600030101010101" pitchFamily="2" charset="-122"/>
              </a:rPr>
              <a:t>Dockerfile</a:t>
            </a:r>
            <a:r>
              <a:rPr lang="zh-CN" altLang="en-US" sz="2200" dirty="0">
                <a:solidFill>
                  <a:srgbClr val="000000"/>
                </a:solidFill>
                <a:latin typeface="宋体" panose="02010600030101010101" pitchFamily="2" charset="-122"/>
                <a:ea typeface="宋体" panose="02010600030101010101" pitchFamily="2" charset="-122"/>
              </a:rPr>
              <a:t>中指令按顺序从上至下依次执行。</a:t>
            </a:r>
            <a:endParaRPr lang="zh-CN" altLang="en-US" sz="2200" dirty="0">
              <a:solidFill>
                <a:srgbClr val="000000"/>
              </a:solidFill>
              <a:latin typeface="宋体" panose="02010600030101010101" pitchFamily="2" charset="-122"/>
              <a:ea typeface="宋体" panose="02010600030101010101" pitchFamily="2" charset="-122"/>
            </a:endParaRPr>
          </a:p>
          <a:p>
            <a:pPr marL="800100" lvl="1" indent="-342900">
              <a:lnSpc>
                <a:spcPct val="150000"/>
              </a:lnSpc>
              <a:buFont typeface="Wingdings" panose="05000000000000000000" pitchFamily="2" charset="2"/>
              <a:buChar char="n"/>
            </a:pPr>
            <a:r>
              <a:rPr lang="en-US" altLang="zh-CN" sz="2200" dirty="0" err="1">
                <a:solidFill>
                  <a:srgbClr val="000000"/>
                </a:solidFill>
                <a:latin typeface="宋体" panose="02010600030101010101" pitchFamily="2" charset="-122"/>
                <a:ea typeface="宋体" panose="02010600030101010101" pitchFamily="2" charset="-122"/>
              </a:rPr>
              <a:t>Dockerfile</a:t>
            </a:r>
            <a:r>
              <a:rPr lang="zh-CN" altLang="en-US" sz="2200" dirty="0">
                <a:solidFill>
                  <a:srgbClr val="000000"/>
                </a:solidFill>
                <a:latin typeface="宋体" panose="02010600030101010101" pitchFamily="2" charset="-122"/>
                <a:ea typeface="宋体" panose="02010600030101010101" pitchFamily="2" charset="-122"/>
              </a:rPr>
              <a:t>中第一个非注释行必须是</a:t>
            </a:r>
            <a:r>
              <a:rPr lang="en-US" altLang="zh-CN" sz="2200" dirty="0">
                <a:solidFill>
                  <a:srgbClr val="000000"/>
                </a:solidFill>
                <a:latin typeface="宋体" panose="02010600030101010101" pitchFamily="2" charset="-122"/>
                <a:ea typeface="宋体" panose="02010600030101010101" pitchFamily="2" charset="-122"/>
              </a:rPr>
              <a:t>FROM</a:t>
            </a:r>
            <a:r>
              <a:rPr lang="zh-CN" altLang="en-US" sz="2200" dirty="0">
                <a:solidFill>
                  <a:srgbClr val="000000"/>
                </a:solidFill>
                <a:latin typeface="宋体" panose="02010600030101010101" pitchFamily="2" charset="-122"/>
                <a:ea typeface="宋体" panose="02010600030101010101" pitchFamily="2" charset="-122"/>
              </a:rPr>
              <a:t>指令，用来指定制作当前镜像依据的是哪个基础镜像。</a:t>
            </a:r>
            <a:endParaRPr lang="zh-CN" altLang="en-US" sz="2200" dirty="0">
              <a:solidFill>
                <a:srgbClr val="000000"/>
              </a:solidFill>
              <a:latin typeface="宋体" panose="02010600030101010101" pitchFamily="2" charset="-122"/>
              <a:ea typeface="宋体" panose="02010600030101010101" pitchFamily="2" charset="-122"/>
            </a:endParaRPr>
          </a:p>
          <a:p>
            <a:pPr marL="800100" lvl="1" indent="-342900">
              <a:lnSpc>
                <a:spcPct val="150000"/>
              </a:lnSpc>
              <a:buFont typeface="Wingdings" panose="05000000000000000000" pitchFamily="2" charset="2"/>
              <a:buChar char="n"/>
            </a:pPr>
            <a:r>
              <a:rPr lang="en-US" altLang="zh-CN" sz="2200" dirty="0" err="1">
                <a:solidFill>
                  <a:srgbClr val="000000"/>
                </a:solidFill>
                <a:latin typeface="宋体" panose="02010600030101010101" pitchFamily="2" charset="-122"/>
                <a:ea typeface="宋体" panose="02010600030101010101" pitchFamily="2" charset="-122"/>
              </a:rPr>
              <a:t>Dockerfile</a:t>
            </a:r>
            <a:r>
              <a:rPr lang="zh-CN" altLang="en-US" sz="2200" dirty="0">
                <a:solidFill>
                  <a:srgbClr val="000000"/>
                </a:solidFill>
                <a:latin typeface="宋体" panose="02010600030101010101" pitchFamily="2" charset="-122"/>
                <a:ea typeface="宋体" panose="02010600030101010101" pitchFamily="2" charset="-122"/>
              </a:rPr>
              <a:t>中需要调用的文件必须跟</a:t>
            </a:r>
            <a:r>
              <a:rPr lang="en-US" altLang="zh-CN" sz="2200" dirty="0" err="1">
                <a:solidFill>
                  <a:srgbClr val="000000"/>
                </a:solidFill>
                <a:latin typeface="宋体" panose="02010600030101010101" pitchFamily="2" charset="-122"/>
                <a:ea typeface="宋体" panose="02010600030101010101" pitchFamily="2" charset="-122"/>
              </a:rPr>
              <a:t>Dockerfile</a:t>
            </a:r>
            <a:r>
              <a:rPr lang="zh-CN" altLang="en-US" sz="2200" dirty="0">
                <a:solidFill>
                  <a:srgbClr val="000000"/>
                </a:solidFill>
                <a:latin typeface="宋体" panose="02010600030101010101" pitchFamily="2" charset="-122"/>
                <a:ea typeface="宋体" panose="02010600030101010101" pitchFamily="2" charset="-122"/>
              </a:rPr>
              <a:t>文件在同一目录下，或者在其子目录下，父目录或者其它路径无效。</a:t>
            </a:r>
            <a:endParaRPr lang="en-US" altLang="zh-CN" sz="2200" dirty="0">
              <a:solidFill>
                <a:srgbClr val="000000"/>
              </a:solidFill>
              <a:latin typeface="宋体" panose="02010600030101010101" pitchFamily="2" charset="-122"/>
              <a:ea typeface="宋体" panose="02010600030101010101" pitchFamily="2" charset="-122"/>
            </a:endParaRPr>
          </a:p>
          <a:p>
            <a:pPr marL="800100" lvl="1" indent="-342900">
              <a:lnSpc>
                <a:spcPct val="150000"/>
              </a:lnSpc>
              <a:buFont typeface="Wingdings" panose="05000000000000000000" pitchFamily="2" charset="2"/>
              <a:buChar char="n"/>
            </a:pPr>
            <a:r>
              <a:rPr lang="zh-CN" altLang="en-US" sz="2200" b="0" i="0" dirty="0">
                <a:solidFill>
                  <a:srgbClr val="000000"/>
                </a:solidFill>
                <a:effectLst/>
                <a:latin typeface="宋体" panose="02010600030101010101" pitchFamily="2" charset="-122"/>
                <a:ea typeface="宋体" panose="02010600030101010101" pitchFamily="2" charset="-122"/>
              </a:rPr>
              <a:t>编写</a:t>
            </a:r>
            <a:r>
              <a:rPr lang="en-US" altLang="zh-CN" sz="2200" b="0" i="0" dirty="0" err="1">
                <a:solidFill>
                  <a:srgbClr val="000000"/>
                </a:solidFill>
                <a:effectLst/>
                <a:latin typeface="宋体" panose="02010600030101010101" pitchFamily="2" charset="-122"/>
                <a:ea typeface="宋体" panose="02010600030101010101" pitchFamily="2" charset="-122"/>
              </a:rPr>
              <a:t>Dockerfile</a:t>
            </a:r>
            <a:r>
              <a:rPr lang="zh-CN" altLang="en-US" sz="2200" b="0" i="0" dirty="0">
                <a:solidFill>
                  <a:srgbClr val="000000"/>
                </a:solidFill>
                <a:effectLst/>
                <a:latin typeface="宋体" panose="02010600030101010101" pitchFamily="2" charset="-122"/>
                <a:ea typeface="宋体" panose="02010600030101010101" pitchFamily="2" charset="-122"/>
              </a:rPr>
              <a:t>文件要求尽可能精简。其目的是为了尽可能产生数目较少的中间层镜像。</a:t>
            </a:r>
            <a:endParaRPr lang="zh-CN" altLang="en-US" sz="2200" b="0" i="0" dirty="0">
              <a:solidFill>
                <a:srgbClr val="000000"/>
              </a:solidFill>
              <a:effectLst/>
              <a:latin typeface="宋体" panose="02010600030101010101" pitchFamily="2" charset="-122"/>
              <a:ea typeface="宋体" panose="02010600030101010101" pitchFamily="2" charset="-122"/>
            </a:endParaRPr>
          </a:p>
        </p:txBody>
      </p:sp>
      <p:sp>
        <p:nvSpPr>
          <p:cNvPr id="6"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0"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430924" y="1537649"/>
            <a:ext cx="4549775" cy="609600"/>
          </a:xfrm>
        </p:spPr>
        <p:txBody>
          <a:bodyPr>
            <a:normAutofit/>
          </a:bodyPr>
          <a:lstStyle/>
          <a:p>
            <a:r>
              <a:rPr lang="en-US" altLang="zh-CN" sz="2800" b="1" dirty="0" err="1">
                <a:solidFill>
                  <a:schemeClr val="tx1"/>
                </a:solidFill>
                <a:latin typeface="宋体" panose="02010600030101010101" pitchFamily="2" charset="-122"/>
                <a:ea typeface="宋体" panose="02010600030101010101" pitchFamily="2" charset="-122"/>
              </a:rPr>
              <a:t>Dockerfile</a:t>
            </a:r>
            <a:r>
              <a:rPr lang="zh-CN" altLang="en-US" sz="2800" b="1" dirty="0">
                <a:solidFill>
                  <a:schemeClr val="tx1"/>
                </a:solidFill>
                <a:latin typeface="宋体" panose="02010600030101010101" pitchFamily="2" charset="-122"/>
                <a:ea typeface="宋体" panose="02010600030101010101" pitchFamily="2" charset="-122"/>
              </a:rPr>
              <a:t>操作指令</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10"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
        <p:nvSpPr>
          <p:cNvPr id="7" name="矩形 6"/>
          <p:cNvSpPr/>
          <p:nvPr/>
        </p:nvSpPr>
        <p:spPr>
          <a:xfrm>
            <a:off x="373486" y="1976681"/>
            <a:ext cx="11715420" cy="5447645"/>
          </a:xfrm>
          <a:prstGeom prst="rect">
            <a:avLst/>
          </a:prstGeom>
        </p:spPr>
        <p:txBody>
          <a:bodyPr wrap="square">
            <a:spAutoFit/>
          </a:bodyPr>
          <a:lstStyle/>
          <a:p>
            <a:pPr marL="342900" indent="-342900">
              <a:lnSpc>
                <a:spcPct val="150000"/>
              </a:lnSpc>
              <a:buFont typeface="Wingdings" panose="05000000000000000000" pitchFamily="2" charset="2"/>
              <a:buChar char="p"/>
            </a:pPr>
            <a:r>
              <a:rPr lang="en-US" altLang="zh-CN" sz="2400" dirty="0">
                <a:latin typeface="宋体" panose="02010600030101010101" pitchFamily="2" charset="-122"/>
                <a:ea typeface="宋体" panose="02010600030101010101" pitchFamily="2" charset="-122"/>
              </a:rPr>
              <a:t>Docker</a:t>
            </a:r>
            <a:r>
              <a:rPr lang="zh-CN" altLang="zh-CN" sz="2400" dirty="0">
                <a:latin typeface="宋体" panose="02010600030101010101" pitchFamily="2" charset="-122"/>
                <a:ea typeface="宋体" panose="02010600030101010101" pitchFamily="2" charset="-122"/>
              </a:rPr>
              <a:t>官方提供的一个最小的镜像</a:t>
            </a:r>
            <a:r>
              <a:rPr lang="zh-CN" altLang="en-US" sz="2400" dirty="0">
                <a:latin typeface="宋体" panose="02010600030101010101" pitchFamily="2" charset="-122"/>
                <a:ea typeface="宋体" panose="02010600030101010101" pitchFamily="2" charset="-122"/>
              </a:rPr>
              <a:t>为</a:t>
            </a:r>
            <a:r>
              <a:rPr lang="en-US" altLang="zh-CN" sz="2400" dirty="0">
                <a:latin typeface="宋体" panose="02010600030101010101" pitchFamily="2" charset="-122"/>
                <a:ea typeface="宋体" panose="02010600030101010101" pitchFamily="2" charset="-122"/>
              </a:rPr>
              <a:t> hello-world</a:t>
            </a:r>
            <a:r>
              <a:rPr lang="zh-CN" altLang="zh-CN" sz="2400" dirty="0">
                <a:latin typeface="宋体" panose="02010600030101010101" pitchFamily="2" charset="-122"/>
                <a:ea typeface="宋体" panose="02010600030101010101" pitchFamily="2" charset="-122"/>
              </a:rPr>
              <a:t>镜像</a:t>
            </a:r>
            <a:r>
              <a:rPr lang="zh-CN" altLang="en-US"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它的</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内容只有</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行，如下所示。</a:t>
            </a: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FROM scratch</a:t>
            </a: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COPY hello /</a:t>
            </a: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CMD ["/hello"]</a:t>
            </a:r>
            <a:endParaRPr lang="zh-CN" altLang="zh-CN" sz="24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p"/>
            </a:pPr>
            <a:r>
              <a:rPr lang="zh-CN" altLang="zh-CN" sz="2400" dirty="0">
                <a:latin typeface="宋体" panose="02010600030101010101" pitchFamily="2" charset="-122"/>
                <a:ea typeface="宋体" panose="02010600030101010101" pitchFamily="2" charset="-122"/>
              </a:rPr>
              <a:t>其中，</a:t>
            </a:r>
            <a:r>
              <a:rPr lang="en-US" altLang="zh-CN" sz="2400" dirty="0">
                <a:latin typeface="宋体" panose="02010600030101010101" pitchFamily="2" charset="-122"/>
                <a:ea typeface="宋体" panose="02010600030101010101" pitchFamily="2" charset="-122"/>
              </a:rPr>
              <a:t>FROM</a:t>
            </a:r>
            <a:r>
              <a:rPr lang="zh-CN" altLang="zh-CN" sz="2400" dirty="0">
                <a:latin typeface="宋体" panose="02010600030101010101" pitchFamily="2" charset="-122"/>
                <a:ea typeface="宋体" panose="02010600030101010101" pitchFamily="2" charset="-122"/>
              </a:rPr>
              <a:t>命令定义所有的基础镜像，即该镜像从哪个镜像开始构建，</a:t>
            </a:r>
            <a:r>
              <a:rPr lang="en-US" altLang="zh-CN" sz="2400" dirty="0">
                <a:latin typeface="宋体" panose="02010600030101010101" pitchFamily="2" charset="-122"/>
                <a:ea typeface="宋体" panose="02010600030101010101" pitchFamily="2" charset="-122"/>
              </a:rPr>
              <a:t>scratch</a:t>
            </a:r>
            <a:r>
              <a:rPr lang="zh-CN" altLang="zh-CN" sz="2400" dirty="0">
                <a:latin typeface="宋体" panose="02010600030101010101" pitchFamily="2" charset="-122"/>
                <a:ea typeface="宋体" panose="02010600030101010101" pitchFamily="2" charset="-122"/>
              </a:rPr>
              <a:t>表示空白镜像，该镜像不依赖其他镜像，从“零”开始构建，第</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行表示将文件</a:t>
            </a:r>
            <a:r>
              <a:rPr lang="en-US" altLang="zh-CN" sz="2400" dirty="0">
                <a:latin typeface="宋体" panose="02010600030101010101" pitchFamily="2" charset="-122"/>
                <a:ea typeface="宋体" panose="02010600030101010101" pitchFamily="2" charset="-122"/>
              </a:rPr>
              <a:t>hello</a:t>
            </a:r>
            <a:r>
              <a:rPr lang="zh-CN" altLang="zh-CN" sz="2400" dirty="0">
                <a:latin typeface="宋体" panose="02010600030101010101" pitchFamily="2" charset="-122"/>
                <a:ea typeface="宋体" panose="02010600030101010101" pitchFamily="2" charset="-122"/>
              </a:rPr>
              <a:t>复制到镜像的根目录。第</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行则意味着通过镜像启动容器时执行</a:t>
            </a:r>
            <a:r>
              <a:rPr lang="en-US" altLang="zh-CN" sz="2400" dirty="0">
                <a:latin typeface="宋体" panose="02010600030101010101" pitchFamily="2" charset="-122"/>
                <a:ea typeface="宋体" panose="02010600030101010101" pitchFamily="2" charset="-122"/>
              </a:rPr>
              <a:t>/hello</a:t>
            </a:r>
            <a:r>
              <a:rPr lang="zh-CN" altLang="zh-CN" sz="2400" dirty="0">
                <a:latin typeface="宋体" panose="02010600030101010101" pitchFamily="2" charset="-122"/>
                <a:ea typeface="宋体" panose="02010600030101010101" pitchFamily="2" charset="-122"/>
              </a:rPr>
              <a:t>这个可执行文件。</a:t>
            </a:r>
            <a:endParaRPr lang="zh-CN" altLang="zh-CN" sz="24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p"/>
            </a:pPr>
            <a:r>
              <a:rPr lang="zh-CN" altLang="zh-CN" sz="2400" dirty="0">
                <a:latin typeface="宋体" panose="02010600030101010101" pitchFamily="2" charset="-122"/>
                <a:ea typeface="宋体" panose="02010600030101010101" pitchFamily="2" charset="-122"/>
              </a:rPr>
              <a:t>对</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文件执行</a:t>
            </a:r>
            <a:r>
              <a:rPr lang="zh-CN" altLang="en-US" sz="2400" dirty="0">
                <a:latin typeface="宋体" panose="02010600030101010101" pitchFamily="2" charset="-122"/>
                <a:ea typeface="宋体" panose="02010600030101010101" pitchFamily="2" charset="-122"/>
              </a:rPr>
              <a:t>，使用</a:t>
            </a:r>
            <a:r>
              <a:rPr lang="en-US" altLang="zh-CN" sz="2400" dirty="0">
                <a:latin typeface="宋体" panose="02010600030101010101" pitchFamily="2" charset="-122"/>
                <a:ea typeface="宋体" panose="02010600030101010101" pitchFamily="2" charset="-122"/>
              </a:rPr>
              <a:t>build</a:t>
            </a:r>
            <a:r>
              <a:rPr lang="zh-CN" altLang="zh-CN" sz="2400" dirty="0">
                <a:latin typeface="宋体" panose="02010600030101010101" pitchFamily="2" charset="-122"/>
                <a:ea typeface="宋体" panose="02010600030101010101" pitchFamily="2" charset="-122"/>
              </a:rPr>
              <a:t>命令</a:t>
            </a:r>
            <a:r>
              <a:rPr lang="zh-CN" altLang="en-US" sz="2400" dirty="0">
                <a:latin typeface="宋体" panose="02010600030101010101" pitchFamily="2" charset="-122"/>
                <a:ea typeface="宋体" panose="02010600030101010101" pitchFamily="2" charset="-122"/>
              </a:rPr>
              <a:t>即可</a:t>
            </a:r>
            <a:r>
              <a:rPr lang="zh-CN" altLang="zh-CN" sz="2400" dirty="0">
                <a:latin typeface="宋体" panose="02010600030101010101" pitchFamily="2" charset="-122"/>
                <a:ea typeface="宋体" panose="02010600030101010101" pitchFamily="2" charset="-122"/>
              </a:rPr>
              <a:t>构建镜像。</a:t>
            </a:r>
            <a:endParaRPr lang="zh-CN" altLang="zh-CN" sz="2400" dirty="0">
              <a:latin typeface="宋体" panose="02010600030101010101" pitchFamily="2" charset="-122"/>
              <a:ea typeface="宋体" panose="02010600030101010101" pitchFamily="2" charset="-122"/>
            </a:endParaRPr>
          </a:p>
          <a:p>
            <a:endParaRPr lang="zh-CN" altLang="zh-CN" sz="2400" dirty="0">
              <a:latin typeface="宋体" panose="02010600030101010101" pitchFamily="2" charset="-122"/>
              <a:ea typeface="宋体" panose="02010600030101010101" pitchFamily="2" charset="-122"/>
            </a:endParaRPr>
          </a:p>
        </p:txBody>
      </p:sp>
      <p:sp>
        <p:nvSpPr>
          <p:cNvPr id="2" name="矩形 1"/>
          <p:cNvSpPr/>
          <p:nvPr/>
        </p:nvSpPr>
        <p:spPr>
          <a:xfrm>
            <a:off x="3669052" y="882052"/>
            <a:ext cx="1826141" cy="584775"/>
          </a:xfrm>
          <a:prstGeom prst="rect">
            <a:avLst/>
          </a:prstGeom>
        </p:spPr>
        <p:txBody>
          <a:bodyPr wrap="none">
            <a:spAutoFit/>
          </a:bodyPr>
          <a:lstStyle/>
          <a:p>
            <a:r>
              <a:rPr lang="zh-CN" altLang="en-US" sz="3200" dirty="0">
                <a:solidFill>
                  <a:srgbClr val="00B0F0"/>
                </a:solidFill>
                <a:latin typeface="宋体" panose="02010600030101010101" pitchFamily="2" charset="-122"/>
                <a:ea typeface="宋体" panose="02010600030101010101" pitchFamily="2" charset="-122"/>
              </a:rPr>
              <a:t>相关知识</a:t>
            </a:r>
            <a:endParaRPr lang="zh-CN" altLang="en-US" sz="3200" dirty="0">
              <a:solidFill>
                <a:srgbClr val="00B0F0"/>
              </a:solidFill>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0"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
        <p:nvSpPr>
          <p:cNvPr id="7" name="矩形 6"/>
          <p:cNvSpPr/>
          <p:nvPr/>
        </p:nvSpPr>
        <p:spPr>
          <a:xfrm>
            <a:off x="298369" y="1661113"/>
            <a:ext cx="11498318" cy="5117748"/>
          </a:xfrm>
          <a:prstGeom prst="rect">
            <a:avLst/>
          </a:prstGeom>
        </p:spPr>
        <p:txBody>
          <a:bodyPr wrap="square">
            <a:spAutoFit/>
          </a:bodyPr>
          <a:lstStyle/>
          <a:p>
            <a:pPr>
              <a:lnSpc>
                <a:spcPct val="125000"/>
              </a:lnSpc>
            </a:pPr>
            <a:r>
              <a:rPr lang="en-US" altLang="zh-CN" sz="2400" b="1" dirty="0" err="1">
                <a:latin typeface="宋体" panose="02010600030101010101" pitchFamily="2" charset="-122"/>
                <a:ea typeface="宋体" panose="02010600030101010101" pitchFamily="2" charset="-122"/>
              </a:rPr>
              <a:t>Dockerfile</a:t>
            </a:r>
            <a:r>
              <a:rPr lang="zh-CN" altLang="en-US" sz="2400" b="1" dirty="0">
                <a:latin typeface="宋体" panose="02010600030101010101" pitchFamily="2" charset="-122"/>
                <a:ea typeface="宋体" panose="02010600030101010101" pitchFamily="2" charset="-122"/>
              </a:rPr>
              <a:t>操作指令</a:t>
            </a:r>
            <a:endParaRPr lang="en-US" altLang="zh-CN" sz="2400" dirty="0">
              <a:latin typeface="宋体" panose="02010600030101010101" pitchFamily="2" charset="-122"/>
              <a:ea typeface="宋体" panose="02010600030101010101" pitchFamily="2" charset="-122"/>
            </a:endParaRPr>
          </a:p>
          <a:p>
            <a:pPr>
              <a:lnSpc>
                <a:spcPct val="125000"/>
              </a:lnSpc>
            </a:pPr>
            <a:r>
              <a:rPr lang="zh-CN" altLang="en-US" sz="2000" dirty="0">
                <a:latin typeface="宋体" panose="02010600030101010101" pitchFamily="2" charset="-122"/>
                <a:ea typeface="宋体" panose="02010600030101010101" pitchFamily="2" charset="-122"/>
              </a:rPr>
              <a:t>语法格式：</a:t>
            </a:r>
            <a:r>
              <a:rPr lang="en-US" altLang="zh-CN" sz="2000" dirty="0">
                <a:latin typeface="宋体" panose="02010600030101010101" pitchFamily="2" charset="-122"/>
                <a:ea typeface="宋体" panose="02010600030101010101" pitchFamily="2" charset="-122"/>
              </a:rPr>
              <a:t>docker build [</a:t>
            </a:r>
            <a:r>
              <a:rPr lang="zh-CN" altLang="en-US" sz="2000" dirty="0">
                <a:latin typeface="宋体" panose="02010600030101010101" pitchFamily="2" charset="-122"/>
                <a:ea typeface="宋体" panose="02010600030101010101" pitchFamily="2" charset="-122"/>
              </a:rPr>
              <a:t>选项</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 </a:t>
            </a:r>
            <a:endParaRPr lang="en-US" altLang="zh-CN" sz="2000" dirty="0">
              <a:latin typeface="宋体" panose="02010600030101010101" pitchFamily="2" charset="-122"/>
              <a:ea typeface="宋体" panose="02010600030101010101" pitchFamily="2" charset="-122"/>
            </a:endParaRPr>
          </a:p>
          <a:p>
            <a:pPr>
              <a:lnSpc>
                <a:spcPct val="125000"/>
              </a:lnSpc>
            </a:pPr>
            <a:r>
              <a:rPr lang="zh-CN" altLang="en-US" sz="2000" b="1" dirty="0">
                <a:latin typeface="宋体" panose="02010600030101010101" pitchFamily="2" charset="-122"/>
                <a:ea typeface="宋体" panose="02010600030101010101" pitchFamily="2" charset="-122"/>
              </a:rPr>
              <a:t>常用选项：</a:t>
            </a:r>
            <a:endParaRPr lang="en-US" altLang="zh-CN" sz="2000" b="1" dirty="0">
              <a:latin typeface="宋体" panose="02010600030101010101" pitchFamily="2" charset="-122"/>
              <a:ea typeface="宋体" panose="02010600030101010101" pitchFamily="2" charset="-122"/>
            </a:endParaRPr>
          </a:p>
          <a:p>
            <a:pPr marL="342900" indent="-342900">
              <a:lnSpc>
                <a:spcPct val="125000"/>
              </a:lnSpc>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-t</a:t>
            </a:r>
            <a:r>
              <a:rPr lang="zh-CN" altLang="en-US" sz="2000" dirty="0">
                <a:latin typeface="宋体" panose="02010600030101010101" pitchFamily="2" charset="-122"/>
                <a:ea typeface="宋体" panose="02010600030101010101" pitchFamily="2" charset="-122"/>
              </a:rPr>
              <a:t>：指定镜像的名字</a:t>
            </a:r>
            <a:endParaRPr lang="en-US" altLang="zh-CN" sz="2000" dirty="0">
              <a:latin typeface="宋体" panose="02010600030101010101" pitchFamily="2" charset="-122"/>
              <a:ea typeface="宋体" panose="02010600030101010101" pitchFamily="2" charset="-122"/>
            </a:endParaRPr>
          </a:p>
          <a:p>
            <a:pPr marL="342900" indent="-342900">
              <a:lnSpc>
                <a:spcPct val="125000"/>
              </a:lnSpc>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-f</a:t>
            </a:r>
            <a:r>
              <a:rPr lang="zh-CN" altLang="en-US" sz="2000" dirty="0">
                <a:latin typeface="宋体" panose="02010600030101010101" pitchFamily="2" charset="-122"/>
                <a:ea typeface="宋体" panose="02010600030101010101" pitchFamily="2" charset="-122"/>
              </a:rPr>
              <a:t>：显示指定构建镜像的 </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文件</a:t>
            </a:r>
            <a:r>
              <a:rPr lang="en-US" altLang="zh-CN"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可不在当前路径下</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如果不使用 </a:t>
            </a:r>
            <a:r>
              <a:rPr lang="en-US" altLang="zh-CN" sz="2000" dirty="0">
                <a:latin typeface="宋体" panose="02010600030101010101" pitchFamily="2" charset="-122"/>
                <a:ea typeface="宋体" panose="02010600030101010101" pitchFamily="2" charset="-122"/>
              </a:rPr>
              <a:t>-f</a:t>
            </a:r>
            <a:r>
              <a:rPr lang="zh-CN" altLang="en-US" sz="2000" dirty="0">
                <a:latin typeface="宋体" panose="02010600030101010101" pitchFamily="2" charset="-122"/>
                <a:ea typeface="宋体" panose="02010600030101010101" pitchFamily="2" charset="-122"/>
              </a:rPr>
              <a:t>，则默认将上下文路径下的名为 </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的文件认为是构建镜像的</a:t>
            </a:r>
            <a:r>
              <a:rPr lang="en-US" altLang="zh-CN"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Dockerfile</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342900" indent="-342900">
              <a:lnSpc>
                <a:spcPct val="125000"/>
              </a:lnSpc>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上下文路径</a:t>
            </a:r>
            <a:r>
              <a:rPr lang="en-US" altLang="zh-CN" sz="2000" dirty="0">
                <a:latin typeface="宋体" panose="02010600030101010101" pitchFamily="2" charset="-122"/>
                <a:ea typeface="宋体" panose="02010600030101010101" pitchFamily="2" charset="-122"/>
              </a:rPr>
              <a:t>|URL: </a:t>
            </a:r>
            <a:r>
              <a:rPr lang="zh-CN" altLang="en-US" sz="2000" dirty="0">
                <a:latin typeface="宋体" panose="02010600030101010101" pitchFamily="2" charset="-122"/>
                <a:ea typeface="宋体" panose="02010600030101010101" pitchFamily="2" charset="-122"/>
              </a:rPr>
              <a:t>指定构建镜像的上下文的路径，构建镜像的过程中，可以且只可以引用上下文中的任何文件。</a:t>
            </a:r>
            <a:endParaRPr lang="en-US" altLang="zh-CN" sz="2000" dirty="0">
              <a:latin typeface="宋体" panose="02010600030101010101" pitchFamily="2" charset="-122"/>
              <a:ea typeface="宋体" panose="02010600030101010101" pitchFamily="2" charset="-122"/>
            </a:endParaRPr>
          </a:p>
          <a:p>
            <a:pPr marL="342900" indent="-342900">
              <a:lnSpc>
                <a:spcPct val="125000"/>
              </a:lnSpc>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构建上下文是由文件路径或一个</a:t>
            </a:r>
            <a:r>
              <a:rPr lang="en-US" altLang="zh-CN" sz="2000" dirty="0">
                <a:latin typeface="宋体" panose="02010600030101010101" pitchFamily="2" charset="-122"/>
                <a:ea typeface="宋体" panose="02010600030101010101" pitchFamily="2" charset="-122"/>
              </a:rPr>
              <a:t>URL(Git</a:t>
            </a:r>
            <a:r>
              <a:rPr lang="zh-CN" altLang="en-US" sz="2000" dirty="0">
                <a:latin typeface="宋体" panose="02010600030101010101" pitchFamily="2" charset="-122"/>
                <a:ea typeface="宋体" panose="02010600030101010101" pitchFamily="2" charset="-122"/>
              </a:rPr>
              <a:t>仓库位置</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定义的一组文件。</a:t>
            </a:r>
            <a:endParaRPr lang="en-US" altLang="zh-CN" sz="2000" dirty="0">
              <a:latin typeface="宋体" panose="02010600030101010101" pitchFamily="2" charset="-122"/>
              <a:ea typeface="宋体" panose="02010600030101010101" pitchFamily="2" charset="-122"/>
            </a:endParaRPr>
          </a:p>
          <a:p>
            <a:pPr>
              <a:lnSpc>
                <a:spcPct val="125000"/>
              </a:lnSpc>
            </a:pPr>
            <a:r>
              <a:rPr lang="zh-CN" altLang="en-US" sz="2000" b="1" dirty="0">
                <a:latin typeface="宋体" panose="02010600030101010101" pitchFamily="2" charset="-122"/>
                <a:ea typeface="宋体" panose="02010600030101010101" pitchFamily="2" charset="-122"/>
              </a:rPr>
              <a:t>举例：</a:t>
            </a:r>
            <a:r>
              <a:rPr lang="en-US" altLang="zh-CN" sz="2000" b="1" dirty="0">
                <a:latin typeface="宋体" panose="02010600030101010101" pitchFamily="2" charset="-122"/>
                <a:ea typeface="宋体" panose="02010600030101010101" pitchFamily="2" charset="-122"/>
              </a:rPr>
              <a:t> [root@host1 </a:t>
            </a:r>
            <a:r>
              <a:rPr lang="en-US" altLang="zh-CN" sz="2000" b="1" dirty="0" err="1">
                <a:latin typeface="宋体" panose="02010600030101010101" pitchFamily="2" charset="-122"/>
                <a:ea typeface="宋体" panose="02010600030101010101" pitchFamily="2" charset="-122"/>
              </a:rPr>
              <a:t>imglayers</a:t>
            </a:r>
            <a:r>
              <a:rPr lang="en-US" altLang="zh-CN" sz="2000" b="1" dirty="0">
                <a:latin typeface="宋体" panose="02010600030101010101" pitchFamily="2" charset="-122"/>
                <a:ea typeface="宋体" panose="02010600030101010101" pitchFamily="2" charset="-122"/>
              </a:rPr>
              <a:t>]# docker build -t second:v1.0 .</a:t>
            </a:r>
            <a:endParaRPr lang="en-US" altLang="zh-CN" sz="2000" b="1" dirty="0">
              <a:latin typeface="宋体" panose="02010600030101010101" pitchFamily="2" charset="-122"/>
              <a:ea typeface="宋体" panose="02010600030101010101" pitchFamily="2" charset="-122"/>
            </a:endParaRPr>
          </a:p>
          <a:p>
            <a:pPr marL="342900" indent="-342900">
              <a:lnSpc>
                <a:spcPct val="125000"/>
              </a:lnSpc>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注意最后有个点，默认使用 “上下文目录（</a:t>
            </a:r>
            <a:r>
              <a:rPr lang="en-US" altLang="zh-CN" sz="2000" dirty="0">
                <a:latin typeface="宋体" panose="02010600030101010101" pitchFamily="2" charset="-122"/>
                <a:ea typeface="宋体" panose="02010600030101010101" pitchFamily="2" charset="-122"/>
              </a:rPr>
              <a:t>Context</a:t>
            </a:r>
            <a:r>
              <a:rPr lang="zh-CN" altLang="en-US" sz="2000" dirty="0">
                <a:latin typeface="宋体" panose="02010600030101010101" pitchFamily="2" charset="-122"/>
                <a:ea typeface="宋体" panose="02010600030101010101" pitchFamily="2" charset="-122"/>
              </a:rPr>
              <a:t>）下的名为</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的文件作为 </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，在此，即用当前路径的 </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进行构建 。</a:t>
            </a:r>
            <a:endParaRPr lang="zh-CN" altLang="en-US" sz="2000" dirty="0">
              <a:latin typeface="宋体" panose="02010600030101010101" pitchFamily="2" charset="-122"/>
              <a:ea typeface="宋体" panose="02010600030101010101" pitchFamily="2" charset="-122"/>
            </a:endParaRPr>
          </a:p>
          <a:p>
            <a:pPr marL="342900" indent="-342900">
              <a:lnSpc>
                <a:spcPct val="125000"/>
              </a:lnSpc>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-t  second : v1.0  </a:t>
            </a:r>
            <a:r>
              <a:rPr lang="zh-CN" altLang="en-US" sz="2000" dirty="0">
                <a:latin typeface="宋体" panose="02010600030101010101" pitchFamily="2" charset="-122"/>
                <a:ea typeface="宋体" panose="02010600030101010101" pitchFamily="2" charset="-122"/>
              </a:rPr>
              <a:t>给新构建的镜像取名为 </a:t>
            </a:r>
            <a:r>
              <a:rPr lang="en-US" altLang="zh-CN" sz="2000" dirty="0">
                <a:latin typeface="宋体" panose="02010600030101010101" pitchFamily="2" charset="-122"/>
                <a:ea typeface="宋体" panose="02010600030101010101" pitchFamily="2" charset="-122"/>
              </a:rPr>
              <a:t>second</a:t>
            </a:r>
            <a:r>
              <a:rPr lang="zh-CN" altLang="en-US" sz="2000" dirty="0">
                <a:latin typeface="宋体" panose="02010600030101010101" pitchFamily="2" charset="-122"/>
                <a:ea typeface="宋体" panose="02010600030101010101" pitchFamily="2" charset="-122"/>
              </a:rPr>
              <a:t>， 并设定版本为 </a:t>
            </a:r>
            <a:r>
              <a:rPr lang="en-US" altLang="zh-CN" sz="2000" dirty="0">
                <a:latin typeface="宋体" panose="02010600030101010101" pitchFamily="2" charset="-122"/>
                <a:ea typeface="宋体" panose="02010600030101010101" pitchFamily="2" charset="-122"/>
              </a:rPr>
              <a:t>v1.0 </a:t>
            </a:r>
            <a:r>
              <a:rPr lang="zh-CN" altLang="en-US"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en-US" altLang="zh-CN" sz="3200" dirty="0" err="1">
                <a:latin typeface="宋体" panose="02010600030101010101" pitchFamily="2" charset="-122"/>
                <a:ea typeface="宋体" panose="02010600030101010101" pitchFamily="2" charset="-122"/>
              </a:rPr>
              <a:t>Dockerfile</a:t>
            </a:r>
            <a:r>
              <a:rPr lang="zh-CN" altLang="en-US" sz="3200" dirty="0">
                <a:latin typeface="宋体" panose="02010600030101010101" pitchFamily="2" charset="-122"/>
                <a:ea typeface="宋体" panose="02010600030101010101" pitchFamily="2" charset="-122"/>
              </a:rPr>
              <a:t>操作指令</a:t>
            </a:r>
            <a:endParaRPr lang="zh-CN" altLang="en-US" sz="3200" b="1" dirty="0">
              <a:latin typeface="宋体" panose="02010600030101010101" pitchFamily="2" charset="-122"/>
              <a:ea typeface="宋体" panose="02010600030101010101" pitchFamily="2" charset="-122"/>
            </a:endParaRPr>
          </a:p>
        </p:txBody>
      </p:sp>
      <p:sp>
        <p:nvSpPr>
          <p:cNvPr id="10"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graphicFrame>
        <p:nvGraphicFramePr>
          <p:cNvPr id="8" name="表格 7"/>
          <p:cNvGraphicFramePr/>
          <p:nvPr/>
        </p:nvGraphicFramePr>
        <p:xfrm>
          <a:off x="1281306" y="1469573"/>
          <a:ext cx="9339580" cy="5457614"/>
        </p:xfrm>
        <a:graphic>
          <a:graphicData uri="http://schemas.openxmlformats.org/drawingml/2006/table">
            <a:tbl>
              <a:tblPr firstRow="1" bandRow="1">
                <a:tableStyleId>{7DF18680-E054-41AD-8BC1-D1AEF772440D}</a:tableStyleId>
              </a:tblPr>
              <a:tblGrid>
                <a:gridCol w="3706707"/>
                <a:gridCol w="5632873"/>
              </a:tblGrid>
              <a:tr h="398780">
                <a:tc>
                  <a:txBody>
                    <a:bodyPr/>
                    <a:lstStyle/>
                    <a:p>
                      <a:pPr indent="0" algn="ctr">
                        <a:buNone/>
                      </a:pPr>
                      <a:r>
                        <a:rPr lang="en-US" sz="1600" dirty="0" err="1">
                          <a:latin typeface="微软雅黑" panose="020B0503020204020204" pitchFamily="34" charset="-122"/>
                          <a:ea typeface="微软雅黑" panose="020B0503020204020204" pitchFamily="34" charset="-122"/>
                        </a:rPr>
                        <a:t>指令</a:t>
                      </a:r>
                      <a:endParaRPr lang="en-US" altLang="en-US" sz="1600" dirty="0">
                        <a:latin typeface="微软雅黑" panose="020B0503020204020204" pitchFamily="34" charset="-122"/>
                        <a:ea typeface="微软雅黑" panose="020B0503020204020204" pitchFamily="34" charset="-122"/>
                      </a:endParaRPr>
                    </a:p>
                  </a:txBody>
                  <a:tcPr marT="0" marB="0" anchor="ctr"/>
                </a:tc>
                <a:tc>
                  <a:txBody>
                    <a:bodyPr/>
                    <a:lstStyle/>
                    <a:p>
                      <a:pPr indent="0" algn="ctr">
                        <a:buNone/>
                      </a:pPr>
                      <a:r>
                        <a:rPr lang="en-US" sz="1600">
                          <a:latin typeface="微软雅黑" panose="020B0503020204020204" pitchFamily="34" charset="-122"/>
                          <a:ea typeface="微软雅黑" panose="020B0503020204020204" pitchFamily="34" charset="-122"/>
                        </a:rPr>
                        <a:t>含义</a:t>
                      </a:r>
                      <a:endParaRPr lang="en-US" altLang="en-US" sz="1600">
                        <a:latin typeface="微软雅黑" panose="020B0503020204020204" pitchFamily="34" charset="-122"/>
                        <a:ea typeface="微软雅黑" panose="020B0503020204020204" pitchFamily="34" charset="-122"/>
                      </a:endParaRPr>
                    </a:p>
                  </a:txBody>
                  <a:tcPr marT="0" marB="0" anchor="ctr"/>
                </a:tc>
              </a:tr>
              <a:tr h="595207">
                <a:tc>
                  <a:txBody>
                    <a:bodyPr/>
                    <a:lstStyle/>
                    <a:p>
                      <a:pPr indent="0" algn="l">
                        <a:buNone/>
                      </a:pPr>
                      <a:r>
                        <a:rPr lang="en-US" sz="1600" dirty="0">
                          <a:latin typeface="微软雅黑" panose="020B0503020204020204" pitchFamily="34" charset="-122"/>
                          <a:ea typeface="微软雅黑" panose="020B0503020204020204" pitchFamily="34" charset="-122"/>
                          <a:cs typeface="微软雅黑" panose="020B0503020204020204" pitchFamily="34" charset="-122"/>
                        </a:rPr>
                        <a:t>FROM </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镜像</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指定新镜像所基于的镜像，第一条指令必须为FROM指令，每创建一个镜像就需要一条FROM指令</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MAINTAINER 名字</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rPr>
                        <a:t>说明新镜像的维护人信息</a:t>
                      </a:r>
                      <a:endParaRPr lang="en-US" altLang="en-US" sz="1600">
                        <a:latin typeface="微软雅黑" panose="020B0503020204020204" pitchFamily="34" charset="-122"/>
                        <a:ea typeface="微软雅黑" panose="020B0503020204020204" pitchFamily="34" charset="-122"/>
                      </a:endParaRPr>
                    </a:p>
                  </a:txBody>
                  <a:tcPr marT="0" marB="0" anchor="ctr"/>
                </a:tc>
              </a:tr>
              <a:tr h="298873">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RUN命令</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rPr>
                        <a:t>在所基于的镜像上执行命令，并提交到新的镜像中</a:t>
                      </a:r>
                      <a:endParaRPr lang="en-US" altLang="en-US" sz="1600" dirty="0">
                        <a:latin typeface="微软雅黑" panose="020B0503020204020204" pitchFamily="34" charset="-122"/>
                        <a:ea typeface="微软雅黑" panose="020B0503020204020204" pitchFamily="34" charset="-122"/>
                      </a:endParaRPr>
                    </a:p>
                  </a:txBody>
                  <a:tcPr marT="0" marB="0" anchor="ctr"/>
                </a:tc>
              </a:tr>
              <a:tr h="59436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CMD[“要运行的程序“，”参数1，“参数2“]</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指令启动容器时要运行的命令或者脚本，Dockerfile只能有一条CMD命令，如果指定多条则只能最后一条被执行</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dirty="0">
                          <a:latin typeface="微软雅黑" panose="020B0503020204020204" pitchFamily="34" charset="-122"/>
                          <a:ea typeface="微软雅黑" panose="020B0503020204020204" pitchFamily="34" charset="-122"/>
                          <a:cs typeface="微软雅黑" panose="020B0503020204020204" pitchFamily="34" charset="-122"/>
                        </a:rPr>
                        <a:t>EXPOSE </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端口号</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指定新镜像加载到Docker时要开启的端口</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8027">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ENV 环境变量 变量值</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设置一个环境变量的值，会被后面的RUN使用</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595207">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ADD 源文件/目录 目标文件/目录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将源文件复制到目标文件，源文件要与Dockerfile位于相同目录中，或者是一个URL</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595207">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COPY 源文件/目录 目标文件/目录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将本地主机上的文件/目录复制到目标地点，源文件/目录要与Dockerfile在相同的目录中</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VOLUME [“目录“]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rPr>
                        <a:t>在容器中创建一个挂载点</a:t>
                      </a:r>
                      <a:endParaRPr lang="en-US" altLang="en-US" sz="1600">
                        <a:latin typeface="微软雅黑" panose="020B0503020204020204" pitchFamily="34" charset="-122"/>
                        <a:ea typeface="微软雅黑" panose="020B0503020204020204" pitchFamily="34" charset="-122"/>
                      </a:endParaRPr>
                    </a:p>
                  </a:txBody>
                  <a:tcPr marT="0" marB="0" anchor="ctr"/>
                </a:tc>
              </a:tr>
              <a:tr h="29718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USER 用户名/UID</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rPr>
                        <a:t>指定运行容器时的用户</a:t>
                      </a:r>
                      <a:endParaRPr lang="en-US" altLang="en-US" sz="1600">
                        <a:latin typeface="微软雅黑" panose="020B0503020204020204" pitchFamily="34" charset="-122"/>
                        <a:ea typeface="微软雅黑" panose="020B0503020204020204" pitchFamily="34" charset="-122"/>
                      </a:endParaRPr>
                    </a:p>
                  </a:txBody>
                  <a:tcPr marT="0" marB="0" anchor="ctr"/>
                </a:tc>
              </a:tr>
              <a:tr h="298873">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WORKDIR 路径</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为后续的RUN、CMD、ENTRYPOINT指定工作目录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ONBUILD 命令</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rPr>
                        <a:t>指定所生成的镜像作为一个基础镜像时所要运行的命令</a:t>
                      </a:r>
                      <a:endParaRPr lang="en-US" altLang="en-US" sz="1600">
                        <a:latin typeface="微软雅黑" panose="020B0503020204020204" pitchFamily="34" charset="-122"/>
                        <a:ea typeface="微软雅黑" panose="020B0503020204020204" pitchFamily="34" charset="-122"/>
                      </a:endParaRPr>
                    </a:p>
                  </a:txBody>
                  <a:tcPr marT="0" marB="0" anchor="ctr"/>
                </a:tc>
              </a:tr>
              <a:tr h="297180">
                <a:tc>
                  <a:txBody>
                    <a:bodyPr/>
                    <a:lstStyle/>
                    <a:p>
                      <a:pPr indent="0" algn="l">
                        <a:buNone/>
                      </a:pPr>
                      <a:r>
                        <a:rPr lang="en-US" sz="1600" dirty="0">
                          <a:latin typeface="微软雅黑" panose="020B0503020204020204" pitchFamily="34" charset="-122"/>
                          <a:ea typeface="微软雅黑" panose="020B0503020204020204" pitchFamily="34" charset="-122"/>
                        </a:rPr>
                        <a:t>HEALTHCHECK</a:t>
                      </a:r>
                      <a:endParaRPr lang="en-US" altLang="en-US" sz="1600" dirty="0">
                        <a:latin typeface="微软雅黑" panose="020B0503020204020204" pitchFamily="34" charset="-122"/>
                        <a:ea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rPr>
                        <a:t>健康检查</a:t>
                      </a:r>
                      <a:endParaRPr lang="en-US" altLang="en-US" sz="1600" dirty="0">
                        <a:latin typeface="微软雅黑" panose="020B0503020204020204" pitchFamily="34" charset="-122"/>
                        <a:ea typeface="微软雅黑" panose="020B0503020204020204" pitchFamily="34" charset="-122"/>
                      </a:endParaRPr>
                    </a:p>
                  </a:txBody>
                  <a:tcPr marT="0" marB="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0" y="1556207"/>
            <a:ext cx="12349316" cy="3260508"/>
          </a:xfrm>
          <a:prstGeom prst="rect">
            <a:avLst/>
          </a:prstGeom>
          <a:noFill/>
        </p:spPr>
        <p:txBody>
          <a:bodyPr wrap="square" rtlCol="0">
            <a:spAutoFit/>
          </a:bodyPr>
          <a:lstStyle/>
          <a:p>
            <a:pPr algn="just" fontAlgn="ctr">
              <a:lnSpc>
                <a:spcPct val="125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lvl="1" algn="just" fontAlgn="ctr">
              <a:lnSpc>
                <a:spcPct val="125000"/>
              </a:lnSpc>
            </a:pP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FROM</a:t>
            </a:r>
            <a:r>
              <a:rPr lang="zh-CN" altLang="zh-CN" sz="2400" b="1" dirty="0">
                <a:latin typeface="宋体" panose="02010600030101010101" pitchFamily="2" charset="-122"/>
                <a:ea typeface="宋体" panose="02010600030101010101" pitchFamily="2" charset="-122"/>
              </a:rPr>
              <a:t>指令</a:t>
            </a:r>
            <a:endParaRPr lang="en-US" altLang="zh-CN" sz="2400" b="1" dirty="0">
              <a:latin typeface="宋体" panose="02010600030101010101" pitchFamily="2" charset="-122"/>
              <a:ea typeface="宋体" panose="02010600030101010101" pitchFamily="2" charset="-122"/>
            </a:endParaRPr>
          </a:p>
          <a:p>
            <a:pPr lvl="1">
              <a:lnSpc>
                <a:spcPct val="125000"/>
              </a:lnSpc>
            </a:pPr>
            <a:r>
              <a:rPr lang="en-US" altLang="zh-CN" sz="2400" dirty="0">
                <a:latin typeface="宋体" panose="02010600030101010101" pitchFamily="2" charset="-122"/>
                <a:ea typeface="宋体" panose="02010600030101010101" pitchFamily="2" charset="-122"/>
              </a:rPr>
              <a:t>FROM</a:t>
            </a:r>
            <a:r>
              <a:rPr lang="zh-CN" altLang="zh-CN" sz="2400" dirty="0">
                <a:latin typeface="宋体" panose="02010600030101010101" pitchFamily="2" charset="-122"/>
                <a:ea typeface="宋体" panose="02010600030101010101" pitchFamily="2" charset="-122"/>
              </a:rPr>
              <a:t>是</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内置命令中唯一一个必填项，共有以下</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种用法。</a:t>
            </a:r>
            <a:endParaRPr lang="zh-CN" altLang="zh-CN" sz="2400" dirty="0">
              <a:latin typeface="宋体" panose="02010600030101010101" pitchFamily="2" charset="-122"/>
              <a:ea typeface="宋体" panose="02010600030101010101" pitchFamily="2" charset="-122"/>
            </a:endParaRPr>
          </a:p>
          <a:p>
            <a:pPr lvl="1">
              <a:lnSpc>
                <a:spcPct val="125000"/>
              </a:lnSpc>
            </a:pPr>
            <a:r>
              <a:rPr lang="en-US" altLang="zh-CN" sz="2400" dirty="0">
                <a:latin typeface="宋体" panose="02010600030101010101" pitchFamily="2" charset="-122"/>
                <a:ea typeface="宋体" panose="02010600030101010101" pitchFamily="2" charset="-122"/>
              </a:rPr>
              <a:t>FROM &lt;image&gt;</a:t>
            </a:r>
            <a:endParaRPr lang="zh-CN" altLang="zh-CN" sz="2400" dirty="0">
              <a:latin typeface="宋体" panose="02010600030101010101" pitchFamily="2" charset="-122"/>
              <a:ea typeface="宋体" panose="02010600030101010101" pitchFamily="2" charset="-122"/>
            </a:endParaRPr>
          </a:p>
          <a:p>
            <a:pPr lvl="1">
              <a:lnSpc>
                <a:spcPct val="125000"/>
              </a:lnSpc>
            </a:pPr>
            <a:r>
              <a:rPr lang="en-US" altLang="zh-CN" sz="2400" dirty="0">
                <a:latin typeface="宋体" panose="02010600030101010101" pitchFamily="2" charset="-122"/>
                <a:ea typeface="宋体" panose="02010600030101010101" pitchFamily="2" charset="-122"/>
              </a:rPr>
              <a:t>FROM &lt;image&gt;:&lt;tag&gt;</a:t>
            </a:r>
            <a:endParaRPr lang="zh-CN" altLang="zh-CN" sz="2400" dirty="0">
              <a:latin typeface="宋体" panose="02010600030101010101" pitchFamily="2" charset="-122"/>
              <a:ea typeface="宋体" panose="02010600030101010101" pitchFamily="2" charset="-122"/>
            </a:endParaRPr>
          </a:p>
          <a:p>
            <a:pPr lvl="1">
              <a:lnSpc>
                <a:spcPct val="125000"/>
              </a:lnSpc>
            </a:pPr>
            <a:r>
              <a:rPr lang="en-US" altLang="zh-CN" sz="2400" dirty="0">
                <a:latin typeface="宋体" panose="02010600030101010101" pitchFamily="2" charset="-122"/>
                <a:ea typeface="宋体" panose="02010600030101010101" pitchFamily="2" charset="-122"/>
              </a:rPr>
              <a:t>FROM &lt;image&gt;:&lt;digest&gt;</a:t>
            </a:r>
            <a:endParaRPr lang="en-US" altLang="zh-CN" sz="2400" dirty="0">
              <a:latin typeface="宋体" panose="02010600030101010101" pitchFamily="2" charset="-122"/>
              <a:ea typeface="宋体" panose="02010600030101010101" pitchFamily="2" charset="-122"/>
            </a:endParaRPr>
          </a:p>
          <a:p>
            <a:pPr lvl="1">
              <a:lnSpc>
                <a:spcPct val="125000"/>
              </a:lnSpc>
            </a:pPr>
            <a:endParaRPr lang="en-US" altLang="zh-CN" sz="2400" b="1"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0" y="1631669"/>
            <a:ext cx="12349316" cy="4645502"/>
          </a:xfrm>
          <a:prstGeom prst="rect">
            <a:avLst/>
          </a:prstGeom>
          <a:noFill/>
        </p:spPr>
        <p:txBody>
          <a:bodyPr wrap="square" rtlCol="0">
            <a:spAutoFit/>
          </a:bodyPr>
          <a:lstStyle/>
          <a:p>
            <a:pPr algn="just" fontAlgn="ctr">
              <a:lnSpc>
                <a:spcPct val="125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lvl="1" algn="just" fontAlgn="ctr">
              <a:lnSpc>
                <a:spcPct val="125000"/>
              </a:lnSpc>
            </a:pP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FROM</a:t>
            </a:r>
            <a:r>
              <a:rPr lang="zh-CN" altLang="zh-CN" sz="2400" b="1" dirty="0">
                <a:latin typeface="宋体" panose="02010600030101010101" pitchFamily="2" charset="-122"/>
                <a:ea typeface="宋体" panose="02010600030101010101" pitchFamily="2" charset="-122"/>
              </a:rPr>
              <a:t>指令</a:t>
            </a:r>
            <a:endParaRPr lang="en-US" altLang="zh-CN" sz="2400" b="1" dirty="0">
              <a:latin typeface="宋体" panose="02010600030101010101" pitchFamily="2" charset="-122"/>
              <a:ea typeface="宋体" panose="02010600030101010101" pitchFamily="2" charset="-122"/>
            </a:endParaRPr>
          </a:p>
          <a:p>
            <a:pPr marL="342900" lvl="0" indent="-342900">
              <a:lnSpc>
                <a:spcPct val="125000"/>
              </a:lnSpc>
              <a:buFont typeface="Wingdings" panose="05000000000000000000" pitchFamily="2" charset="2"/>
              <a:buChar char="p"/>
              <a:defRPr/>
            </a:pPr>
            <a:r>
              <a:rPr lang="en-US" altLang="zh-CN" sz="2400" dirty="0">
                <a:latin typeface="宋体" panose="02010600030101010101" pitchFamily="2" charset="-122"/>
                <a:ea typeface="宋体" panose="02010600030101010101" pitchFamily="2" charset="-122"/>
              </a:rPr>
              <a:t>FROM</a:t>
            </a:r>
            <a:r>
              <a:rPr lang="zh-CN" altLang="zh-CN" sz="2400" dirty="0">
                <a:latin typeface="宋体" panose="02010600030101010101" pitchFamily="2" charset="-122"/>
                <a:ea typeface="宋体" panose="02010600030101010101" pitchFamily="2" charset="-122"/>
              </a:rPr>
              <a:t>指令</a:t>
            </a:r>
            <a:r>
              <a:rPr lang="zh-CN" altLang="en-US" sz="2400" dirty="0">
                <a:latin typeface="宋体" panose="02010600030101010101" pitchFamily="2" charset="-122"/>
                <a:ea typeface="宋体" panose="02010600030101010101" pitchFamily="2" charset="-122"/>
              </a:rPr>
              <a:t>的作用是指定基础镜像，并且必须是</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中的第一条非注释指令。</a:t>
            </a:r>
            <a:endParaRPr lang="en-US" altLang="zh-CN" sz="2400" dirty="0">
              <a:latin typeface="宋体" panose="02010600030101010101" pitchFamily="2" charset="-122"/>
              <a:ea typeface="宋体" panose="02010600030101010101" pitchFamily="2" charset="-122"/>
            </a:endParaRPr>
          </a:p>
          <a:p>
            <a:pPr marL="342900" lvl="0" indent="-342900">
              <a:lnSpc>
                <a:spcPct val="125000"/>
              </a:lnSpc>
              <a:buFont typeface="Wingdings" panose="05000000000000000000" pitchFamily="2" charset="2"/>
              <a:buChar char="p"/>
              <a:defRPr/>
            </a:pPr>
            <a:r>
              <a:rPr lang="en-US" altLang="zh-CN" sz="2400" dirty="0">
                <a:latin typeface="宋体" panose="02010600030101010101" pitchFamily="2" charset="-122"/>
                <a:ea typeface="宋体" panose="02010600030101010101" pitchFamily="2" charset="-122"/>
              </a:rPr>
              <a:t>FROM</a:t>
            </a:r>
            <a:r>
              <a:rPr lang="zh-CN" altLang="en-US" sz="2400" dirty="0">
                <a:latin typeface="宋体" panose="02010600030101010101" pitchFamily="2" charset="-122"/>
                <a:ea typeface="宋体" panose="02010600030101010101" pitchFamily="2" charset="-122"/>
              </a:rPr>
              <a:t>指定的基础镜像可以是本地已存在的镜像，也可以是远程仓库中的镜像。</a:t>
            </a:r>
            <a:endParaRPr lang="en-US" altLang="zh-CN" sz="2400" dirty="0">
              <a:latin typeface="宋体" panose="02010600030101010101" pitchFamily="2" charset="-122"/>
              <a:ea typeface="宋体" panose="02010600030101010101" pitchFamily="2" charset="-122"/>
            </a:endParaRPr>
          </a:p>
          <a:p>
            <a:pPr marL="342900" lvl="0" indent="-342900">
              <a:lnSpc>
                <a:spcPct val="125000"/>
              </a:lnSpc>
              <a:buFont typeface="Wingdings" panose="05000000000000000000" pitchFamily="2" charset="2"/>
              <a:buChar char="p"/>
              <a:defRPr/>
            </a:pPr>
            <a:r>
              <a:rPr lang="zh-CN" altLang="en-US" sz="2400" dirty="0">
                <a:latin typeface="宋体" panose="02010600030101010101" pitchFamily="2" charset="-122"/>
                <a:ea typeface="宋体" panose="02010600030101010101" pitchFamily="2" charset="-122"/>
              </a:rPr>
              <a:t>也就是当</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指令执行时，如果本地没有其指定的基础镜像，则会从远程仓库中下载此镜像。</a:t>
            </a:r>
            <a:endParaRPr lang="en-US" altLang="zh-CN" sz="2400" dirty="0">
              <a:latin typeface="宋体" panose="02010600030101010101" pitchFamily="2" charset="-122"/>
              <a:ea typeface="宋体" panose="02010600030101010101" pitchFamily="2" charset="-122"/>
            </a:endParaRPr>
          </a:p>
          <a:p>
            <a:pPr marL="342900" lvl="0" indent="-342900">
              <a:lnSpc>
                <a:spcPct val="125000"/>
              </a:lnSpc>
              <a:buFont typeface="Wingdings" panose="05000000000000000000" pitchFamily="2" charset="2"/>
              <a:buChar char="p"/>
              <a:defRPr/>
            </a:pPr>
            <a:r>
              <a:rPr lang="zh-CN" altLang="en-US" sz="2400" dirty="0">
                <a:latin typeface="宋体" panose="02010600030101010101" pitchFamily="2" charset="-122"/>
                <a:ea typeface="宋体" panose="02010600030101010101" pitchFamily="2" charset="-122"/>
              </a:rPr>
              <a:t>当需要在一个</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中构建多个镜像时，允许多次出现</a:t>
            </a:r>
            <a:r>
              <a:rPr lang="en-US" altLang="zh-CN" sz="2400" dirty="0">
                <a:latin typeface="宋体" panose="02010600030101010101" pitchFamily="2" charset="-122"/>
                <a:ea typeface="宋体" panose="02010600030101010101" pitchFamily="2" charset="-122"/>
              </a:rPr>
              <a:t>FROM</a:t>
            </a:r>
            <a:r>
              <a:rPr lang="zh-CN" altLang="en-US" sz="2400" dirty="0">
                <a:latin typeface="宋体" panose="02010600030101010101" pitchFamily="2" charset="-122"/>
                <a:ea typeface="宋体" panose="02010600030101010101" pitchFamily="2" charset="-122"/>
              </a:rPr>
              <a:t>。当</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执行完毕之后，会同时生成多个镜像，但只会输出最后一个镜像的</a:t>
            </a:r>
            <a:r>
              <a:rPr lang="en-US" altLang="zh-CN" sz="2400" dirty="0">
                <a:latin typeface="宋体" panose="02010600030101010101" pitchFamily="2" charset="-122"/>
                <a:ea typeface="宋体" panose="02010600030101010101" pitchFamily="2" charset="-122"/>
              </a:rPr>
              <a:t>ID</a:t>
            </a:r>
            <a:r>
              <a:rPr lang="zh-CN" altLang="en-US" sz="2400" dirty="0">
                <a:latin typeface="宋体" panose="02010600030101010101" pitchFamily="2" charset="-122"/>
                <a:ea typeface="宋体" panose="02010600030101010101" pitchFamily="2" charset="-122"/>
              </a:rPr>
              <a:t>值，中间的镜像会被标记位</a:t>
            </a:r>
            <a:r>
              <a:rPr lang="en-US" altLang="zh-CN" sz="2400" dirty="0">
                <a:latin typeface="宋体" panose="02010600030101010101" pitchFamily="2" charset="-122"/>
                <a:ea typeface="宋体" panose="02010600030101010101" pitchFamily="2" charset="-122"/>
              </a:rPr>
              <a:t>&lt;none&gt;:&lt;none&gt;</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lvl="1">
              <a:lnSpc>
                <a:spcPct val="125000"/>
              </a:lnSpc>
            </a:pPr>
            <a:endParaRPr lang="en-US" altLang="zh-CN" sz="2400" b="1"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775760"/>
          </a:xfrm>
          <a:prstGeom prst="rect">
            <a:avLst/>
          </a:prstGeom>
          <a:noFill/>
        </p:spPr>
        <p:txBody>
          <a:bodyPr wrap="square" rtlCol="0">
            <a:spAutoFit/>
          </a:bodyPr>
          <a:lstStyle/>
          <a:p>
            <a:pPr>
              <a:lnSpc>
                <a:spcPct val="150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a:lnSpc>
                <a:spcPct val="150000"/>
              </a:lnSpc>
            </a:pP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MAINTAINER</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MAINTAINER</a:t>
            </a:r>
            <a:r>
              <a:rPr lang="zh-CN" altLang="zh-CN" sz="2400" dirty="0">
                <a:latin typeface="宋体" panose="02010600030101010101" pitchFamily="2" charset="-122"/>
                <a:ea typeface="宋体" panose="02010600030101010101" pitchFamily="2" charset="-122"/>
              </a:rPr>
              <a:t>指令可以放置在</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命令的任意位置。该指令用于声明镜像作者，建议放在</a:t>
            </a:r>
            <a:r>
              <a:rPr lang="en-US" altLang="zh-CN" sz="2400" dirty="0">
                <a:latin typeface="宋体" panose="02010600030101010101" pitchFamily="2" charset="-122"/>
                <a:ea typeface="宋体" panose="02010600030101010101" pitchFamily="2" charset="-122"/>
              </a:rPr>
              <a:t>FROM</a:t>
            </a:r>
            <a:r>
              <a:rPr lang="zh-CN" altLang="zh-CN" sz="2400" dirty="0">
                <a:latin typeface="宋体" panose="02010600030101010101" pitchFamily="2" charset="-122"/>
                <a:ea typeface="宋体" panose="02010600030101010101" pitchFamily="2" charset="-122"/>
              </a:rPr>
              <a:t>指令之后。</a:t>
            </a:r>
            <a:r>
              <a:rPr lang="en-US" altLang="zh-CN" sz="2400" dirty="0">
                <a:latin typeface="宋体" panose="02010600030101010101" pitchFamily="2" charset="-122"/>
                <a:ea typeface="宋体" panose="02010600030101010101" pitchFamily="2" charset="-122"/>
              </a:rPr>
              <a:t>MAINTAINER</a:t>
            </a:r>
            <a:r>
              <a:rPr lang="zh-CN" altLang="zh-CN" sz="2400" dirty="0">
                <a:latin typeface="宋体" panose="02010600030101010101" pitchFamily="2" charset="-122"/>
                <a:ea typeface="宋体" panose="02010600030101010101" pitchFamily="2" charset="-122"/>
              </a:rPr>
              <a:t>指令的格式如下。</a:t>
            </a: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MAINTAINER &lt;name&gt;</a:t>
            </a:r>
            <a:endParaRPr lang="zh-CN"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9" name="TextBox 2"/>
          <p:cNvSpPr txBox="1"/>
          <p:nvPr/>
        </p:nvSpPr>
        <p:spPr>
          <a:xfrm>
            <a:off x="496277" y="1637949"/>
            <a:ext cx="11695723" cy="5591915"/>
          </a:xfrm>
          <a:prstGeom prst="rect">
            <a:avLst/>
          </a:prstGeom>
          <a:noFill/>
        </p:spPr>
        <p:txBody>
          <a:bodyPr wrap="square" rtlCol="0">
            <a:spAutoFit/>
          </a:bodyPr>
          <a:lstStyle/>
          <a:p>
            <a:pPr>
              <a:lnSpc>
                <a:spcPct val="150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a:lnSpc>
                <a:spcPct val="150000"/>
              </a:lnSpc>
            </a:pPr>
            <a:r>
              <a:rPr lang="en-US" altLang="zh-CN" sz="2400" b="1" dirty="0">
                <a:latin typeface="宋体" panose="02010600030101010101" pitchFamily="2" charset="-122"/>
                <a:ea typeface="宋体" panose="02010600030101010101" pitchFamily="2" charset="-122"/>
              </a:rPr>
              <a:t>3</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RUN</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RUN</a:t>
            </a:r>
            <a:r>
              <a:rPr lang="zh-CN" altLang="zh-CN" sz="2400" dirty="0">
                <a:latin typeface="宋体" panose="02010600030101010101" pitchFamily="2" charset="-122"/>
                <a:ea typeface="宋体" panose="02010600030101010101" pitchFamily="2" charset="-122"/>
              </a:rPr>
              <a:t>指令是</a:t>
            </a:r>
            <a:r>
              <a:rPr lang="en-US" altLang="zh-CN" sz="2400" dirty="0" err="1">
                <a:latin typeface="宋体" panose="02010600030101010101" pitchFamily="2" charset="-122"/>
                <a:ea typeface="宋体" panose="02010600030101010101" pitchFamily="2" charset="-122"/>
              </a:rPr>
              <a:t>Dockerfile</a:t>
            </a:r>
            <a:r>
              <a:rPr lang="zh-CN" altLang="zh-CN" sz="2400" dirty="0">
                <a:latin typeface="宋体" panose="02010600030101010101" pitchFamily="2" charset="-122"/>
                <a:ea typeface="宋体" panose="02010600030101010101" pitchFamily="2" charset="-122"/>
              </a:rPr>
              <a:t>执行命令的核心部分，是用于在镜像中执行命令的指令，它接收命令作为参数并用于创建镜像。</a:t>
            </a:r>
            <a:r>
              <a:rPr lang="en-US" altLang="zh-CN" sz="2400" dirty="0">
                <a:latin typeface="宋体" panose="02010600030101010101" pitchFamily="2" charset="-122"/>
                <a:ea typeface="宋体" panose="02010600030101010101" pitchFamily="2" charset="-122"/>
              </a:rPr>
              <a:t>RUN</a:t>
            </a:r>
            <a:r>
              <a:rPr lang="zh-CN" altLang="zh-CN" sz="2400" dirty="0">
                <a:latin typeface="宋体" panose="02010600030101010101" pitchFamily="2" charset="-122"/>
                <a:ea typeface="宋体" panose="02010600030101010101" pitchFamily="2" charset="-122"/>
              </a:rPr>
              <a:t>指令有以下两种格式。</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RUN &lt;command&gt;</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RUN ["executable", "param1", "param2"]</a:t>
            </a:r>
            <a:endParaRPr lang="zh-CN" altLang="zh-CN" sz="1200" dirty="0">
              <a:latin typeface="宋体" panose="02010600030101010101" pitchFamily="2" charset="-122"/>
              <a:ea typeface="宋体" panose="02010600030101010101" pitchFamily="2" charset="-122"/>
            </a:endParaRPr>
          </a:p>
          <a:p>
            <a:pPr lvl="1">
              <a:lnSpc>
                <a:spcPct val="150000"/>
              </a:lnSpc>
            </a:pPr>
            <a:endParaRPr lang="en-US" altLang="zh-CN" sz="2000" dirty="0">
              <a:solidFill>
                <a:srgbClr val="880000"/>
              </a:solidFill>
              <a:latin typeface="宋体" panose="02010600030101010101" pitchFamily="2" charset="-122"/>
              <a:ea typeface="宋体" panose="02010600030101010101" pitchFamily="2" charset="-122"/>
            </a:endParaRPr>
          </a:p>
          <a:p>
            <a:pPr lvl="1">
              <a:lnSpc>
                <a:spcPct val="150000"/>
              </a:lnSpc>
            </a:pPr>
            <a:endParaRPr lang="zh-CN" altLang="zh-CN" sz="5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7438575"/>
          </a:xfrm>
          <a:prstGeom prst="rect">
            <a:avLst/>
          </a:prstGeom>
          <a:noFill/>
        </p:spPr>
        <p:txBody>
          <a:bodyPr wrap="square" rtlCol="0">
            <a:spAutoFit/>
          </a:bodyPr>
          <a:lstStyle/>
          <a:p>
            <a:pPr>
              <a:lnSpc>
                <a:spcPct val="150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a:lnSpc>
                <a:spcPct val="150000"/>
              </a:lnSpc>
            </a:pPr>
            <a:r>
              <a:rPr lang="en-US" altLang="zh-CN" sz="2400" b="1" dirty="0">
                <a:latin typeface="宋体" panose="02010600030101010101" pitchFamily="2" charset="-122"/>
                <a:ea typeface="宋体" panose="02010600030101010101" pitchFamily="2" charset="-122"/>
              </a:rPr>
              <a:t>3</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RUN</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lvl="1">
              <a:lnSpc>
                <a:spcPct val="150000"/>
              </a:lnSpc>
            </a:pPr>
            <a:r>
              <a:rPr lang="zh-CN" altLang="en-US" sz="2400" dirty="0">
                <a:solidFill>
                  <a:srgbClr val="880000"/>
                </a:solidFill>
                <a:latin typeface="宋体" panose="02010600030101010101" pitchFamily="2" charset="-122"/>
                <a:ea typeface="宋体" panose="02010600030101010101" pitchFamily="2" charset="-122"/>
              </a:rPr>
              <a:t>例如：</a:t>
            </a:r>
            <a:r>
              <a:rPr lang="zh-CN" altLang="zh-CN" sz="2400" dirty="0">
                <a:solidFill>
                  <a:srgbClr val="880000"/>
                </a:solidFill>
                <a:latin typeface="宋体" panose="02010600030101010101" pitchFamily="2" charset="-122"/>
                <a:ea typeface="宋体" panose="02010600030101010101" pitchFamily="2" charset="-122"/>
              </a:rPr>
              <a:t># RUN [</a:t>
            </a:r>
            <a:r>
              <a:rPr lang="zh-CN" altLang="en-US" sz="2400" dirty="0">
                <a:solidFill>
                  <a:srgbClr val="880000"/>
                </a:solidFill>
                <a:latin typeface="宋体" panose="02010600030101010101" pitchFamily="2" charset="-122"/>
                <a:ea typeface="宋体" panose="02010600030101010101" pitchFamily="2" charset="-122"/>
              </a:rPr>
              <a:t>“</a:t>
            </a:r>
            <a:r>
              <a:rPr lang="en-US" altLang="zh-CN" sz="2400" dirty="0">
                <a:solidFill>
                  <a:srgbClr val="880000"/>
                </a:solidFill>
                <a:latin typeface="宋体" panose="02010600030101010101" pitchFamily="2" charset="-122"/>
                <a:ea typeface="宋体" panose="02010600030101010101" pitchFamily="2" charset="-122"/>
              </a:rPr>
              <a:t>/bin/</a:t>
            </a:r>
            <a:r>
              <a:rPr lang="en-US" altLang="zh-CN" sz="2400" dirty="0" err="1">
                <a:solidFill>
                  <a:srgbClr val="880000"/>
                </a:solidFill>
                <a:latin typeface="宋体" panose="02010600030101010101" pitchFamily="2" charset="-122"/>
                <a:ea typeface="宋体" panose="02010600030101010101" pitchFamily="2" charset="-122"/>
              </a:rPr>
              <a:t>sh</a:t>
            </a:r>
            <a:r>
              <a:rPr lang="zh-CN" altLang="en-US" sz="2400" dirty="0">
                <a:solidFill>
                  <a:srgbClr val="880000"/>
                </a:solidFill>
                <a:latin typeface="宋体" panose="02010600030101010101" pitchFamily="2" charset="-122"/>
                <a:ea typeface="宋体" panose="02010600030101010101" pitchFamily="2" charset="-122"/>
              </a:rPr>
              <a:t>”</a:t>
            </a:r>
            <a:r>
              <a:rPr lang="zh-CN" altLang="zh-CN" sz="2400" dirty="0">
                <a:solidFill>
                  <a:srgbClr val="880000"/>
                </a:solidFill>
                <a:latin typeface="宋体" panose="02010600030101010101" pitchFamily="2" charset="-122"/>
                <a:ea typeface="宋体" panose="02010600030101010101" pitchFamily="2" charset="-122"/>
              </a:rPr>
              <a:t>, </a:t>
            </a:r>
            <a:r>
              <a:rPr lang="zh-CN" altLang="en-US" sz="2400" dirty="0">
                <a:solidFill>
                  <a:srgbClr val="880000"/>
                </a:solidFill>
                <a:latin typeface="宋体" panose="02010600030101010101" pitchFamily="2" charset="-122"/>
                <a:ea typeface="宋体" panose="02010600030101010101" pitchFamily="2" charset="-122"/>
              </a:rPr>
              <a:t>“</a:t>
            </a:r>
            <a:r>
              <a:rPr lang="en-US" altLang="zh-CN" sz="2400" dirty="0">
                <a:solidFill>
                  <a:srgbClr val="880000"/>
                </a:solidFill>
                <a:latin typeface="宋体" panose="02010600030101010101" pitchFamily="2" charset="-122"/>
                <a:ea typeface="宋体" panose="02010600030101010101" pitchFamily="2" charset="-122"/>
              </a:rPr>
              <a:t>-c</a:t>
            </a:r>
            <a:r>
              <a:rPr lang="zh-CN" altLang="en-US" sz="2400" dirty="0">
                <a:solidFill>
                  <a:srgbClr val="880000"/>
                </a:solidFill>
                <a:latin typeface="宋体" panose="02010600030101010101" pitchFamily="2" charset="-122"/>
                <a:ea typeface="宋体" panose="02010600030101010101" pitchFamily="2" charset="-122"/>
              </a:rPr>
              <a:t>”</a:t>
            </a:r>
            <a:r>
              <a:rPr lang="zh-CN" altLang="zh-CN" sz="2400" dirty="0">
                <a:solidFill>
                  <a:srgbClr val="880000"/>
                </a:solidFill>
                <a:latin typeface="宋体" panose="02010600030101010101" pitchFamily="2" charset="-122"/>
                <a:ea typeface="宋体" panose="02010600030101010101" pitchFamily="2" charset="-122"/>
              </a:rPr>
              <a:t>, </a:t>
            </a:r>
            <a:r>
              <a:rPr lang="zh-CN" altLang="en-US" sz="2400" dirty="0">
                <a:solidFill>
                  <a:srgbClr val="880000"/>
                </a:solidFill>
                <a:latin typeface="宋体" panose="02010600030101010101" pitchFamily="2" charset="-122"/>
                <a:ea typeface="宋体" panose="02010600030101010101" pitchFamily="2" charset="-122"/>
              </a:rPr>
              <a:t>“</a:t>
            </a:r>
            <a:r>
              <a:rPr lang="en-US" altLang="zh-CN" sz="2400" dirty="0">
                <a:solidFill>
                  <a:srgbClr val="880000"/>
                </a:solidFill>
                <a:latin typeface="宋体" panose="02010600030101010101" pitchFamily="2" charset="-122"/>
                <a:ea typeface="宋体" panose="02010600030101010101" pitchFamily="2" charset="-122"/>
              </a:rPr>
              <a:t>echo hello</a:t>
            </a:r>
            <a:r>
              <a:rPr lang="zh-CN" altLang="en-US" sz="2400" dirty="0">
                <a:solidFill>
                  <a:srgbClr val="880000"/>
                </a:solidFill>
                <a:latin typeface="宋体" panose="02010600030101010101" pitchFamily="2" charset="-122"/>
                <a:ea typeface="宋体" panose="02010600030101010101" pitchFamily="2" charset="-122"/>
              </a:rPr>
              <a:t>”</a:t>
            </a:r>
            <a:r>
              <a:rPr lang="zh-CN" altLang="zh-CN" sz="2400" dirty="0">
                <a:solidFill>
                  <a:srgbClr val="880000"/>
                </a:solidFill>
                <a:latin typeface="宋体" panose="02010600030101010101" pitchFamily="2" charset="-122"/>
                <a:ea typeface="宋体" panose="02010600030101010101" pitchFamily="2" charset="-122"/>
              </a:rPr>
              <a:t>] </a:t>
            </a:r>
            <a:endParaRPr lang="en-US" altLang="zh-CN" sz="2400" dirty="0">
              <a:solidFill>
                <a:srgbClr val="880000"/>
              </a:solidFill>
              <a:latin typeface="宋体" panose="02010600030101010101" pitchFamily="2" charset="-122"/>
              <a:ea typeface="宋体" panose="02010600030101010101" pitchFamily="2" charset="-122"/>
            </a:endParaRPr>
          </a:p>
          <a:p>
            <a:pPr lvl="1">
              <a:lnSpc>
                <a:spcPct val="150000"/>
              </a:lnSpc>
            </a:pPr>
            <a:r>
              <a:rPr lang="zh-CN" altLang="zh-CN" sz="2400" dirty="0">
                <a:solidFill>
                  <a:srgbClr val="880000"/>
                </a:solidFill>
                <a:latin typeface="宋体" panose="02010600030101010101" pitchFamily="2" charset="-122"/>
                <a:ea typeface="宋体" panose="02010600030101010101" pitchFamily="2" charset="-122"/>
              </a:rPr>
              <a:t>等价于 RUN </a:t>
            </a:r>
            <a:r>
              <a:rPr lang="en-US" altLang="zh-CN" sz="2400" dirty="0">
                <a:solidFill>
                  <a:srgbClr val="880000"/>
                </a:solidFill>
                <a:latin typeface="宋体" panose="02010600030101010101" pitchFamily="2" charset="-122"/>
                <a:ea typeface="宋体" panose="02010600030101010101" pitchFamily="2" charset="-122"/>
              </a:rPr>
              <a:t>/bin/</a:t>
            </a:r>
            <a:r>
              <a:rPr lang="en-US" altLang="zh-CN" sz="2400" dirty="0" err="1">
                <a:solidFill>
                  <a:srgbClr val="880000"/>
                </a:solidFill>
                <a:latin typeface="宋体" panose="02010600030101010101" pitchFamily="2" charset="-122"/>
                <a:ea typeface="宋体" panose="02010600030101010101" pitchFamily="2" charset="-122"/>
              </a:rPr>
              <a:t>sh</a:t>
            </a:r>
            <a:r>
              <a:rPr lang="en-US" altLang="zh-CN" sz="2400" dirty="0">
                <a:solidFill>
                  <a:srgbClr val="880000"/>
                </a:solidFill>
                <a:latin typeface="宋体" panose="02010600030101010101" pitchFamily="2" charset="-122"/>
                <a:ea typeface="宋体" panose="02010600030101010101" pitchFamily="2" charset="-122"/>
              </a:rPr>
              <a:t> –c “echo hello</a:t>
            </a:r>
            <a:r>
              <a:rPr lang="zh-CN" altLang="en-US" sz="2400" dirty="0">
                <a:solidFill>
                  <a:srgbClr val="880000"/>
                </a:solidFill>
                <a:latin typeface="宋体" panose="02010600030101010101" pitchFamily="2" charset="-122"/>
                <a:ea typeface="宋体" panose="02010600030101010101" pitchFamily="2" charset="-122"/>
              </a:rPr>
              <a:t>”</a:t>
            </a:r>
            <a:endParaRPr lang="en-US" altLang="zh-CN" sz="2400" dirty="0">
              <a:solidFill>
                <a:srgbClr val="880000"/>
              </a:solidFill>
              <a:latin typeface="宋体" panose="02010600030101010101" pitchFamily="2" charset="-122"/>
              <a:ea typeface="宋体" panose="02010600030101010101" pitchFamily="2" charset="-122"/>
            </a:endParaRPr>
          </a:p>
          <a:p>
            <a:pPr lvl="0" indent="720090" algn="just">
              <a:lnSpc>
                <a:spcPct val="125000"/>
              </a:lnSpc>
              <a:defRPr/>
            </a:pPr>
            <a:r>
              <a:rPr lang="zh-CN" altLang="en-US" sz="2400" dirty="0">
                <a:latin typeface="宋体" panose="02010600030101010101" pitchFamily="2" charset="-122"/>
                <a:ea typeface="宋体" panose="02010600030101010101" pitchFamily="2" charset="-122"/>
              </a:rPr>
              <a:t>当使用</a:t>
            </a:r>
            <a:r>
              <a:rPr lang="en-US" altLang="zh-CN" sz="2400" dirty="0">
                <a:latin typeface="宋体" panose="02010600030101010101" pitchFamily="2" charset="-122"/>
                <a:ea typeface="宋体" panose="02010600030101010101" pitchFamily="2" charset="-122"/>
              </a:rPr>
              <a:t>RUN &lt;command&gt;</a:t>
            </a:r>
            <a:r>
              <a:rPr lang="zh-CN" altLang="en-US" sz="2400" dirty="0">
                <a:latin typeface="宋体" panose="02010600030101010101" pitchFamily="2" charset="-122"/>
                <a:ea typeface="宋体" panose="02010600030101010101" pitchFamily="2" charset="-122"/>
              </a:rPr>
              <a:t>的用法时，表示在</a:t>
            </a:r>
            <a:r>
              <a:rPr lang="en-US" altLang="zh-CN" sz="2400" dirty="0">
                <a:latin typeface="宋体" panose="02010600030101010101" pitchFamily="2" charset="-122"/>
                <a:ea typeface="宋体" panose="02010600030101010101" pitchFamily="2" charset="-122"/>
              </a:rPr>
              <a:t>SHELL</a:t>
            </a:r>
            <a:r>
              <a:rPr lang="zh-CN" altLang="en-US" sz="2400" dirty="0">
                <a:latin typeface="宋体" panose="02010600030101010101" pitchFamily="2" charset="-122"/>
                <a:ea typeface="宋体" panose="02010600030101010101" pitchFamily="2" charset="-122"/>
              </a:rPr>
              <a:t>终端中运行命令。例如</a:t>
            </a:r>
            <a:r>
              <a:rPr lang="en-US" altLang="zh-CN" sz="2400" dirty="0">
                <a:latin typeface="宋体" panose="02010600030101010101" pitchFamily="2" charset="-122"/>
                <a:ea typeface="宋体" panose="02010600030101010101" pitchFamily="2" charset="-122"/>
              </a:rPr>
              <a:t>RUN /bin/</a:t>
            </a:r>
            <a:r>
              <a:rPr lang="en-US" altLang="zh-CN" sz="2400" dirty="0" err="1">
                <a:latin typeface="宋体" panose="02010600030101010101" pitchFamily="2" charset="-122"/>
                <a:ea typeface="宋体" panose="02010600030101010101" pitchFamily="2" charset="-122"/>
              </a:rPr>
              <a:t>sh</a:t>
            </a:r>
            <a:r>
              <a:rPr lang="en-US" altLang="zh-CN" sz="2400" dirty="0">
                <a:latin typeface="宋体" panose="02010600030101010101" pitchFamily="2" charset="-122"/>
                <a:ea typeface="宋体" panose="02010600030101010101" pitchFamily="2" charset="-122"/>
              </a:rPr>
              <a:t> –c “echo hello</a:t>
            </a:r>
            <a:r>
              <a:rPr lang="zh-CN" altLang="en-US" sz="2400" dirty="0">
                <a:latin typeface="宋体" panose="02010600030101010101" pitchFamily="2" charset="-122"/>
                <a:ea typeface="宋体" panose="02010600030101010101" pitchFamily="2" charset="-122"/>
              </a:rPr>
              <a:t>“，但该指令用法有一个限制，即镜像中必须有</a:t>
            </a:r>
            <a:r>
              <a:rPr lang="en-US" altLang="zh-CN" sz="2400" dirty="0">
                <a:latin typeface="宋体" panose="02010600030101010101" pitchFamily="2" charset="-122"/>
                <a:ea typeface="宋体" panose="02010600030101010101" pitchFamily="2" charset="-122"/>
              </a:rPr>
              <a:t>/bin/</a:t>
            </a:r>
            <a:r>
              <a:rPr lang="en-US" altLang="zh-CN" sz="2400" dirty="0" err="1">
                <a:latin typeface="宋体" panose="02010600030101010101" pitchFamily="2" charset="-122"/>
                <a:ea typeface="宋体" panose="02010600030101010101" pitchFamily="2" charset="-122"/>
              </a:rPr>
              <a:t>sh</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。如果基础镜像没有</a:t>
            </a:r>
            <a:r>
              <a:rPr lang="en-US" altLang="zh-CN" sz="2400" dirty="0">
                <a:latin typeface="宋体" panose="02010600030101010101" pitchFamily="2" charset="-122"/>
                <a:ea typeface="宋体" panose="02010600030101010101" pitchFamily="2" charset="-122"/>
              </a:rPr>
              <a:t>/bin/</a:t>
            </a:r>
            <a:r>
              <a:rPr lang="en-US" altLang="zh-CN" sz="2400" dirty="0" err="1">
                <a:latin typeface="宋体" panose="02010600030101010101" pitchFamily="2" charset="-122"/>
                <a:ea typeface="宋体" panose="02010600030101010101" pitchFamily="2" charset="-122"/>
              </a:rPr>
              <a:t>sh</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，则需要使用</a:t>
            </a:r>
            <a:r>
              <a:rPr lang="en-US" altLang="zh-CN" sz="2400" dirty="0">
                <a:latin typeface="宋体" panose="02010600030101010101" pitchFamily="2" charset="-122"/>
                <a:ea typeface="宋体" panose="02010600030101010101" pitchFamily="2" charset="-122"/>
              </a:rPr>
              <a:t>RUN [”executable”, “param1”, “param2”]</a:t>
            </a:r>
            <a:r>
              <a:rPr lang="zh-CN" altLang="en-US" sz="2400" dirty="0">
                <a:latin typeface="宋体" panose="02010600030101010101" pitchFamily="2" charset="-122"/>
                <a:ea typeface="宋体" panose="02010600030101010101" pitchFamily="2" charset="-122"/>
              </a:rPr>
              <a:t>，表示用</a:t>
            </a:r>
            <a:r>
              <a:rPr lang="en-US" altLang="zh-CN" sz="2400" dirty="0">
                <a:latin typeface="宋体" panose="02010600030101010101" pitchFamily="2" charset="-122"/>
                <a:ea typeface="宋体" panose="02010600030101010101" pitchFamily="2" charset="-122"/>
              </a:rPr>
              <a:t>exec</a:t>
            </a:r>
            <a:r>
              <a:rPr lang="zh-CN" altLang="en-US" sz="2400" dirty="0">
                <a:latin typeface="宋体" panose="02010600030101010101" pitchFamily="2" charset="-122"/>
                <a:ea typeface="宋体" panose="02010600030101010101" pitchFamily="2" charset="-122"/>
              </a:rPr>
              <a:t>执行</a:t>
            </a:r>
            <a:endParaRPr lang="en-US" altLang="zh-CN" sz="2400" dirty="0">
              <a:latin typeface="宋体" panose="02010600030101010101" pitchFamily="2" charset="-122"/>
              <a:ea typeface="宋体" panose="02010600030101010101" pitchFamily="2" charset="-122"/>
            </a:endParaRPr>
          </a:p>
          <a:p>
            <a:pPr lvl="0" indent="720090" algn="just">
              <a:lnSpc>
                <a:spcPct val="125000"/>
              </a:lnSpc>
              <a:defRPr/>
            </a:pPr>
            <a:r>
              <a:rPr lang="en-US" altLang="zh-CN" sz="2400" dirty="0">
                <a:latin typeface="宋体" panose="02010600030101010101" pitchFamily="2" charset="-122"/>
                <a:ea typeface="宋体" panose="02010600030101010101" pitchFamily="2" charset="-122"/>
              </a:rPr>
              <a:t>/bin/</a:t>
            </a:r>
            <a:r>
              <a:rPr lang="en-US" altLang="zh-CN" sz="2400" dirty="0" err="1">
                <a:latin typeface="宋体" panose="02010600030101010101" pitchFamily="2" charset="-122"/>
                <a:ea typeface="宋体" panose="02010600030101010101" pitchFamily="2" charset="-122"/>
              </a:rPr>
              <a:t>sh</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当成</a:t>
            </a:r>
            <a:r>
              <a:rPr lang="en-US" altLang="zh-CN" sz="2400" dirty="0">
                <a:latin typeface="宋体" panose="02010600030101010101" pitchFamily="2" charset="-122"/>
                <a:ea typeface="宋体" panose="02010600030101010101" pitchFamily="2" charset="-122"/>
              </a:rPr>
              <a:t>C </a:t>
            </a:r>
            <a:r>
              <a:rPr lang="zh-CN" altLang="en-US" sz="2400" dirty="0">
                <a:latin typeface="宋体" panose="02010600030101010101" pitchFamily="2" charset="-122"/>
                <a:ea typeface="宋体" panose="02010600030101010101" pitchFamily="2" charset="-122"/>
              </a:rPr>
              <a:t>语言的</a:t>
            </a:r>
            <a:r>
              <a:rPr lang="en-US" altLang="zh-CN" sz="2400" dirty="0">
                <a:latin typeface="宋体" panose="02010600030101010101" pitchFamily="2" charset="-122"/>
                <a:ea typeface="宋体" panose="02010600030101010101" pitchFamily="2" charset="-122"/>
              </a:rPr>
              <a:t>main</a:t>
            </a:r>
            <a:r>
              <a:rPr lang="zh-CN" altLang="en-US" sz="2400" dirty="0">
                <a:latin typeface="宋体" panose="02010600030101010101" pitchFamily="2" charset="-122"/>
                <a:ea typeface="宋体" panose="02010600030101010101" pitchFamily="2" charset="-122"/>
              </a:rPr>
              <a:t>函数一样</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写</a:t>
            </a:r>
            <a:r>
              <a:rPr lang="en-US" altLang="zh-CN" sz="2400" dirty="0">
                <a:latin typeface="宋体" panose="02010600030101010101" pitchFamily="2" charset="-122"/>
                <a:ea typeface="宋体" panose="02010600030101010101" pitchFamily="2" charset="-122"/>
              </a:rPr>
              <a:t>shell</a:t>
            </a:r>
            <a:r>
              <a:rPr lang="zh-CN" altLang="en-US" sz="2400" dirty="0">
                <a:latin typeface="宋体" panose="02010600030101010101" pitchFamily="2" charset="-122"/>
                <a:ea typeface="宋体" panose="02010600030101010101" pitchFamily="2" charset="-122"/>
              </a:rPr>
              <a:t>必须有</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以使</a:t>
            </a:r>
            <a:r>
              <a:rPr lang="en-US" altLang="zh-CN" sz="2400" dirty="0">
                <a:latin typeface="宋体" panose="02010600030101010101" pitchFamily="2" charset="-122"/>
                <a:ea typeface="宋体" panose="02010600030101010101" pitchFamily="2" charset="-122"/>
              </a:rPr>
              <a:t>shell</a:t>
            </a:r>
            <a:r>
              <a:rPr lang="zh-CN" altLang="en-US" sz="2400" dirty="0">
                <a:latin typeface="宋体" panose="02010600030101010101" pitchFamily="2" charset="-122"/>
                <a:ea typeface="宋体" panose="02010600030101010101" pitchFamily="2" charset="-122"/>
              </a:rPr>
              <a:t>程序更严密。 即</a:t>
            </a:r>
            <a:r>
              <a:rPr lang="en-US" altLang="zh-CN" sz="2400" dirty="0">
                <a:latin typeface="宋体" panose="02010600030101010101" pitchFamily="2" charset="-122"/>
                <a:ea typeface="宋体" panose="02010600030101010101" pitchFamily="2" charset="-122"/>
              </a:rPr>
              <a:t>: #!/bin/</a:t>
            </a:r>
            <a:r>
              <a:rPr lang="en-US" altLang="zh-CN" sz="2400" dirty="0" err="1">
                <a:latin typeface="宋体" panose="02010600030101010101" pitchFamily="2" charset="-122"/>
                <a:ea typeface="宋体" panose="02010600030101010101" pitchFamily="2" charset="-122"/>
              </a:rPr>
              <a:t>sh</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是指此脚本使用</a:t>
            </a:r>
            <a:r>
              <a:rPr lang="en-US" altLang="zh-CN" sz="2400" dirty="0">
                <a:latin typeface="宋体" panose="02010600030101010101" pitchFamily="2" charset="-122"/>
                <a:ea typeface="宋体" panose="02010600030101010101" pitchFamily="2" charset="-122"/>
              </a:rPr>
              <a:t>/bin/</a:t>
            </a:r>
            <a:r>
              <a:rPr lang="en-US" altLang="zh-CN" sz="2400" dirty="0" err="1">
                <a:latin typeface="宋体" panose="02010600030101010101" pitchFamily="2" charset="-122"/>
                <a:ea typeface="宋体" panose="02010600030101010101" pitchFamily="2" charset="-122"/>
              </a:rPr>
              <a:t>sh</a:t>
            </a:r>
            <a:r>
              <a:rPr lang="zh-CN" altLang="en-US" sz="2400" dirty="0">
                <a:latin typeface="宋体" panose="02010600030101010101" pitchFamily="2" charset="-122"/>
                <a:ea typeface="宋体" panose="02010600030101010101" pitchFamily="2" charset="-122"/>
              </a:rPr>
              <a:t>来解释执行。</a:t>
            </a:r>
            <a:endParaRPr lang="en-US" altLang="zh-CN" sz="2400" dirty="0">
              <a:latin typeface="宋体" panose="02010600030101010101" pitchFamily="2" charset="-122"/>
              <a:ea typeface="宋体" panose="02010600030101010101" pitchFamily="2" charset="-122"/>
            </a:endParaRPr>
          </a:p>
          <a:p>
            <a:pPr lvl="0">
              <a:defRPr/>
            </a:pPr>
            <a:endParaRPr lang="zh-CN" altLang="zh-CN" sz="1200" dirty="0">
              <a:latin typeface="宋体" panose="02010600030101010101" pitchFamily="2" charset="-122"/>
              <a:ea typeface="宋体" panose="02010600030101010101" pitchFamily="2" charset="-122"/>
            </a:endParaRPr>
          </a:p>
          <a:p>
            <a:pPr lvl="1">
              <a:lnSpc>
                <a:spcPct val="150000"/>
              </a:lnSpc>
            </a:pPr>
            <a:endParaRPr lang="en-US" altLang="zh-CN" sz="2000" dirty="0">
              <a:solidFill>
                <a:srgbClr val="880000"/>
              </a:solidFill>
              <a:latin typeface="宋体" panose="02010600030101010101" pitchFamily="2" charset="-122"/>
              <a:ea typeface="宋体" panose="02010600030101010101" pitchFamily="2" charset="-122"/>
            </a:endParaRPr>
          </a:p>
          <a:p>
            <a:pPr lvl="1">
              <a:lnSpc>
                <a:spcPct val="150000"/>
              </a:lnSpc>
            </a:pPr>
            <a:endParaRPr lang="zh-CN" altLang="zh-CN" sz="5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291152" y="1637949"/>
            <a:ext cx="11982736" cy="6053580"/>
          </a:xfrm>
          <a:prstGeom prst="rect">
            <a:avLst/>
          </a:prstGeom>
          <a:noFill/>
        </p:spPr>
        <p:txBody>
          <a:bodyPr wrap="square" rtlCol="0">
            <a:spAutoFit/>
          </a:bodyPr>
          <a:lstStyle/>
          <a:p>
            <a:pPr>
              <a:lnSpc>
                <a:spcPct val="125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a:lnSpc>
                <a:spcPct val="125000"/>
              </a:lnSpc>
            </a:pPr>
            <a:r>
              <a:rPr lang="en-US" altLang="zh-CN" sz="2400" b="1" dirty="0">
                <a:latin typeface="宋体" panose="02010600030101010101" pitchFamily="2" charset="-122"/>
                <a:ea typeface="宋体" panose="02010600030101010101" pitchFamily="2" charset="-122"/>
              </a:rPr>
              <a:t>3</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RUN</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lvl="0" indent="720090" algn="just">
              <a:lnSpc>
                <a:spcPct val="125000"/>
              </a:lnSpc>
              <a:defRPr/>
            </a:pPr>
            <a:r>
              <a:rPr lang="zh-CN" altLang="en-US" sz="2400" b="1" dirty="0">
                <a:latin typeface="宋体" panose="02010600030101010101" pitchFamily="2" charset="-122"/>
                <a:ea typeface="宋体" panose="02010600030101010101" pitchFamily="2" charset="-122"/>
              </a:rPr>
              <a:t>注意</a:t>
            </a:r>
            <a:r>
              <a:rPr lang="zh-CN" altLang="en-US"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Dockerfile</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的每一个指令都会构建文件层，例如在</a:t>
            </a:r>
            <a:r>
              <a:rPr lang="en-US" altLang="zh-CN" sz="2400" dirty="0">
                <a:latin typeface="宋体" panose="02010600030101010101" pitchFamily="2" charset="-122"/>
                <a:ea typeface="宋体" panose="02010600030101010101" pitchFamily="2" charset="-122"/>
              </a:rPr>
              <a:t>docker</a:t>
            </a:r>
            <a:r>
              <a:rPr lang="zh-CN" altLang="en-US" sz="2400" dirty="0">
                <a:latin typeface="宋体" panose="02010600030101010101" pitchFamily="2" charset="-122"/>
                <a:ea typeface="宋体" panose="02010600030101010101" pitchFamily="2" charset="-122"/>
              </a:rPr>
              <a:t>所使用的</a:t>
            </a:r>
            <a:r>
              <a:rPr lang="en-US" altLang="zh-CN" sz="2400" dirty="0" err="1">
                <a:latin typeface="宋体" panose="02010600030101010101" pitchFamily="2" charset="-122"/>
                <a:ea typeface="宋体" panose="02010600030101010101" pitchFamily="2" charset="-122"/>
              </a:rPr>
              <a:t>aufs</a:t>
            </a:r>
            <a:r>
              <a:rPr lang="zh-CN" altLang="en-US" sz="2400" dirty="0">
                <a:latin typeface="宋体" panose="02010600030101010101" pitchFamily="2" charset="-122"/>
                <a:ea typeface="宋体" panose="02010600030101010101" pitchFamily="2" charset="-122"/>
              </a:rPr>
              <a:t>中，所有的镜像层至多保存</a:t>
            </a:r>
            <a:r>
              <a:rPr lang="en-US" altLang="zh-CN" sz="2400" dirty="0">
                <a:latin typeface="宋体" panose="02010600030101010101" pitchFamily="2" charset="-122"/>
                <a:ea typeface="宋体" panose="02010600030101010101" pitchFamily="2" charset="-122"/>
              </a:rPr>
              <a:t>126</a:t>
            </a:r>
            <a:r>
              <a:rPr lang="zh-CN" altLang="en-US" sz="2400" dirty="0">
                <a:latin typeface="宋体" panose="02010600030101010101" pitchFamily="2" charset="-122"/>
                <a:ea typeface="宋体" panose="02010600030101010101" pitchFamily="2" charset="-122"/>
              </a:rPr>
              <a:t>层，而执行一次</a:t>
            </a:r>
            <a:r>
              <a:rPr lang="en-US" altLang="zh-CN" sz="2400" dirty="0">
                <a:latin typeface="宋体" panose="02010600030101010101" pitchFamily="2" charset="-122"/>
                <a:ea typeface="宋体" panose="02010600030101010101" pitchFamily="2" charset="-122"/>
              </a:rPr>
              <a:t>RUN</a:t>
            </a:r>
            <a:r>
              <a:rPr lang="zh-CN" altLang="en-US" sz="2400" dirty="0">
                <a:latin typeface="宋体" panose="02010600030101010101" pitchFamily="2" charset="-122"/>
                <a:ea typeface="宋体" panose="02010600030101010101" pitchFamily="2" charset="-122"/>
              </a:rPr>
              <a:t>命令就会产生一个新文件，并在其上执行命令，执行完毕后，提交这一层的修改，构建新的镜像，所以过多无意义的层，会造成镜像膨胀过大。</a:t>
            </a:r>
            <a:endParaRPr lang="en-US" altLang="zh-CN" sz="2400" dirty="0">
              <a:latin typeface="宋体" panose="02010600030101010101" pitchFamily="2" charset="-122"/>
              <a:ea typeface="宋体" panose="02010600030101010101" pitchFamily="2" charset="-122"/>
            </a:endParaRPr>
          </a:p>
          <a:p>
            <a:pPr lvl="0" indent="720090" algn="just">
              <a:lnSpc>
                <a:spcPct val="125000"/>
              </a:lnSpc>
              <a:defRPr/>
            </a:pPr>
            <a:r>
              <a:rPr lang="zh-CN" altLang="en-US" sz="2400" dirty="0">
                <a:latin typeface="宋体" panose="02010600030101010101" pitchFamily="2" charset="-122"/>
                <a:ea typeface="宋体" panose="02010600030101010101" pitchFamily="2" charset="-122"/>
              </a:rPr>
              <a:t>所以对于编译 软件的安装 更新的操作，无需分成几层来操作，这样会使得镜像非常臃肿，不仅增加了构建部署的时间，还容易出错。</a:t>
            </a:r>
            <a:endParaRPr lang="en-US" altLang="zh-CN" sz="2400" dirty="0">
              <a:latin typeface="宋体" panose="02010600030101010101" pitchFamily="2" charset="-122"/>
              <a:ea typeface="宋体" panose="02010600030101010101" pitchFamily="2" charset="-122"/>
            </a:endParaRPr>
          </a:p>
          <a:p>
            <a:pPr>
              <a:lnSpc>
                <a:spcPct val="150000"/>
              </a:lnSpc>
            </a:pPr>
            <a:r>
              <a:rPr lang="zh-CN" altLang="en-US" sz="2400" dirty="0">
                <a:latin typeface="宋体" panose="02010600030101010101" pitchFamily="2" charset="-122"/>
                <a:ea typeface="宋体" panose="02010600030101010101" pitchFamily="2" charset="-122"/>
              </a:rPr>
              <a:t>例如：</a:t>
            </a:r>
            <a:endParaRPr lang="en-US" altLang="zh-CN" sz="2400" dirty="0">
              <a:latin typeface="宋体" panose="02010600030101010101" pitchFamily="2" charset="-122"/>
              <a:ea typeface="宋体" panose="02010600030101010101" pitchFamily="2" charset="-122"/>
            </a:endParaRPr>
          </a:p>
          <a:p>
            <a:pPr>
              <a:lnSpc>
                <a:spcPct val="150000"/>
              </a:lnSpc>
            </a:pPr>
            <a:endParaRPr lang="zh-CN" altLang="zh-CN" sz="5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t>相关知识</a:t>
            </a:r>
            <a:endParaRPr lang="zh-CN" altLang="en-US" sz="3200" b="1" dirty="0"/>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285367" y="5410294"/>
            <a:ext cx="7715250" cy="952500"/>
          </a:xfrm>
          <a:prstGeom prst="rect">
            <a:avLst/>
          </a:prstGeom>
        </p:spPr>
      </p:pic>
      <p:sp>
        <p:nvSpPr>
          <p:cNvPr id="3" name="矩形 2"/>
          <p:cNvSpPr/>
          <p:nvPr/>
        </p:nvSpPr>
        <p:spPr>
          <a:xfrm>
            <a:off x="520848" y="6462889"/>
            <a:ext cx="4031873" cy="1200329"/>
          </a:xfrm>
          <a:prstGeom prst="rect">
            <a:avLst/>
          </a:prstGeom>
        </p:spPr>
        <p:txBody>
          <a:bodyPr wrap="none">
            <a:spAutoFit/>
          </a:bodyPr>
          <a:lstStyle/>
          <a:p>
            <a:r>
              <a:rPr lang="zh-CN" altLang="en-US" sz="2400" dirty="0">
                <a:solidFill>
                  <a:srgbClr val="333333"/>
                </a:solidFill>
                <a:latin typeface="宋体" panose="02010600030101010101" pitchFamily="2" charset="-122"/>
                <a:ea typeface="宋体" panose="02010600030101010101" pitchFamily="2" charset="-122"/>
              </a:rPr>
              <a:t>以上执行会创建 </a:t>
            </a:r>
            <a:r>
              <a:rPr lang="en-US" altLang="zh-CN" sz="2400" dirty="0">
                <a:solidFill>
                  <a:srgbClr val="333333"/>
                </a:solidFill>
                <a:latin typeface="宋体" panose="02010600030101010101" pitchFamily="2" charset="-122"/>
                <a:ea typeface="宋体" panose="02010600030101010101" pitchFamily="2" charset="-122"/>
              </a:rPr>
              <a:t>3 </a:t>
            </a:r>
            <a:r>
              <a:rPr lang="zh-CN" altLang="en-US" sz="2400" dirty="0">
                <a:solidFill>
                  <a:srgbClr val="333333"/>
                </a:solidFill>
                <a:latin typeface="宋体" panose="02010600030101010101" pitchFamily="2" charset="-122"/>
                <a:ea typeface="宋体" panose="02010600030101010101" pitchFamily="2" charset="-122"/>
              </a:rPr>
              <a:t>层镜像。</a:t>
            </a:r>
            <a:endParaRPr lang="en-US" altLang="zh-CN" sz="2400" dirty="0">
              <a:solidFill>
                <a:srgbClr val="333333"/>
              </a:solidFill>
              <a:latin typeface="宋体" panose="02010600030101010101" pitchFamily="2" charset="-122"/>
              <a:ea typeface="宋体" panose="02010600030101010101" pitchFamily="2" charset="-122"/>
            </a:endParaRPr>
          </a:p>
          <a:p>
            <a:pPr lvl="0">
              <a:defRPr/>
            </a:pPr>
            <a:endParaRPr lang="en-US" altLang="zh-CN" sz="2400" dirty="0">
              <a:latin typeface="+mn-ea"/>
            </a:endParaRPr>
          </a:p>
          <a:p>
            <a:endParaRPr lang="zh-CN"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241110" y="1637949"/>
            <a:ext cx="13156441" cy="4299254"/>
          </a:xfrm>
          <a:prstGeom prst="rect">
            <a:avLst/>
          </a:prstGeom>
          <a:noFill/>
        </p:spPr>
        <p:txBody>
          <a:bodyPr wrap="square" rtlCol="0">
            <a:spAutoFit/>
          </a:bodyPr>
          <a:lstStyle/>
          <a:p>
            <a:pPr indent="720090" algn="just">
              <a:lnSpc>
                <a:spcPct val="125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indent="720090" algn="just">
              <a:lnSpc>
                <a:spcPct val="125000"/>
              </a:lnSpc>
            </a:pPr>
            <a:r>
              <a:rPr lang="en-US" altLang="zh-CN" sz="2400" b="1" dirty="0">
                <a:latin typeface="宋体" panose="02010600030101010101" pitchFamily="2" charset="-122"/>
                <a:ea typeface="宋体" panose="02010600030101010101" pitchFamily="2" charset="-122"/>
              </a:rPr>
              <a:t>3</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RUN</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lvl="0" indent="720090" algn="just">
              <a:lnSpc>
                <a:spcPct val="125000"/>
              </a:lnSpc>
              <a:defRPr/>
            </a:pPr>
            <a:r>
              <a:rPr lang="zh-CN" altLang="en-US" sz="2400" dirty="0">
                <a:latin typeface="宋体" panose="02010600030101010101" pitchFamily="2" charset="-122"/>
                <a:ea typeface="宋体" panose="02010600030101010101" pitchFamily="2" charset="-122"/>
              </a:rPr>
              <a:t>    这样只需要使用一条</a:t>
            </a:r>
            <a:r>
              <a:rPr lang="en-US" altLang="zh-CN" sz="2400" dirty="0">
                <a:latin typeface="宋体" panose="02010600030101010101" pitchFamily="2" charset="-122"/>
                <a:ea typeface="宋体" panose="02010600030101010101" pitchFamily="2" charset="-122"/>
              </a:rPr>
              <a:t>RUN</a:t>
            </a:r>
            <a:r>
              <a:rPr lang="zh-CN" altLang="en-US" sz="2400" dirty="0">
                <a:latin typeface="宋体" panose="02010600030101010101" pitchFamily="2" charset="-122"/>
                <a:ea typeface="宋体" panose="02010600030101010101" pitchFamily="2" charset="-122"/>
              </a:rPr>
              <a:t>指令，只会新建一层，因此对于一些需要合并为一层的操作，</a:t>
            </a:r>
            <a:endParaRPr lang="en-US" altLang="zh-CN" sz="2400" dirty="0">
              <a:latin typeface="宋体" panose="02010600030101010101" pitchFamily="2" charset="-122"/>
              <a:ea typeface="宋体" panose="02010600030101010101" pitchFamily="2" charset="-122"/>
            </a:endParaRPr>
          </a:p>
          <a:p>
            <a:pPr lvl="0" indent="720090" algn="just">
              <a:lnSpc>
                <a:spcPct val="125000"/>
              </a:lnSpc>
              <a:defRPr/>
            </a:pPr>
            <a:r>
              <a:rPr lang="zh-CN" altLang="en-US" sz="2400" dirty="0">
                <a:latin typeface="宋体" panose="02010600030101010101" pitchFamily="2" charset="-122"/>
                <a:ea typeface="宋体" panose="02010600030101010101" pitchFamily="2" charset="-122"/>
              </a:rPr>
              <a:t>可以使用</a:t>
            </a:r>
            <a:r>
              <a:rPr lang="en-US" altLang="zh-CN" sz="2400" b="1" dirty="0">
                <a:solidFill>
                  <a:srgbClr val="333333"/>
                </a:solidFill>
                <a:latin typeface="宋体" panose="02010600030101010101" pitchFamily="2" charset="-122"/>
                <a:ea typeface="宋体" panose="02010600030101010101" pitchFamily="2" charset="-122"/>
              </a:rPr>
              <a:t>&amp;&amp;</a:t>
            </a:r>
            <a:r>
              <a:rPr lang="zh-CN" altLang="en-US" sz="2400" dirty="0">
                <a:solidFill>
                  <a:srgbClr val="333333"/>
                </a:solidFill>
                <a:latin typeface="宋体" panose="02010600030101010101" pitchFamily="2" charset="-122"/>
                <a:ea typeface="宋体" panose="02010600030101010101" pitchFamily="2" charset="-122"/>
              </a:rPr>
              <a:t> 符号将多个命令分隔开，再连接起来，使其先后执行。如果</a:t>
            </a:r>
            <a:r>
              <a:rPr lang="en-US" altLang="zh-CN" sz="2400" dirty="0">
                <a:solidFill>
                  <a:srgbClr val="333333"/>
                </a:solidFill>
                <a:latin typeface="宋体" panose="02010600030101010101" pitchFamily="2" charset="-122"/>
                <a:ea typeface="宋体" panose="02010600030101010101" pitchFamily="2" charset="-122"/>
              </a:rPr>
              <a:t>run</a:t>
            </a:r>
            <a:r>
              <a:rPr lang="zh-CN" altLang="en-US" sz="2400" dirty="0">
                <a:solidFill>
                  <a:srgbClr val="333333"/>
                </a:solidFill>
                <a:latin typeface="宋体" panose="02010600030101010101" pitchFamily="2" charset="-122"/>
                <a:ea typeface="宋体" panose="02010600030101010101" pitchFamily="2" charset="-122"/>
              </a:rPr>
              <a:t>指令太长，</a:t>
            </a:r>
            <a:endParaRPr lang="en-US" altLang="zh-CN" sz="2400" dirty="0">
              <a:solidFill>
                <a:srgbClr val="333333"/>
              </a:solidFill>
              <a:latin typeface="宋体" panose="02010600030101010101" pitchFamily="2" charset="-122"/>
              <a:ea typeface="宋体" panose="02010600030101010101" pitchFamily="2" charset="-122"/>
            </a:endParaRPr>
          </a:p>
          <a:p>
            <a:pPr lvl="0" indent="720090" algn="just">
              <a:lnSpc>
                <a:spcPct val="125000"/>
              </a:lnSpc>
              <a:defRPr/>
            </a:pPr>
            <a:r>
              <a:rPr lang="zh-CN" altLang="en-US" sz="2400" dirty="0">
                <a:solidFill>
                  <a:srgbClr val="333333"/>
                </a:solidFill>
                <a:latin typeface="宋体" panose="02010600030101010101" pitchFamily="2" charset="-122"/>
                <a:ea typeface="宋体" panose="02010600030101010101" pitchFamily="2" charset="-122"/>
              </a:rPr>
              <a:t>则可以使用</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符号进行换行操作。此外，还可以使用</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符号进行行首的注释。</a:t>
            </a:r>
            <a:endParaRPr lang="zh-CN" altLang="zh-CN" sz="2400" dirty="0">
              <a:latin typeface="宋体" panose="02010600030101010101" pitchFamily="2" charset="-122"/>
              <a:ea typeface="宋体" panose="02010600030101010101" pitchFamily="2" charset="-122"/>
            </a:endParaRPr>
          </a:p>
          <a:p>
            <a:pPr indent="720090" algn="just">
              <a:lnSpc>
                <a:spcPct val="125000"/>
              </a:lnSpc>
            </a:pPr>
            <a:r>
              <a:rPr lang="zh-CN" altLang="en-US" sz="2400" dirty="0">
                <a:latin typeface="宋体" panose="02010600030101010101" pitchFamily="2" charset="-122"/>
                <a:ea typeface="宋体" panose="02010600030101010101" pitchFamily="2" charset="-122"/>
              </a:rPr>
              <a:t>    例如：</a:t>
            </a:r>
            <a:endParaRPr lang="en-US" altLang="zh-CN" sz="2400" dirty="0">
              <a:latin typeface="宋体" panose="02010600030101010101" pitchFamily="2" charset="-122"/>
              <a:ea typeface="宋体" panose="02010600030101010101" pitchFamily="2" charset="-122"/>
            </a:endParaRPr>
          </a:p>
          <a:p>
            <a:pPr indent="720090" algn="just">
              <a:lnSpc>
                <a:spcPct val="125000"/>
              </a:lnSpc>
            </a:pPr>
            <a:endParaRPr lang="zh-CN" altLang="zh-CN" sz="5400" dirty="0">
              <a:latin typeface="宋体" panose="02010600030101010101" pitchFamily="2" charset="-122"/>
              <a:ea typeface="宋体" panose="02010600030101010101" pitchFamily="2" charset="-122"/>
            </a:endParaRPr>
          </a:p>
          <a:p>
            <a:pPr lvl="1" indent="720090" algn="just">
              <a:lnSpc>
                <a:spcPct val="125000"/>
              </a:lnSpc>
            </a:pP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963206" y="4041293"/>
            <a:ext cx="7715250" cy="952500"/>
          </a:xfrm>
          <a:prstGeom prst="rect">
            <a:avLst/>
          </a:prstGeom>
        </p:spPr>
      </p:pic>
      <p:sp>
        <p:nvSpPr>
          <p:cNvPr id="3" name="矩形 2"/>
          <p:cNvSpPr/>
          <p:nvPr/>
        </p:nvSpPr>
        <p:spPr>
          <a:xfrm>
            <a:off x="373486" y="5108473"/>
            <a:ext cx="7529016" cy="461665"/>
          </a:xfrm>
          <a:prstGeom prst="rect">
            <a:avLst/>
          </a:prstGeom>
        </p:spPr>
        <p:txBody>
          <a:bodyPr wrap="square">
            <a:spAutoFit/>
          </a:bodyPr>
          <a:lstStyle/>
          <a:p>
            <a:r>
              <a:rPr lang="zh-CN" altLang="en-US" sz="2400" dirty="0">
                <a:solidFill>
                  <a:srgbClr val="333333"/>
                </a:solidFill>
                <a:latin typeface="宋体" panose="02010600030101010101" pitchFamily="2" charset="-122"/>
                <a:ea typeface="宋体" panose="02010600030101010101" pitchFamily="2" charset="-122"/>
              </a:rPr>
              <a:t>    以上执行会创建 </a:t>
            </a:r>
            <a:r>
              <a:rPr lang="en-US" altLang="zh-CN" sz="2400" dirty="0">
                <a:solidFill>
                  <a:srgbClr val="333333"/>
                </a:solidFill>
                <a:latin typeface="宋体" panose="02010600030101010101" pitchFamily="2" charset="-122"/>
                <a:ea typeface="宋体" panose="02010600030101010101" pitchFamily="2" charset="-122"/>
              </a:rPr>
              <a:t>3 </a:t>
            </a:r>
            <a:r>
              <a:rPr lang="zh-CN" altLang="en-US" sz="2400" dirty="0">
                <a:solidFill>
                  <a:srgbClr val="333333"/>
                </a:solidFill>
                <a:latin typeface="宋体" panose="02010600030101010101" pitchFamily="2" charset="-122"/>
                <a:ea typeface="宋体" panose="02010600030101010101" pitchFamily="2" charset="-122"/>
              </a:rPr>
              <a:t>层镜像。可简化为以下格式：</a:t>
            </a:r>
            <a:endParaRPr lang="zh-CN" altLang="en-US" sz="2400" dirty="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1963206" y="5570138"/>
            <a:ext cx="7705725" cy="962025"/>
          </a:xfrm>
          <a:prstGeom prst="rect">
            <a:avLst/>
          </a:prstGeom>
        </p:spPr>
      </p:pic>
      <p:sp>
        <p:nvSpPr>
          <p:cNvPr id="5" name="矩形 4"/>
          <p:cNvSpPr/>
          <p:nvPr/>
        </p:nvSpPr>
        <p:spPr>
          <a:xfrm>
            <a:off x="-165356" y="6438424"/>
            <a:ext cx="10323840" cy="461665"/>
          </a:xfrm>
          <a:prstGeom prst="rect">
            <a:avLst/>
          </a:prstGeom>
        </p:spPr>
        <p:txBody>
          <a:bodyPr wrap="square">
            <a:spAutoFit/>
          </a:bodyPr>
          <a:lstStyle/>
          <a:p>
            <a:r>
              <a:rPr lang="zh-CN" altLang="en-US" sz="2400" dirty="0">
                <a:solidFill>
                  <a:srgbClr val="333333"/>
                </a:solidFill>
                <a:latin typeface="宋体" panose="02010600030101010101" pitchFamily="2" charset="-122"/>
                <a:ea typeface="宋体" panose="02010600030101010101" pitchFamily="2" charset="-122"/>
              </a:rPr>
              <a:t>       如上，以 </a:t>
            </a:r>
            <a:r>
              <a:rPr lang="en-US" altLang="zh-CN" sz="2400" b="1" dirty="0">
                <a:solidFill>
                  <a:srgbClr val="333333"/>
                </a:solidFill>
                <a:latin typeface="宋体" panose="02010600030101010101" pitchFamily="2" charset="-122"/>
                <a:ea typeface="宋体" panose="02010600030101010101" pitchFamily="2" charset="-122"/>
              </a:rPr>
              <a:t>&amp;&amp;</a:t>
            </a:r>
            <a:r>
              <a:rPr lang="zh-CN" altLang="en-US" sz="2400" dirty="0">
                <a:solidFill>
                  <a:srgbClr val="333333"/>
                </a:solidFill>
                <a:latin typeface="宋体" panose="02010600030101010101" pitchFamily="2" charset="-122"/>
                <a:ea typeface="宋体" panose="02010600030101010101" pitchFamily="2" charset="-122"/>
              </a:rPr>
              <a:t> 符号连接命令，这样执行后，只会创建 </a:t>
            </a:r>
            <a:r>
              <a:rPr lang="en-US" altLang="zh-CN" sz="2400" dirty="0">
                <a:solidFill>
                  <a:srgbClr val="333333"/>
                </a:solidFill>
                <a:latin typeface="宋体" panose="02010600030101010101" pitchFamily="2" charset="-122"/>
                <a:ea typeface="宋体" panose="02010600030101010101" pitchFamily="2" charset="-122"/>
              </a:rPr>
              <a:t>1 </a:t>
            </a:r>
            <a:r>
              <a:rPr lang="zh-CN" altLang="en-US" sz="2400" dirty="0">
                <a:solidFill>
                  <a:srgbClr val="333333"/>
                </a:solidFill>
                <a:latin typeface="宋体" panose="02010600030101010101" pitchFamily="2" charset="-122"/>
                <a:ea typeface="宋体" panose="02010600030101010101" pitchFamily="2" charset="-122"/>
              </a:rPr>
              <a:t>层镜像。</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373486" y="1469573"/>
            <a:ext cx="11695723" cy="5243295"/>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11</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EXPOSE</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EXPOSE</a:t>
            </a:r>
            <a:r>
              <a:rPr lang="zh-CN" altLang="zh-CN" sz="2200" dirty="0">
                <a:latin typeface="宋体" panose="02010600030101010101" pitchFamily="2" charset="-122"/>
                <a:ea typeface="宋体" panose="02010600030101010101" pitchFamily="2" charset="-122"/>
              </a:rPr>
              <a:t>指令用于声明运行时的容器服务端口，</a:t>
            </a:r>
            <a:r>
              <a:rPr lang="zh-CN" altLang="en-US" sz="2200" dirty="0">
                <a:latin typeface="宋体" panose="02010600030101010101" pitchFamily="2" charset="-122"/>
                <a:ea typeface="宋体" panose="02010600030101010101" pitchFamily="2" charset="-122"/>
              </a:rPr>
              <a:t>仅仅只是声明端口。</a:t>
            </a:r>
            <a:endParaRPr lang="zh-CN" altLang="en-US"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b="1" dirty="0">
                <a:latin typeface="宋体" panose="02010600030101010101" pitchFamily="2" charset="-122"/>
                <a:ea typeface="宋体" panose="02010600030101010101" pitchFamily="2" charset="-122"/>
              </a:rPr>
              <a:t>作用：</a:t>
            </a:r>
            <a:endParaRPr lang="zh-CN" altLang="en-US" sz="2200" b="1"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帮助镜像使用者理解这个镜像服务的守护端口，以方便配置映射。</a:t>
            </a:r>
            <a:endParaRPr lang="zh-CN" altLang="en-US"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在运行时使用随机端口映射时，也就是 </a:t>
            </a:r>
            <a:r>
              <a:rPr lang="en-US" altLang="zh-CN" sz="2200" dirty="0">
                <a:latin typeface="宋体" panose="02010600030101010101" pitchFamily="2" charset="-122"/>
                <a:ea typeface="宋体" panose="02010600030101010101" pitchFamily="2" charset="-122"/>
              </a:rPr>
              <a:t>docker run -P </a:t>
            </a:r>
            <a:r>
              <a:rPr lang="zh-CN" altLang="en-US" sz="2200" dirty="0">
                <a:latin typeface="宋体" panose="02010600030101010101" pitchFamily="2" charset="-122"/>
                <a:ea typeface="宋体" panose="02010600030101010101" pitchFamily="2" charset="-122"/>
              </a:rPr>
              <a:t>时，会自动随机映射 </a:t>
            </a:r>
            <a:r>
              <a:rPr lang="en-US" altLang="zh-CN" sz="2200" dirty="0">
                <a:latin typeface="宋体" panose="02010600030101010101" pitchFamily="2" charset="-122"/>
                <a:ea typeface="宋体" panose="02010600030101010101" pitchFamily="2" charset="-122"/>
              </a:rPr>
              <a:t>EXPOSE </a:t>
            </a:r>
            <a:r>
              <a:rPr lang="zh-CN" altLang="en-US" sz="2200" dirty="0">
                <a:latin typeface="宋体" panose="02010600030101010101" pitchFamily="2" charset="-122"/>
                <a:ea typeface="宋体" panose="02010600030101010101" pitchFamily="2" charset="-122"/>
              </a:rPr>
              <a:t>的端口。</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200" b="1" dirty="0">
                <a:latin typeface="宋体" panose="02010600030101010101" pitchFamily="2" charset="-122"/>
                <a:ea typeface="宋体" panose="02010600030101010101" pitchFamily="2" charset="-122"/>
              </a:rPr>
              <a:t>其指令格式如下</a:t>
            </a:r>
            <a:r>
              <a:rPr lang="zh-CN" altLang="en-US" sz="2200" b="1"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EXPOSE &lt;</a:t>
            </a:r>
            <a:r>
              <a:rPr lang="zh-CN" altLang="zh-CN" sz="2200" dirty="0">
                <a:latin typeface="宋体" panose="02010600030101010101" pitchFamily="2" charset="-122"/>
                <a:ea typeface="宋体" panose="02010600030101010101" pitchFamily="2" charset="-122"/>
              </a:rPr>
              <a:t>端口</a:t>
            </a:r>
            <a:r>
              <a:rPr lang="en-US" altLang="zh-CN" sz="2200" dirty="0">
                <a:latin typeface="宋体" panose="02010600030101010101" pitchFamily="2" charset="-122"/>
                <a:ea typeface="宋体" panose="02010600030101010101" pitchFamily="2" charset="-122"/>
              </a:rPr>
              <a:t>1&gt; [&lt;</a:t>
            </a:r>
            <a:r>
              <a:rPr lang="zh-CN" altLang="zh-CN" sz="2200" dirty="0">
                <a:latin typeface="宋体" panose="02010600030101010101" pitchFamily="2" charset="-122"/>
                <a:ea typeface="宋体" panose="02010600030101010101" pitchFamily="2" charset="-122"/>
              </a:rPr>
              <a:t>端口</a:t>
            </a:r>
            <a:r>
              <a:rPr lang="en-US" altLang="zh-CN" sz="2200" dirty="0">
                <a:latin typeface="宋体" panose="02010600030101010101" pitchFamily="2" charset="-122"/>
                <a:ea typeface="宋体" panose="02010600030101010101" pitchFamily="2" charset="-122"/>
              </a:rPr>
              <a:t>2&gt;...]</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b="1" dirty="0">
                <a:latin typeface="宋体" panose="02010600030101010101" pitchFamily="2" charset="-122"/>
                <a:ea typeface="宋体" panose="02010600030101010101" pitchFamily="2" charset="-122"/>
              </a:rPr>
              <a:t>注意：</a:t>
            </a:r>
            <a:endParaRPr lang="en-US" altLang="zh-CN" sz="22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EXPOSE</a:t>
            </a:r>
            <a:r>
              <a:rPr lang="zh-CN" altLang="zh-CN" sz="2200" dirty="0">
                <a:latin typeface="宋体" panose="02010600030101010101" pitchFamily="2" charset="-122"/>
                <a:ea typeface="宋体" panose="02010600030101010101" pitchFamily="2" charset="-122"/>
              </a:rPr>
              <a:t>指令</a:t>
            </a:r>
            <a:r>
              <a:rPr lang="zh-CN" altLang="en-US" sz="2200" dirty="0">
                <a:latin typeface="宋体" panose="02010600030101010101" pitchFamily="2" charset="-122"/>
                <a:ea typeface="宋体" panose="02010600030101010101" pitchFamily="2" charset="-122"/>
              </a:rPr>
              <a:t>只是声明了容器应该打开的端口，实际上并没有打开该端口，在容器启动时，如果不要</a:t>
            </a:r>
            <a:r>
              <a:rPr lang="en-US" altLang="zh-CN" sz="2200" dirty="0">
                <a:latin typeface="宋体" panose="02010600030101010101" pitchFamily="2" charset="-122"/>
                <a:ea typeface="宋体" panose="02010600030101010101" pitchFamily="2" charset="-122"/>
              </a:rPr>
              <a:t>-p</a:t>
            </a:r>
            <a:r>
              <a:rPr lang="zh-CN" altLang="en-US" sz="2200" dirty="0">
                <a:latin typeface="宋体" panose="02010600030101010101" pitchFamily="2" charset="-122"/>
                <a:ea typeface="宋体" panose="02010600030101010101" pitchFamily="2" charset="-122"/>
              </a:rPr>
              <a:t>或</a:t>
            </a:r>
            <a:r>
              <a:rPr lang="en-US" altLang="zh-CN" sz="2200" dirty="0">
                <a:latin typeface="宋体" panose="02010600030101010101" pitchFamily="2" charset="-122"/>
                <a:ea typeface="宋体" panose="02010600030101010101" pitchFamily="2" charset="-122"/>
              </a:rPr>
              <a:t>-P</a:t>
            </a:r>
            <a:r>
              <a:rPr lang="zh-CN" altLang="en-US" sz="2200" dirty="0">
                <a:latin typeface="宋体" panose="02010600030101010101" pitchFamily="2" charset="-122"/>
                <a:ea typeface="宋体" panose="02010600030101010101" pitchFamily="2" charset="-122"/>
              </a:rPr>
              <a:t>指定映射的端口，则容器不会将端口映射出去，外部网络也就无法访问这些端口，只能被主机中其他容器访问。</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b="1" dirty="0">
                <a:latin typeface="宋体" panose="02010600030101010101" pitchFamily="2" charset="-122"/>
                <a:ea typeface="宋体" panose="02010600030101010101" pitchFamily="2" charset="-122"/>
              </a:rPr>
              <a:t>举例：</a:t>
            </a:r>
            <a:r>
              <a:rPr lang="en-US" altLang="zh-CN" sz="2200" dirty="0">
                <a:latin typeface="宋体" panose="02010600030101010101" pitchFamily="2" charset="-122"/>
                <a:ea typeface="宋体" panose="02010600030101010101" pitchFamily="2" charset="-122"/>
              </a:rPr>
              <a:t>EXPOSE 80</a:t>
            </a:r>
            <a:endParaRPr lang="en-US" altLang="zh-CN" sz="22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9" name="TextBox 2"/>
          <p:cNvSpPr txBox="1"/>
          <p:nvPr/>
        </p:nvSpPr>
        <p:spPr>
          <a:xfrm>
            <a:off x="496277" y="1637949"/>
            <a:ext cx="11695723" cy="5107167"/>
          </a:xfrm>
          <a:prstGeom prst="rect">
            <a:avLst/>
          </a:prstGeom>
          <a:noFill/>
        </p:spPr>
        <p:txBody>
          <a:bodyPr wrap="square" rtlCol="0">
            <a:spAutoFit/>
          </a:bodyPr>
          <a:lstStyle/>
          <a:p>
            <a:pPr>
              <a:lnSpc>
                <a:spcPct val="125000"/>
              </a:lnSpc>
            </a:pPr>
            <a:r>
              <a:rPr lang="en-US" altLang="zh-CN" sz="2400" b="1" dirty="0" err="1">
                <a:latin typeface="宋体" panose="02010600030101010101" pitchFamily="2" charset="-122"/>
                <a:ea typeface="宋体" panose="02010600030101010101" pitchFamily="2" charset="-122"/>
              </a:rPr>
              <a:t>Dockerfile</a:t>
            </a:r>
            <a:r>
              <a:rPr lang="zh-CN" altLang="zh-CN" sz="2400" b="1" dirty="0">
                <a:latin typeface="宋体" panose="02010600030101010101" pitchFamily="2" charset="-122"/>
                <a:ea typeface="宋体" panose="02010600030101010101" pitchFamily="2" charset="-122"/>
              </a:rPr>
              <a:t>的常用指令</a:t>
            </a:r>
            <a:endParaRPr lang="en-US" altLang="zh-CN" sz="2400" b="1" dirty="0">
              <a:latin typeface="宋体" panose="02010600030101010101" pitchFamily="2" charset="-122"/>
              <a:ea typeface="宋体" panose="02010600030101010101" pitchFamily="2" charset="-122"/>
            </a:endParaRPr>
          </a:p>
          <a:p>
            <a:pPr>
              <a:lnSpc>
                <a:spcPct val="125000"/>
              </a:lnSpc>
            </a:pPr>
            <a:r>
              <a:rPr lang="en-US" altLang="zh-CN" sz="2400" b="1" dirty="0">
                <a:latin typeface="宋体" panose="02010600030101010101" pitchFamily="2" charset="-122"/>
                <a:ea typeface="宋体" panose="02010600030101010101" pitchFamily="2" charset="-122"/>
              </a:rPr>
              <a:t>4</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CMD</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lvl="1">
              <a:lnSpc>
                <a:spcPct val="125000"/>
              </a:lnSpc>
            </a:pPr>
            <a:r>
              <a:rPr lang="en-US" altLang="zh-CN" sz="2400" dirty="0">
                <a:latin typeface="宋体" panose="02010600030101010101" pitchFamily="2" charset="-122"/>
                <a:ea typeface="宋体" panose="02010600030101010101" pitchFamily="2" charset="-122"/>
              </a:rPr>
              <a:t>CMD</a:t>
            </a:r>
            <a:r>
              <a:rPr lang="zh-CN" altLang="zh-CN" sz="2400" dirty="0">
                <a:latin typeface="宋体" panose="02010600030101010101" pitchFamily="2" charset="-122"/>
                <a:ea typeface="宋体" panose="02010600030101010101" pitchFamily="2" charset="-122"/>
              </a:rPr>
              <a:t>指令与</a:t>
            </a:r>
            <a:r>
              <a:rPr lang="en-US" altLang="zh-CN" sz="2400" dirty="0">
                <a:latin typeface="宋体" panose="02010600030101010101" pitchFamily="2" charset="-122"/>
                <a:ea typeface="宋体" panose="02010600030101010101" pitchFamily="2" charset="-122"/>
              </a:rPr>
              <a:t>RUN</a:t>
            </a:r>
            <a:r>
              <a:rPr lang="zh-CN" altLang="zh-CN" sz="2400" dirty="0">
                <a:latin typeface="宋体" panose="02010600030101010101" pitchFamily="2" charset="-122"/>
                <a:ea typeface="宋体" panose="02010600030101010101" pitchFamily="2" charset="-122"/>
              </a:rPr>
              <a:t>指令基本相似，其指令格式如下。</a:t>
            </a:r>
            <a:endParaRPr lang="zh-CN" altLang="zh-CN" sz="2400" dirty="0">
              <a:latin typeface="宋体" panose="02010600030101010101" pitchFamily="2" charset="-122"/>
              <a:ea typeface="宋体" panose="02010600030101010101" pitchFamily="2" charset="-122"/>
            </a:endParaRPr>
          </a:p>
          <a:p>
            <a:pPr lvl="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CMD ["executable","param1","param2"]</a:t>
            </a:r>
            <a:endParaRPr lang="en-US" altLang="zh-CN" sz="2400" dirty="0">
              <a:latin typeface="宋体" panose="02010600030101010101" pitchFamily="2" charset="-122"/>
              <a:ea typeface="宋体" panose="02010600030101010101" pitchFamily="2" charset="-122"/>
            </a:endParaRPr>
          </a:p>
          <a:p>
            <a:pPr lvl="1">
              <a:lnSpc>
                <a:spcPct val="125000"/>
              </a:lnSpc>
            </a:pPr>
            <a:r>
              <a:rPr lang="en-US" altLang="zh-CN" sz="2400" dirty="0">
                <a:solidFill>
                  <a:srgbClr val="880000"/>
                </a:solidFill>
                <a:latin typeface="宋体" panose="02010600030101010101" pitchFamily="2" charset="-122"/>
                <a:ea typeface="宋体" panose="02010600030101010101" pitchFamily="2" charset="-122"/>
              </a:rPr>
              <a:t>		</a:t>
            </a:r>
            <a:r>
              <a:rPr lang="zh-CN" altLang="en-US" sz="2400" dirty="0">
                <a:solidFill>
                  <a:srgbClr val="880000"/>
                </a:solidFill>
                <a:latin typeface="宋体" panose="02010600030101010101" pitchFamily="2" charset="-122"/>
                <a:ea typeface="宋体" panose="02010600030101010101" pitchFamily="2" charset="-122"/>
              </a:rPr>
              <a:t>例如：</a:t>
            </a:r>
            <a:r>
              <a:rPr lang="zh-CN" altLang="zh-CN" sz="2400" dirty="0">
                <a:solidFill>
                  <a:srgbClr val="880000"/>
                </a:solidFill>
                <a:latin typeface="宋体" panose="02010600030101010101" pitchFamily="2" charset="-122"/>
                <a:ea typeface="宋体" panose="02010600030101010101" pitchFamily="2" charset="-122"/>
              </a:rPr>
              <a:t># RUN ["</a:t>
            </a:r>
            <a:r>
              <a:rPr lang="en-US" altLang="zh-CN" sz="2400" dirty="0">
                <a:solidFill>
                  <a:srgbClr val="880000"/>
                </a:solidFill>
                <a:latin typeface="宋体" panose="02010600030101010101" pitchFamily="2" charset="-122"/>
                <a:ea typeface="宋体" panose="02010600030101010101" pitchFamily="2" charset="-122"/>
              </a:rPr>
              <a:t>/bin/</a:t>
            </a:r>
            <a:r>
              <a:rPr lang="en-US" altLang="zh-CN" sz="2400" dirty="0" err="1">
                <a:solidFill>
                  <a:srgbClr val="880000"/>
                </a:solidFill>
                <a:latin typeface="宋体" panose="02010600030101010101" pitchFamily="2" charset="-122"/>
                <a:ea typeface="宋体" panose="02010600030101010101" pitchFamily="2" charset="-122"/>
              </a:rPr>
              <a:t>sh</a:t>
            </a:r>
            <a:r>
              <a:rPr lang="zh-CN" altLang="zh-CN" sz="2400" dirty="0">
                <a:solidFill>
                  <a:srgbClr val="880000"/>
                </a:solidFill>
                <a:latin typeface="宋体" panose="02010600030101010101" pitchFamily="2" charset="-122"/>
                <a:ea typeface="宋体" panose="02010600030101010101" pitchFamily="2" charset="-122"/>
              </a:rPr>
              <a:t>", </a:t>
            </a:r>
            <a:r>
              <a:rPr lang="zh-CN" altLang="en-US" sz="2400" dirty="0">
                <a:solidFill>
                  <a:srgbClr val="880000"/>
                </a:solidFill>
                <a:latin typeface="宋体" panose="02010600030101010101" pitchFamily="2" charset="-122"/>
                <a:ea typeface="宋体" panose="02010600030101010101" pitchFamily="2" charset="-122"/>
              </a:rPr>
              <a:t>“</a:t>
            </a:r>
            <a:r>
              <a:rPr lang="en-US" altLang="zh-CN" sz="2400" dirty="0">
                <a:solidFill>
                  <a:srgbClr val="880000"/>
                </a:solidFill>
                <a:latin typeface="宋体" panose="02010600030101010101" pitchFamily="2" charset="-122"/>
                <a:ea typeface="宋体" panose="02010600030101010101" pitchFamily="2" charset="-122"/>
              </a:rPr>
              <a:t>-c</a:t>
            </a:r>
            <a:r>
              <a:rPr lang="zh-CN" altLang="zh-CN" sz="2400" dirty="0">
                <a:solidFill>
                  <a:srgbClr val="880000"/>
                </a:solidFill>
                <a:latin typeface="宋体" panose="02010600030101010101" pitchFamily="2" charset="-122"/>
                <a:ea typeface="宋体" panose="02010600030101010101" pitchFamily="2" charset="-122"/>
              </a:rPr>
              <a:t>", "</a:t>
            </a:r>
            <a:r>
              <a:rPr lang="en-US" altLang="zh-CN" sz="2400" dirty="0">
                <a:solidFill>
                  <a:srgbClr val="880000"/>
                </a:solidFill>
                <a:latin typeface="宋体" panose="02010600030101010101" pitchFamily="2" charset="-122"/>
                <a:ea typeface="宋体" panose="02010600030101010101" pitchFamily="2" charset="-122"/>
              </a:rPr>
              <a:t>echo hello</a:t>
            </a:r>
            <a:r>
              <a:rPr lang="zh-CN" altLang="zh-CN" sz="2400" dirty="0">
                <a:solidFill>
                  <a:srgbClr val="880000"/>
                </a:solidFill>
                <a:latin typeface="宋体" panose="02010600030101010101" pitchFamily="2" charset="-122"/>
                <a:ea typeface="宋体" panose="02010600030101010101" pitchFamily="2" charset="-122"/>
              </a:rPr>
              <a:t>"]</a:t>
            </a:r>
            <a:endParaRPr lang="zh-CN" altLang="zh-CN" sz="2400" dirty="0">
              <a:latin typeface="宋体" panose="02010600030101010101" pitchFamily="2" charset="-122"/>
              <a:ea typeface="宋体" panose="02010600030101010101" pitchFamily="2" charset="-122"/>
            </a:endParaRPr>
          </a:p>
          <a:p>
            <a:pPr lvl="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CMD ["param1","param2"] </a:t>
            </a:r>
            <a:endParaRPr lang="en-US" altLang="zh-CN" sz="2400" dirty="0">
              <a:latin typeface="宋体" panose="02010600030101010101" pitchFamily="2" charset="-122"/>
              <a:ea typeface="宋体" panose="02010600030101010101" pitchFamily="2" charset="-122"/>
            </a:endParaRPr>
          </a:p>
          <a:p>
            <a:pPr lvl="1">
              <a:lnSpc>
                <a:spcPct val="125000"/>
              </a:lnSpc>
            </a:pPr>
            <a:r>
              <a:rPr lang="en-US" altLang="zh-CN" sz="2400" dirty="0">
                <a:solidFill>
                  <a:srgbClr val="880000"/>
                </a:solidFill>
                <a:latin typeface="宋体" panose="02010600030101010101" pitchFamily="2" charset="-122"/>
                <a:ea typeface="宋体" panose="02010600030101010101" pitchFamily="2" charset="-122"/>
              </a:rPr>
              <a:t>		</a:t>
            </a:r>
            <a:r>
              <a:rPr lang="zh-CN" altLang="zh-CN" sz="2400" dirty="0">
                <a:solidFill>
                  <a:srgbClr val="880000"/>
                </a:solidFill>
                <a:latin typeface="宋体" panose="02010600030101010101" pitchFamily="2" charset="-122"/>
                <a:ea typeface="宋体" panose="02010600030101010101" pitchFamily="2" charset="-122"/>
              </a:rPr>
              <a:t>该写法是为 ENTRYPOINT 指令指定的程序提供默认参数</a:t>
            </a:r>
            <a:r>
              <a:rPr lang="zh-CN" altLang="zh-CN" sz="2400" dirty="0">
                <a:latin typeface="宋体" panose="02010600030101010101" pitchFamily="2" charset="-122"/>
                <a:ea typeface="宋体" panose="02010600030101010101" pitchFamily="2" charset="-122"/>
              </a:rPr>
              <a:t> </a:t>
            </a:r>
            <a:endParaRPr lang="zh-CN" altLang="zh-CN" sz="2400" dirty="0">
              <a:latin typeface="宋体" panose="02010600030101010101" pitchFamily="2" charset="-122"/>
              <a:ea typeface="宋体" panose="02010600030101010101" pitchFamily="2" charset="-122"/>
            </a:endParaRPr>
          </a:p>
          <a:p>
            <a:pPr lvl="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CMD command param1 param2</a:t>
            </a:r>
            <a:endParaRPr lang="en-US" altLang="zh-CN" sz="2400" dirty="0">
              <a:latin typeface="宋体" panose="02010600030101010101" pitchFamily="2" charset="-122"/>
              <a:ea typeface="宋体" panose="02010600030101010101" pitchFamily="2" charset="-122"/>
            </a:endParaRPr>
          </a:p>
          <a:p>
            <a:pPr lvl="1">
              <a:lnSpc>
                <a:spcPct val="125000"/>
              </a:lnSpc>
            </a:pPr>
            <a:r>
              <a:rPr lang="en-US" altLang="zh-CN" sz="2400" dirty="0">
                <a:latin typeface="宋体" panose="02010600030101010101" pitchFamily="2" charset="-122"/>
                <a:ea typeface="宋体" panose="02010600030101010101" pitchFamily="2" charset="-122"/>
              </a:rPr>
              <a:t>		</a:t>
            </a:r>
            <a:r>
              <a:rPr lang="zh-CN" altLang="zh-CN" sz="2400" dirty="0">
                <a:solidFill>
                  <a:srgbClr val="880000"/>
                </a:solidFill>
                <a:latin typeface="宋体" panose="02010600030101010101" pitchFamily="2" charset="-122"/>
                <a:ea typeface="宋体" panose="02010600030101010101" pitchFamily="2" charset="-122"/>
              </a:rPr>
              <a:t>该写法是</a:t>
            </a:r>
            <a:r>
              <a:rPr lang="zh-CN" altLang="en-US" sz="2400" dirty="0">
                <a:solidFill>
                  <a:srgbClr val="880000"/>
                </a:solidFill>
                <a:latin typeface="宋体" panose="02010600030101010101" pitchFamily="2" charset="-122"/>
                <a:ea typeface="宋体" panose="02010600030101010101" pitchFamily="2" charset="-122"/>
              </a:rPr>
              <a:t>以“</a:t>
            </a:r>
            <a:r>
              <a:rPr lang="en-US" altLang="zh-CN" sz="2400" dirty="0">
                <a:solidFill>
                  <a:srgbClr val="880000"/>
                </a:solidFill>
                <a:latin typeface="宋体" panose="02010600030101010101" pitchFamily="2" charset="-122"/>
                <a:ea typeface="宋体" panose="02010600030101010101" pitchFamily="2" charset="-122"/>
              </a:rPr>
              <a:t>/bin/</a:t>
            </a:r>
            <a:r>
              <a:rPr lang="en-US" altLang="zh-CN" sz="2400" dirty="0" err="1">
                <a:solidFill>
                  <a:srgbClr val="880000"/>
                </a:solidFill>
                <a:latin typeface="宋体" panose="02010600030101010101" pitchFamily="2" charset="-122"/>
                <a:ea typeface="宋体" panose="02010600030101010101" pitchFamily="2" charset="-122"/>
              </a:rPr>
              <a:t>sh</a:t>
            </a:r>
            <a:r>
              <a:rPr lang="en-US" altLang="zh-CN" sz="2400" dirty="0">
                <a:solidFill>
                  <a:srgbClr val="880000"/>
                </a:solidFill>
                <a:latin typeface="宋体" panose="02010600030101010101" pitchFamily="2" charset="-122"/>
                <a:ea typeface="宋体" panose="02010600030101010101" pitchFamily="2" charset="-122"/>
              </a:rPr>
              <a:t> -c</a:t>
            </a:r>
            <a:r>
              <a:rPr lang="zh-CN" altLang="en-US" sz="2400" dirty="0">
                <a:solidFill>
                  <a:srgbClr val="880000"/>
                </a:solidFill>
                <a:latin typeface="宋体" panose="02010600030101010101" pitchFamily="2" charset="-122"/>
                <a:ea typeface="宋体" panose="02010600030101010101" pitchFamily="2" charset="-122"/>
              </a:rPr>
              <a:t>”的方法执行</a:t>
            </a:r>
            <a:endParaRPr lang="en-US" altLang="zh-CN" sz="2400" dirty="0">
              <a:solidFill>
                <a:srgbClr val="880000"/>
              </a:solidFill>
              <a:latin typeface="宋体" panose="02010600030101010101" pitchFamily="2" charset="-122"/>
              <a:ea typeface="宋体" panose="02010600030101010101" pitchFamily="2" charset="-122"/>
            </a:endParaRPr>
          </a:p>
          <a:p>
            <a:pPr lvl="1">
              <a:lnSpc>
                <a:spcPct val="125000"/>
              </a:lnSpc>
            </a:pPr>
            <a:r>
              <a:rPr lang="zh-CN" altLang="en-US" sz="2400" dirty="0">
                <a:latin typeface="宋体" panose="02010600030101010101" pitchFamily="2" charset="-122"/>
                <a:ea typeface="宋体" panose="02010600030101010101" pitchFamily="2" charset="-122"/>
              </a:rPr>
              <a:t>推荐使用第一种格式，执行过程比较明确。第三种格式实际上在运行的过程中也会自动转换成第一种格式运行，并且默认可执行文件是 </a:t>
            </a:r>
            <a:r>
              <a:rPr lang="en-US" altLang="zh-CN" sz="2400" dirty="0" err="1">
                <a:latin typeface="宋体" panose="02010600030101010101" pitchFamily="2" charset="-122"/>
                <a:ea typeface="宋体" panose="02010600030101010101" pitchFamily="2" charset="-122"/>
              </a:rPr>
              <a:t>sh</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200167" y="1680037"/>
            <a:ext cx="12101015" cy="5545749"/>
          </a:xfrm>
          <a:prstGeom prst="rect">
            <a:avLst/>
          </a:prstGeom>
          <a:noFill/>
        </p:spPr>
        <p:txBody>
          <a:bodyPr wrap="square" rtlCol="0">
            <a:spAutoFit/>
          </a:bodyPr>
          <a:lstStyle/>
          <a:p>
            <a:pPr algn="just">
              <a:lnSpc>
                <a:spcPct val="150000"/>
              </a:lnSpc>
            </a:pPr>
            <a:r>
              <a:rPr lang="en-US" altLang="zh-CN" sz="2400" b="1" dirty="0">
                <a:latin typeface="宋体" panose="02010600030101010101" pitchFamily="2" charset="-122"/>
                <a:ea typeface="宋体" panose="02010600030101010101" pitchFamily="2" charset="-122"/>
              </a:rPr>
              <a:t>4</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CMD</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algn="just" latinLnBrk="1"/>
            <a:r>
              <a:rPr lang="zh-CN" altLang="en-US" sz="2400" dirty="0">
                <a:latin typeface="宋体" panose="02010600030101010101" pitchFamily="2" charset="-122"/>
                <a:ea typeface="宋体" panose="02010600030101010101" pitchFamily="2" charset="-122"/>
              </a:rPr>
              <a:t>类似于 </a:t>
            </a:r>
            <a:r>
              <a:rPr lang="en-US" altLang="zh-CN" sz="2400" dirty="0">
                <a:latin typeface="宋体" panose="02010600030101010101" pitchFamily="2" charset="-122"/>
                <a:ea typeface="宋体" panose="02010600030101010101" pitchFamily="2" charset="-122"/>
              </a:rPr>
              <a:t>RUN </a:t>
            </a:r>
            <a:r>
              <a:rPr lang="zh-CN" altLang="en-US" sz="2400" dirty="0">
                <a:latin typeface="宋体" panose="02010600030101010101" pitchFamily="2" charset="-122"/>
                <a:ea typeface="宋体" panose="02010600030101010101" pitchFamily="2" charset="-122"/>
              </a:rPr>
              <a:t>指令，用于运行程序，但二者运行的时间点不同</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lvl="1" algn="just">
              <a:lnSpc>
                <a:spcPct val="150000"/>
              </a:lnSpc>
            </a:pPr>
            <a:r>
              <a:rPr lang="en-US" altLang="zh-CN" sz="2400" dirty="0">
                <a:solidFill>
                  <a:srgbClr val="880000"/>
                </a:solidFill>
                <a:latin typeface="宋体" panose="02010600030101010101" pitchFamily="2" charset="-122"/>
                <a:ea typeface="宋体" panose="02010600030101010101" pitchFamily="2" charset="-122"/>
              </a:rPr>
              <a:t>CMD </a:t>
            </a:r>
            <a:r>
              <a:rPr lang="zh-CN" altLang="en-US" sz="2400" dirty="0">
                <a:solidFill>
                  <a:srgbClr val="880000"/>
                </a:solidFill>
                <a:latin typeface="宋体" panose="02010600030101010101" pitchFamily="2" charset="-122"/>
                <a:ea typeface="宋体" panose="02010600030101010101" pitchFamily="2" charset="-122"/>
              </a:rPr>
              <a:t>在</a:t>
            </a:r>
            <a:r>
              <a:rPr lang="en-US" altLang="zh-CN" sz="2400" dirty="0">
                <a:solidFill>
                  <a:srgbClr val="880000"/>
                </a:solidFill>
                <a:latin typeface="宋体" panose="02010600030101010101" pitchFamily="2" charset="-122"/>
                <a:ea typeface="宋体" panose="02010600030101010101" pitchFamily="2" charset="-122"/>
              </a:rPr>
              <a:t>docker run </a:t>
            </a:r>
            <a:r>
              <a:rPr lang="zh-CN" altLang="en-US" sz="2400" dirty="0">
                <a:solidFill>
                  <a:srgbClr val="880000"/>
                </a:solidFill>
                <a:latin typeface="宋体" panose="02010600030101010101" pitchFamily="2" charset="-122"/>
                <a:ea typeface="宋体" panose="02010600030101010101" pitchFamily="2" charset="-122"/>
              </a:rPr>
              <a:t>时运行。</a:t>
            </a:r>
            <a:endParaRPr lang="zh-CN" altLang="en-US" sz="2400" dirty="0">
              <a:solidFill>
                <a:srgbClr val="880000"/>
              </a:solidFill>
              <a:latin typeface="宋体" panose="02010600030101010101" pitchFamily="2" charset="-122"/>
              <a:ea typeface="宋体" panose="02010600030101010101" pitchFamily="2" charset="-122"/>
            </a:endParaRPr>
          </a:p>
          <a:p>
            <a:pPr lvl="1" algn="just">
              <a:lnSpc>
                <a:spcPct val="150000"/>
              </a:lnSpc>
            </a:pPr>
            <a:r>
              <a:rPr lang="en-US" altLang="zh-CN" sz="2400" dirty="0">
                <a:solidFill>
                  <a:srgbClr val="880000"/>
                </a:solidFill>
                <a:latin typeface="宋体" panose="02010600030101010101" pitchFamily="2" charset="-122"/>
                <a:ea typeface="宋体" panose="02010600030101010101" pitchFamily="2" charset="-122"/>
              </a:rPr>
              <a:t>RUN </a:t>
            </a:r>
            <a:r>
              <a:rPr lang="zh-CN" altLang="en-US" sz="2400" dirty="0">
                <a:solidFill>
                  <a:srgbClr val="880000"/>
                </a:solidFill>
                <a:latin typeface="宋体" panose="02010600030101010101" pitchFamily="2" charset="-122"/>
                <a:ea typeface="宋体" panose="02010600030101010101" pitchFamily="2" charset="-122"/>
              </a:rPr>
              <a:t>是在 </a:t>
            </a:r>
            <a:r>
              <a:rPr lang="en-US" altLang="zh-CN" sz="2400" dirty="0">
                <a:solidFill>
                  <a:srgbClr val="880000"/>
                </a:solidFill>
                <a:latin typeface="宋体" panose="02010600030101010101" pitchFamily="2" charset="-122"/>
                <a:ea typeface="宋体" panose="02010600030101010101" pitchFamily="2" charset="-122"/>
              </a:rPr>
              <a:t>docker build</a:t>
            </a:r>
            <a:r>
              <a:rPr lang="zh-CN" altLang="en-US" sz="2400" dirty="0">
                <a:solidFill>
                  <a:srgbClr val="880000"/>
                </a:solidFill>
                <a:latin typeface="宋体" panose="02010600030101010101" pitchFamily="2" charset="-122"/>
                <a:ea typeface="宋体" panose="02010600030101010101" pitchFamily="2" charset="-122"/>
              </a:rPr>
              <a:t>。</a:t>
            </a:r>
            <a:endParaRPr lang="zh-CN" altLang="en-US" sz="2400" dirty="0">
              <a:solidFill>
                <a:srgbClr val="880000"/>
              </a:solidFill>
              <a:latin typeface="宋体" panose="02010600030101010101" pitchFamily="2" charset="-122"/>
              <a:ea typeface="宋体" panose="02010600030101010101" pitchFamily="2" charset="-122"/>
            </a:endParaRPr>
          </a:p>
          <a:p>
            <a:pPr algn="just" latinLnBrk="1"/>
            <a:r>
              <a:rPr lang="zh-CN" altLang="en-US" sz="2400" dirty="0">
                <a:solidFill>
                  <a:srgbClr val="880000"/>
                </a:solidFill>
                <a:latin typeface="宋体" panose="02010600030101010101" pitchFamily="2" charset="-122"/>
                <a:ea typeface="宋体" panose="02010600030101010101" pitchFamily="2" charset="-122"/>
              </a:rPr>
              <a:t>   作用：</a:t>
            </a:r>
            <a:r>
              <a:rPr lang="zh-CN" altLang="en-US" sz="2400" dirty="0">
                <a:latin typeface="宋体" panose="02010600030101010101" pitchFamily="2" charset="-122"/>
                <a:ea typeface="宋体" panose="02010600030101010101" pitchFamily="2" charset="-122"/>
              </a:rPr>
              <a:t>为启动的容器指定默认要运行的程序，程序运行结束，容器也就结束。</a:t>
            </a:r>
            <a:r>
              <a:rPr lang="en-US" altLang="zh-CN" sz="2400" dirty="0">
                <a:latin typeface="宋体" panose="02010600030101010101" pitchFamily="2" charset="-122"/>
                <a:ea typeface="宋体" panose="02010600030101010101" pitchFamily="2" charset="-122"/>
              </a:rPr>
              <a:t>CMD </a:t>
            </a:r>
            <a:r>
              <a:rPr lang="zh-CN" altLang="en-US" sz="2400" dirty="0">
                <a:latin typeface="宋体" panose="02010600030101010101" pitchFamily="2" charset="-122"/>
                <a:ea typeface="宋体" panose="02010600030101010101" pitchFamily="2" charset="-122"/>
              </a:rPr>
              <a:t>指令指定的程序可被 </a:t>
            </a:r>
            <a:r>
              <a:rPr lang="en-US" altLang="zh-CN" sz="2400" dirty="0">
                <a:latin typeface="宋体" panose="02010600030101010101" pitchFamily="2" charset="-122"/>
                <a:ea typeface="宋体" panose="02010600030101010101" pitchFamily="2" charset="-122"/>
              </a:rPr>
              <a:t>docker run </a:t>
            </a:r>
            <a:r>
              <a:rPr lang="zh-CN" altLang="en-US" sz="2400" dirty="0">
                <a:latin typeface="宋体" panose="02010600030101010101" pitchFamily="2" charset="-122"/>
                <a:ea typeface="宋体" panose="02010600030101010101" pitchFamily="2" charset="-122"/>
              </a:rPr>
              <a:t>命令行参数中指定要运行的程序所覆盖。</a:t>
            </a:r>
            <a:endParaRPr lang="en-US" altLang="zh-CN" sz="3200" dirty="0">
              <a:solidFill>
                <a:srgbClr val="880000"/>
              </a:solidFill>
              <a:latin typeface="宋体" panose="02010600030101010101" pitchFamily="2" charset="-122"/>
              <a:ea typeface="宋体" panose="02010600030101010101" pitchFamily="2" charset="-122"/>
            </a:endParaRPr>
          </a:p>
          <a:p>
            <a:pPr lvl="1" algn="just">
              <a:lnSpc>
                <a:spcPct val="150000"/>
              </a:lnSpc>
            </a:pPr>
            <a:r>
              <a:rPr lang="zh-CN" altLang="en-US" sz="2400" dirty="0">
                <a:solidFill>
                  <a:srgbClr val="880000"/>
                </a:solidFill>
                <a:latin typeface="宋体" panose="02010600030101010101" pitchFamily="2" charset="-122"/>
                <a:ea typeface="宋体" panose="02010600030101010101" pitchFamily="2" charset="-122"/>
              </a:rPr>
              <a:t>注意：</a:t>
            </a:r>
            <a:endParaRPr lang="en-US" altLang="zh-CN" sz="2400" dirty="0">
              <a:solidFill>
                <a:srgbClr val="880000"/>
              </a:solidFill>
              <a:latin typeface="宋体" panose="02010600030101010101" pitchFamily="2" charset="-122"/>
              <a:ea typeface="宋体" panose="02010600030101010101" pitchFamily="2" charset="-122"/>
            </a:endParaRPr>
          </a:p>
          <a:p>
            <a:pPr lvl="1" algn="just">
              <a:lnSpc>
                <a:spcPct val="150000"/>
              </a:lnSpc>
            </a:pP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、在一个</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文件中可以同时出现多次</a:t>
            </a:r>
            <a:r>
              <a:rPr lang="en-US" altLang="zh-CN" sz="2400" dirty="0">
                <a:latin typeface="宋体" panose="02010600030101010101" pitchFamily="2" charset="-122"/>
                <a:ea typeface="宋体" panose="02010600030101010101" pitchFamily="2" charset="-122"/>
              </a:rPr>
              <a:t>CMD</a:t>
            </a:r>
            <a:r>
              <a:rPr lang="zh-CN" altLang="en-US" sz="2400" dirty="0">
                <a:latin typeface="宋体" panose="02010600030101010101" pitchFamily="2" charset="-122"/>
                <a:ea typeface="宋体" panose="02010600030101010101" pitchFamily="2" charset="-122"/>
              </a:rPr>
              <a:t>指令，但只有最后一条</a:t>
            </a:r>
            <a:r>
              <a:rPr lang="en-US" altLang="zh-CN" sz="2400" dirty="0">
                <a:latin typeface="宋体" panose="02010600030101010101" pitchFamily="2" charset="-122"/>
                <a:ea typeface="宋体" panose="02010600030101010101" pitchFamily="2" charset="-122"/>
              </a:rPr>
              <a:t>CMD</a:t>
            </a:r>
            <a:r>
              <a:rPr lang="zh-CN" altLang="en-US" sz="2400" dirty="0">
                <a:latin typeface="宋体" panose="02010600030101010101" pitchFamily="2" charset="-122"/>
                <a:ea typeface="宋体" panose="02010600030101010101" pitchFamily="2" charset="-122"/>
              </a:rPr>
              <a:t>指令生效。</a:t>
            </a:r>
            <a:endParaRPr lang="en-US" altLang="zh-CN" sz="2400" dirty="0">
              <a:latin typeface="宋体" panose="02010600030101010101" pitchFamily="2" charset="-122"/>
              <a:ea typeface="宋体" panose="02010600030101010101" pitchFamily="2" charset="-122"/>
            </a:endParaRPr>
          </a:p>
          <a:p>
            <a:pPr lvl="1" algn="just">
              <a:lnSpc>
                <a:spcPct val="150000"/>
              </a:lnSpc>
            </a:pP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CMD</a:t>
            </a:r>
            <a:r>
              <a:rPr lang="zh-CN" altLang="en-US" sz="2400" dirty="0">
                <a:latin typeface="宋体" panose="02010600030101010101" pitchFamily="2" charset="-122"/>
                <a:ea typeface="宋体" panose="02010600030101010101" pitchFamily="2" charset="-122"/>
              </a:rPr>
              <a:t>中只能使用双引号，不能使用单引号。</a:t>
            </a:r>
            <a:endParaRPr lang="en-US" altLang="zh-CN" sz="2400" dirty="0">
              <a:latin typeface="宋体" panose="02010600030101010101" pitchFamily="2" charset="-122"/>
              <a:ea typeface="宋体" panose="02010600030101010101" pitchFamily="2" charset="-122"/>
            </a:endParaRPr>
          </a:p>
          <a:p>
            <a:pPr lvl="1" algn="just">
              <a:lnSpc>
                <a:spcPct val="150000"/>
              </a:lnSpc>
            </a:pPr>
            <a:r>
              <a:rPr lang="zh-CN" altLang="en-US" sz="2400" dirty="0">
                <a:solidFill>
                  <a:srgbClr val="880000"/>
                </a:solidFill>
                <a:latin typeface="宋体" panose="02010600030101010101" pitchFamily="2" charset="-122"/>
                <a:ea typeface="宋体" panose="02010600030101010101" pitchFamily="2" charset="-122"/>
              </a:rPr>
              <a:t>举例：</a:t>
            </a:r>
            <a:r>
              <a:rPr lang="en-US" altLang="zh-CN" sz="2400" dirty="0">
                <a:latin typeface="宋体" panose="02010600030101010101" pitchFamily="2" charset="-122"/>
                <a:ea typeface="宋体" panose="02010600030101010101" pitchFamily="2" charset="-122"/>
              </a:rPr>
              <a:t>CMD [“</a:t>
            </a:r>
            <a:r>
              <a:rPr lang="en-US" altLang="zh-CN" sz="2400" dirty="0" err="1">
                <a:latin typeface="宋体" panose="02010600030101010101" pitchFamily="2" charset="-122"/>
                <a:ea typeface="宋体" panose="02010600030101010101" pitchFamily="2" charset="-122"/>
              </a:rPr>
              <a:t>httpd</a:t>
            </a:r>
            <a:r>
              <a:rPr lang="en-US" altLang="zh-CN" sz="2400" dirty="0">
                <a:latin typeface="宋体" panose="02010600030101010101" pitchFamily="2" charset="-122"/>
                <a:ea typeface="宋体" panose="02010600030101010101" pitchFamily="2" charset="-122"/>
              </a:rPr>
              <a:t>”, “-D”]</a:t>
            </a:r>
            <a:endParaRPr lang="en-US" altLang="zh-CN" sz="2400" dirty="0">
              <a:latin typeface="宋体" panose="02010600030101010101" pitchFamily="2" charset="-122"/>
              <a:ea typeface="宋体" panose="02010600030101010101" pitchFamily="2" charset="-122"/>
            </a:endParaRPr>
          </a:p>
          <a:p>
            <a:pPr lvl="1" algn="just">
              <a:lnSpc>
                <a:spcPct val="150000"/>
              </a:lnSpc>
            </a:pP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213815" y="1625798"/>
            <a:ext cx="12091508" cy="5007589"/>
          </a:xfrm>
          <a:prstGeom prst="rect">
            <a:avLst/>
          </a:prstGeom>
          <a:noFill/>
        </p:spPr>
        <p:txBody>
          <a:bodyPr wrap="square" rtlCol="0">
            <a:spAutoFit/>
          </a:bodyPr>
          <a:lstStyle/>
          <a:p>
            <a:pPr indent="720090" algn="just">
              <a:lnSpc>
                <a:spcPct val="125000"/>
              </a:lnSpc>
            </a:pPr>
            <a:r>
              <a:rPr lang="en-US" altLang="zh-CN" sz="2400" b="1" dirty="0">
                <a:latin typeface="宋体" panose="02010600030101010101" pitchFamily="2" charset="-122"/>
                <a:ea typeface="宋体" panose="02010600030101010101" pitchFamily="2" charset="-122"/>
              </a:rPr>
              <a:t>5</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ENTRYPOINT</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latin typeface="宋体" panose="02010600030101010101" pitchFamily="2" charset="-122"/>
                <a:ea typeface="宋体" panose="02010600030101010101" pitchFamily="2" charset="-122"/>
              </a:rPr>
              <a:t>类似于 </a:t>
            </a:r>
            <a:r>
              <a:rPr lang="en-US" altLang="zh-CN" sz="2400" dirty="0">
                <a:latin typeface="宋体" panose="02010600030101010101" pitchFamily="2" charset="-122"/>
                <a:ea typeface="宋体" panose="02010600030101010101" pitchFamily="2" charset="-122"/>
              </a:rPr>
              <a:t>CMD </a:t>
            </a:r>
            <a:r>
              <a:rPr lang="zh-CN" altLang="en-US" sz="2400" dirty="0">
                <a:latin typeface="宋体" panose="02010600030101010101" pitchFamily="2" charset="-122"/>
                <a:ea typeface="宋体" panose="02010600030101010101" pitchFamily="2" charset="-122"/>
              </a:rPr>
              <a:t>指令，但其不会被 </a:t>
            </a:r>
            <a:r>
              <a:rPr lang="en-US" altLang="zh-CN" sz="2400" dirty="0">
                <a:latin typeface="宋体" panose="02010600030101010101" pitchFamily="2" charset="-122"/>
                <a:ea typeface="宋体" panose="02010600030101010101" pitchFamily="2" charset="-122"/>
              </a:rPr>
              <a:t>docker run </a:t>
            </a:r>
            <a:r>
              <a:rPr lang="zh-CN" altLang="en-US" sz="2400" dirty="0">
                <a:latin typeface="宋体" panose="02010600030101010101" pitchFamily="2" charset="-122"/>
                <a:ea typeface="宋体" panose="02010600030101010101" pitchFamily="2" charset="-122"/>
              </a:rPr>
              <a:t>的命令行参数指定的指令所覆盖，而且这些命令行参数会被当作参数送给 </a:t>
            </a:r>
            <a:r>
              <a:rPr lang="en-US" altLang="zh-CN" sz="2400" dirty="0">
                <a:latin typeface="宋体" panose="02010600030101010101" pitchFamily="2" charset="-122"/>
                <a:ea typeface="宋体" panose="02010600030101010101" pitchFamily="2" charset="-122"/>
              </a:rPr>
              <a:t>ENTRYPOINT </a:t>
            </a:r>
            <a:r>
              <a:rPr lang="zh-CN" altLang="en-US" sz="2400" dirty="0">
                <a:latin typeface="宋体" panose="02010600030101010101" pitchFamily="2" charset="-122"/>
                <a:ea typeface="宋体" panose="02010600030101010101" pitchFamily="2" charset="-122"/>
              </a:rPr>
              <a:t>指令指定的程序。</a:t>
            </a:r>
            <a:endParaRPr lang="zh-CN" altLang="en-US"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latin typeface="宋体" panose="02010600030101010101" pitchFamily="2" charset="-122"/>
                <a:ea typeface="宋体" panose="02010600030101010101" pitchFamily="2" charset="-122"/>
              </a:rPr>
              <a:t>但是</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如果运行 </a:t>
            </a:r>
            <a:r>
              <a:rPr lang="en-US" altLang="zh-CN" sz="2400" dirty="0">
                <a:latin typeface="宋体" panose="02010600030101010101" pitchFamily="2" charset="-122"/>
                <a:ea typeface="宋体" panose="02010600030101010101" pitchFamily="2" charset="-122"/>
              </a:rPr>
              <a:t>docker run </a:t>
            </a:r>
            <a:r>
              <a:rPr lang="zh-CN" altLang="en-US" sz="2400" dirty="0">
                <a:latin typeface="宋体" panose="02010600030101010101" pitchFamily="2" charset="-122"/>
                <a:ea typeface="宋体" panose="02010600030101010101" pitchFamily="2" charset="-122"/>
              </a:rPr>
              <a:t>时使用了 </a:t>
            </a:r>
            <a:r>
              <a:rPr lang="en-US"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entrypoint</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选项，将覆盖 </a:t>
            </a:r>
            <a:r>
              <a:rPr lang="en-US" altLang="zh-CN" sz="2400" dirty="0">
                <a:latin typeface="宋体" panose="02010600030101010101" pitchFamily="2" charset="-122"/>
                <a:ea typeface="宋体" panose="02010600030101010101" pitchFamily="2" charset="-122"/>
              </a:rPr>
              <a:t>ENTRYPOINT </a:t>
            </a:r>
            <a:r>
              <a:rPr lang="zh-CN" altLang="en-US" sz="2400" dirty="0">
                <a:latin typeface="宋体" panose="02010600030101010101" pitchFamily="2" charset="-122"/>
                <a:ea typeface="宋体" panose="02010600030101010101" pitchFamily="2" charset="-122"/>
              </a:rPr>
              <a:t>指令指定的程序。</a:t>
            </a:r>
            <a:endParaRPr lang="en-US" altLang="zh-CN"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solidFill>
                  <a:srgbClr val="880000"/>
                </a:solidFill>
                <a:latin typeface="宋体" panose="02010600030101010101" pitchFamily="2" charset="-122"/>
                <a:ea typeface="宋体" panose="02010600030101010101" pitchFamily="2" charset="-122"/>
              </a:rPr>
              <a:t>优点：</a:t>
            </a:r>
            <a:r>
              <a:rPr lang="zh-CN" altLang="en-US" sz="2400" dirty="0">
                <a:latin typeface="宋体" panose="02010600030101010101" pitchFamily="2" charset="-122"/>
                <a:ea typeface="宋体" panose="02010600030101010101" pitchFamily="2" charset="-122"/>
              </a:rPr>
              <a:t>在执行 </a:t>
            </a:r>
            <a:r>
              <a:rPr lang="en-US" altLang="zh-CN" sz="2400" dirty="0">
                <a:latin typeface="宋体" panose="02010600030101010101" pitchFamily="2" charset="-122"/>
                <a:ea typeface="宋体" panose="02010600030101010101" pitchFamily="2" charset="-122"/>
              </a:rPr>
              <a:t>docker run </a:t>
            </a:r>
            <a:r>
              <a:rPr lang="zh-CN" altLang="en-US" sz="2400" dirty="0">
                <a:latin typeface="宋体" panose="02010600030101010101" pitchFamily="2" charset="-122"/>
                <a:ea typeface="宋体" panose="02010600030101010101" pitchFamily="2" charset="-122"/>
              </a:rPr>
              <a:t>的时候可以指定 </a:t>
            </a:r>
            <a:r>
              <a:rPr lang="en-US" altLang="zh-CN" sz="2400" dirty="0">
                <a:latin typeface="宋体" panose="02010600030101010101" pitchFamily="2" charset="-122"/>
                <a:ea typeface="宋体" panose="02010600030101010101" pitchFamily="2" charset="-122"/>
              </a:rPr>
              <a:t>ENTRYPOINT </a:t>
            </a:r>
            <a:r>
              <a:rPr lang="zh-CN" altLang="en-US" sz="2400" dirty="0">
                <a:latin typeface="宋体" panose="02010600030101010101" pitchFamily="2" charset="-122"/>
                <a:ea typeface="宋体" panose="02010600030101010101" pitchFamily="2" charset="-122"/>
              </a:rPr>
              <a:t>运行所需的参数。</a:t>
            </a:r>
            <a:endParaRPr lang="zh-CN" altLang="en-US"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solidFill>
                  <a:srgbClr val="880000"/>
                </a:solidFill>
                <a:latin typeface="宋体" panose="02010600030101010101" pitchFamily="2" charset="-122"/>
                <a:ea typeface="宋体" panose="02010600030101010101" pitchFamily="2" charset="-122"/>
              </a:rPr>
              <a:t>注意：</a:t>
            </a:r>
            <a:r>
              <a:rPr lang="zh-CN" altLang="en-US" sz="2400" dirty="0">
                <a:latin typeface="宋体" panose="02010600030101010101" pitchFamily="2" charset="-122"/>
                <a:ea typeface="宋体" panose="02010600030101010101" pitchFamily="2" charset="-122"/>
              </a:rPr>
              <a:t>如果 </a:t>
            </a:r>
            <a:r>
              <a:rPr lang="en-US" altLang="zh-CN" sz="2400" dirty="0" err="1">
                <a:latin typeface="宋体" panose="02010600030101010101" pitchFamily="2" charset="-122"/>
                <a:ea typeface="宋体" panose="02010600030101010101" pitchFamily="2" charset="-122"/>
              </a:rPr>
              <a:t>Dockerfile</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中如果存在多个 </a:t>
            </a:r>
            <a:r>
              <a:rPr lang="en-US" altLang="zh-CN" sz="2400" dirty="0">
                <a:latin typeface="宋体" panose="02010600030101010101" pitchFamily="2" charset="-122"/>
                <a:ea typeface="宋体" panose="02010600030101010101" pitchFamily="2" charset="-122"/>
              </a:rPr>
              <a:t>ENTRYPOINT </a:t>
            </a:r>
            <a:r>
              <a:rPr lang="zh-CN" altLang="en-US" sz="2400" dirty="0">
                <a:latin typeface="宋体" panose="02010600030101010101" pitchFamily="2" charset="-122"/>
                <a:ea typeface="宋体" panose="02010600030101010101" pitchFamily="2" charset="-122"/>
              </a:rPr>
              <a:t>指令，仅最后一个生效。</a:t>
            </a:r>
            <a:endParaRPr lang="en-US" altLang="zh-CN"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solidFill>
                  <a:srgbClr val="880000"/>
                </a:solidFill>
                <a:latin typeface="宋体" panose="02010600030101010101" pitchFamily="2" charset="-122"/>
                <a:ea typeface="宋体" panose="02010600030101010101" pitchFamily="2" charset="-122"/>
              </a:rPr>
              <a:t>格式：</a:t>
            </a:r>
            <a:endParaRPr lang="en-US" altLang="zh-CN" sz="2400" dirty="0">
              <a:solidFill>
                <a:srgbClr val="880000"/>
              </a:solidFill>
              <a:latin typeface="宋体" panose="02010600030101010101" pitchFamily="2" charset="-122"/>
              <a:ea typeface="宋体" panose="02010600030101010101" pitchFamily="2" charset="-122"/>
            </a:endParaRPr>
          </a:p>
          <a:p>
            <a:pPr lvl="1" indent="720090" algn="just">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ENTRYPOINT &lt;command&gt; </a:t>
            </a:r>
            <a:endParaRPr lang="zh-CN" altLang="zh-CN" sz="2400" dirty="0">
              <a:latin typeface="宋体" panose="02010600030101010101" pitchFamily="2" charset="-122"/>
              <a:ea typeface="宋体" panose="02010600030101010101" pitchFamily="2" charset="-122"/>
            </a:endParaRPr>
          </a:p>
          <a:p>
            <a:pPr lvl="1" indent="720090" algn="just">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ENTRYPOINT ["&lt;</a:t>
            </a:r>
            <a:r>
              <a:rPr lang="en-US" altLang="zh-CN" sz="2400" dirty="0" err="1">
                <a:latin typeface="宋体" panose="02010600030101010101" pitchFamily="2" charset="-122"/>
                <a:ea typeface="宋体" panose="02010600030101010101" pitchFamily="2" charset="-122"/>
              </a:rPr>
              <a:t>executeable</a:t>
            </a:r>
            <a:r>
              <a:rPr lang="en-US" altLang="zh-CN" sz="2400" dirty="0">
                <a:latin typeface="宋体" panose="02010600030101010101" pitchFamily="2" charset="-122"/>
                <a:ea typeface="宋体" panose="02010600030101010101" pitchFamily="2" charset="-122"/>
              </a:rPr>
              <a:t>&gt;","&lt;param1&gt;","&lt;param2&gt;",...]</a:t>
            </a:r>
            <a:endParaRPr lang="zh-CN" altLang="en-US" sz="2400" dirty="0">
              <a:latin typeface="宋体" panose="02010600030101010101" pitchFamily="2" charset="-122"/>
              <a:ea typeface="宋体" panose="02010600030101010101" pitchFamily="2" charset="-122"/>
            </a:endParaRPr>
          </a:p>
          <a:p>
            <a:pPr indent="720090" algn="just" latinLnBrk="1">
              <a:lnSpc>
                <a:spcPct val="125000"/>
              </a:lnSpc>
            </a:pPr>
            <a:endParaRPr lang="zh-CN" altLang="en-US"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373486" y="1723579"/>
            <a:ext cx="11815926" cy="2862322"/>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CMD</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ENTRYPOINT</a:t>
            </a:r>
            <a:r>
              <a:rPr lang="zh-CN" altLang="zh-CN" sz="2400" b="1" dirty="0">
                <a:latin typeface="宋体" panose="02010600030101010101" pitchFamily="2" charset="-122"/>
                <a:ea typeface="宋体" panose="02010600030101010101" pitchFamily="2" charset="-122"/>
              </a:rPr>
              <a:t>指令</a:t>
            </a:r>
            <a:r>
              <a:rPr lang="zh-CN" altLang="en-US" sz="2400" b="1" dirty="0">
                <a:latin typeface="宋体" panose="02010600030101010101" pitchFamily="2" charset="-122"/>
                <a:ea typeface="宋体" panose="02010600030101010101" pitchFamily="2" charset="-122"/>
              </a:rPr>
              <a:t>的区别</a:t>
            </a:r>
            <a:endParaRPr lang="zh-CN" altLang="zh-CN" sz="2400" b="1"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CMD</a:t>
            </a:r>
            <a:r>
              <a:rPr lang="zh-CN" altLang="en-US" sz="2400" dirty="0">
                <a:latin typeface="宋体" panose="02010600030101010101" pitchFamily="2" charset="-122"/>
                <a:ea typeface="宋体" panose="02010600030101010101" pitchFamily="2" charset="-122"/>
              </a:rPr>
              <a:t>给出的是一个容器的默认的可执行体。也就是容器启动以后，默认的执行的命令。重点就是这个“默认”。意味着，如果</a:t>
            </a:r>
            <a:r>
              <a:rPr lang="en-US" altLang="zh-CN" sz="2400" dirty="0" err="1">
                <a:latin typeface="宋体" panose="02010600030101010101" pitchFamily="2" charset="-122"/>
                <a:ea typeface="宋体" panose="02010600030101010101" pitchFamily="2" charset="-122"/>
              </a:rPr>
              <a:t>docker</a:t>
            </a:r>
            <a:r>
              <a:rPr lang="en-US" altLang="zh-CN" sz="2400" dirty="0">
                <a:latin typeface="宋体" panose="02010600030101010101" pitchFamily="2" charset="-122"/>
                <a:ea typeface="宋体" panose="02010600030101010101" pitchFamily="2" charset="-122"/>
              </a:rPr>
              <a:t> run</a:t>
            </a:r>
            <a:r>
              <a:rPr lang="zh-CN" altLang="en-US" sz="2400" dirty="0">
                <a:latin typeface="宋体" panose="02010600030101010101" pitchFamily="2" charset="-122"/>
                <a:ea typeface="宋体" panose="02010600030101010101" pitchFamily="2" charset="-122"/>
              </a:rPr>
              <a:t>没有指定任何的执行命令或者</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里面也没有</a:t>
            </a:r>
            <a:r>
              <a:rPr lang="en-US" altLang="zh-CN" sz="2400" dirty="0" err="1">
                <a:latin typeface="宋体" panose="02010600030101010101" pitchFamily="2" charset="-122"/>
                <a:ea typeface="宋体" panose="02010600030101010101" pitchFamily="2" charset="-122"/>
              </a:rPr>
              <a:t>entrypoint</a:t>
            </a:r>
            <a:r>
              <a:rPr lang="zh-CN" altLang="en-US" sz="2400" dirty="0">
                <a:latin typeface="宋体" panose="02010600030101010101" pitchFamily="2" charset="-122"/>
                <a:ea typeface="宋体" panose="02010600030101010101" pitchFamily="2" charset="-122"/>
              </a:rPr>
              <a:t>，那么，就会使用</a:t>
            </a:r>
            <a:r>
              <a:rPr lang="en-US" altLang="zh-CN" sz="2400" dirty="0" err="1">
                <a:latin typeface="宋体" panose="02010600030101010101" pitchFamily="2" charset="-122"/>
                <a:ea typeface="宋体" panose="02010600030101010101" pitchFamily="2" charset="-122"/>
              </a:rPr>
              <a:t>cmd</a:t>
            </a:r>
            <a:r>
              <a:rPr lang="zh-CN" altLang="en-US" sz="2400" dirty="0">
                <a:latin typeface="宋体" panose="02010600030101010101" pitchFamily="2" charset="-122"/>
                <a:ea typeface="宋体" panose="02010600030101010101" pitchFamily="2" charset="-122"/>
              </a:rPr>
              <a:t>指定的默认的执行命令执行。同时也从侧面说明了</a:t>
            </a:r>
            <a:r>
              <a:rPr lang="en-US" altLang="zh-CN" sz="2400" dirty="0" err="1">
                <a:latin typeface="宋体" panose="02010600030101010101" pitchFamily="2" charset="-122"/>
                <a:ea typeface="宋体" panose="02010600030101010101" pitchFamily="2" charset="-122"/>
              </a:rPr>
              <a:t>entrypoint</a:t>
            </a:r>
            <a:r>
              <a:rPr lang="zh-CN" altLang="en-US" sz="2400" dirty="0">
                <a:latin typeface="宋体" panose="02010600030101010101" pitchFamily="2" charset="-122"/>
                <a:ea typeface="宋体" panose="02010600030101010101" pitchFamily="2" charset="-122"/>
              </a:rPr>
              <a:t>的含义，它才是真正的容器启动以后要执行命令。</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208612" y="1625798"/>
            <a:ext cx="12095446" cy="2139047"/>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5</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ENTRYPOINT</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indent="720090" algn="just" latinLnBrk="1">
              <a:lnSpc>
                <a:spcPct val="125000"/>
              </a:lnSpc>
            </a:pPr>
            <a:r>
              <a:rPr lang="zh-CN" altLang="en-US" sz="2000" dirty="0">
                <a:latin typeface="宋体" panose="02010600030101010101" pitchFamily="2" charset="-122"/>
                <a:ea typeface="宋体" panose="02010600030101010101" pitchFamily="2" charset="-122"/>
              </a:rPr>
              <a:t>可以搭配 </a:t>
            </a:r>
            <a:r>
              <a:rPr lang="en-US" altLang="zh-CN" sz="2000" dirty="0">
                <a:latin typeface="宋体" panose="02010600030101010101" pitchFamily="2" charset="-122"/>
                <a:ea typeface="宋体" panose="02010600030101010101" pitchFamily="2" charset="-122"/>
              </a:rPr>
              <a:t>CMD </a:t>
            </a:r>
            <a:r>
              <a:rPr lang="zh-CN" altLang="en-US" sz="2000" dirty="0">
                <a:latin typeface="宋体" panose="02010600030101010101" pitchFamily="2" charset="-122"/>
                <a:ea typeface="宋体" panose="02010600030101010101" pitchFamily="2" charset="-122"/>
              </a:rPr>
              <a:t>命令使用：一般是变参才会使用 </a:t>
            </a:r>
            <a:r>
              <a:rPr lang="en-US" altLang="zh-CN" sz="2000" dirty="0">
                <a:latin typeface="宋体" panose="02010600030101010101" pitchFamily="2" charset="-122"/>
                <a:ea typeface="宋体" panose="02010600030101010101" pitchFamily="2" charset="-122"/>
              </a:rPr>
              <a:t>CMD </a:t>
            </a:r>
            <a:r>
              <a:rPr lang="zh-CN" altLang="en-US" sz="2000" dirty="0">
                <a:latin typeface="宋体" panose="02010600030101010101" pitchFamily="2" charset="-122"/>
                <a:ea typeface="宋体" panose="02010600030101010101" pitchFamily="2" charset="-122"/>
              </a:rPr>
              <a:t>，这里的 </a:t>
            </a:r>
            <a:r>
              <a:rPr lang="en-US" altLang="zh-CN" sz="2000" dirty="0">
                <a:latin typeface="宋体" panose="02010600030101010101" pitchFamily="2" charset="-122"/>
                <a:ea typeface="宋体" panose="02010600030101010101" pitchFamily="2" charset="-122"/>
              </a:rPr>
              <a:t>CMD </a:t>
            </a:r>
            <a:r>
              <a:rPr lang="zh-CN" altLang="en-US" sz="2000" dirty="0">
                <a:latin typeface="宋体" panose="02010600030101010101" pitchFamily="2" charset="-122"/>
                <a:ea typeface="宋体" panose="02010600030101010101" pitchFamily="2" charset="-122"/>
              </a:rPr>
              <a:t>等于是在给 </a:t>
            </a:r>
            <a:r>
              <a:rPr lang="en-US" altLang="zh-CN" sz="2000" dirty="0">
                <a:latin typeface="宋体" panose="02010600030101010101" pitchFamily="2" charset="-122"/>
                <a:ea typeface="宋体" panose="02010600030101010101" pitchFamily="2" charset="-122"/>
              </a:rPr>
              <a:t>ENTRYPOINT </a:t>
            </a:r>
            <a:r>
              <a:rPr lang="zh-CN" altLang="en-US" sz="2000" dirty="0">
                <a:latin typeface="宋体" panose="02010600030101010101" pitchFamily="2" charset="-122"/>
                <a:ea typeface="宋体" panose="02010600030101010101" pitchFamily="2" charset="-122"/>
              </a:rPr>
              <a:t>传参。</a:t>
            </a:r>
            <a:endParaRPr lang="zh-CN" altLang="en-US" sz="2000" dirty="0">
              <a:latin typeface="宋体" panose="02010600030101010101" pitchFamily="2" charset="-122"/>
              <a:ea typeface="宋体" panose="02010600030101010101" pitchFamily="2" charset="-122"/>
            </a:endParaRPr>
          </a:p>
          <a:p>
            <a:pPr indent="720090" algn="just" latinLnBrk="1">
              <a:lnSpc>
                <a:spcPct val="125000"/>
              </a:lnSpc>
            </a:pPr>
            <a:r>
              <a:rPr lang="zh-CN" altLang="en-US" sz="2000" dirty="0">
                <a:latin typeface="宋体" panose="02010600030101010101" pitchFamily="2" charset="-122"/>
                <a:ea typeface="宋体" panose="02010600030101010101" pitchFamily="2" charset="-122"/>
              </a:rPr>
              <a:t>示例：假设已通过 </a:t>
            </a:r>
            <a:r>
              <a:rPr lang="en-US" altLang="zh-CN" sz="2000" dirty="0" err="1">
                <a:latin typeface="宋体" panose="02010600030101010101" pitchFamily="2" charset="-122"/>
                <a:ea typeface="宋体" panose="02010600030101010101" pitchFamily="2" charset="-122"/>
              </a:rPr>
              <a:t>Dockerfile</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构建了 </a:t>
            </a:r>
            <a:r>
              <a:rPr lang="en-US" altLang="zh-CN" sz="2000" dirty="0" err="1">
                <a:latin typeface="宋体" panose="02010600030101010101" pitchFamily="2" charset="-122"/>
                <a:ea typeface="宋体" panose="02010600030101010101" pitchFamily="2" charset="-122"/>
              </a:rPr>
              <a:t>nginx:test</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镜像</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latinLnBrk="1"/>
            <a:endParaRPr lang="zh-CN" altLang="en-US" sz="2400" dirty="0">
              <a:latin typeface="宋体" panose="02010600030101010101" pitchFamily="2" charset="-122"/>
              <a:ea typeface="宋体" panose="02010600030101010101" pitchFamily="2" charset="-122"/>
            </a:endParaRPr>
          </a:p>
          <a:p>
            <a:pPr latinLnBrk="1"/>
            <a:endParaRPr lang="zh-CN" altLang="en-US"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012761" y="3248752"/>
            <a:ext cx="3286125" cy="1066800"/>
          </a:xfrm>
          <a:prstGeom prst="rect">
            <a:avLst/>
          </a:prstGeom>
        </p:spPr>
      </p:pic>
      <p:sp>
        <p:nvSpPr>
          <p:cNvPr id="3" name="矩形 2"/>
          <p:cNvSpPr/>
          <p:nvPr/>
        </p:nvSpPr>
        <p:spPr>
          <a:xfrm>
            <a:off x="208612" y="4552329"/>
            <a:ext cx="1866217" cy="400110"/>
          </a:xfrm>
          <a:prstGeom prst="rect">
            <a:avLst/>
          </a:prstGeom>
        </p:spPr>
        <p:txBody>
          <a:bodyPr wrap="none">
            <a:spAutoFit/>
          </a:bodyPr>
          <a:lstStyle/>
          <a:p>
            <a:r>
              <a:rPr lang="en-US" altLang="zh-CN" sz="2000" dirty="0">
                <a:solidFill>
                  <a:srgbClr val="333333"/>
                </a:solidFill>
                <a:latin typeface="宋体" panose="02010600030101010101" pitchFamily="2" charset="-122"/>
                <a:ea typeface="宋体" panose="02010600030101010101" pitchFamily="2" charset="-122"/>
              </a:rPr>
              <a:t>1</a:t>
            </a:r>
            <a:r>
              <a:rPr lang="zh-CN" altLang="en-US" sz="2000" dirty="0">
                <a:solidFill>
                  <a:srgbClr val="333333"/>
                </a:solidFill>
                <a:latin typeface="宋体" panose="02010600030101010101" pitchFamily="2" charset="-122"/>
                <a:ea typeface="宋体" panose="02010600030101010101" pitchFamily="2" charset="-122"/>
              </a:rPr>
              <a:t>、不传参运行</a:t>
            </a:r>
            <a:endParaRPr lang="zh-CN" altLang="en-US" sz="2000" dirty="0">
              <a:latin typeface="宋体" panose="02010600030101010101" pitchFamily="2" charset="-122"/>
              <a:ea typeface="宋体" panose="02010600030101010101" pitchFamily="2" charset="-122"/>
            </a:endParaRPr>
          </a:p>
        </p:txBody>
      </p:sp>
      <p:sp>
        <p:nvSpPr>
          <p:cNvPr id="5" name="矩形 4"/>
          <p:cNvSpPr/>
          <p:nvPr/>
        </p:nvSpPr>
        <p:spPr>
          <a:xfrm>
            <a:off x="4601403" y="4565615"/>
            <a:ext cx="5057795" cy="400110"/>
          </a:xfrm>
          <a:prstGeom prst="rect">
            <a:avLst/>
          </a:prstGeom>
        </p:spPr>
        <p:txBody>
          <a:bodyPr wrap="none">
            <a:spAutoFit/>
          </a:bodyPr>
          <a:lstStyle/>
          <a:p>
            <a:r>
              <a:rPr lang="zh-CN" altLang="en-US" sz="2000" dirty="0">
                <a:solidFill>
                  <a:srgbClr val="333333"/>
                </a:solidFill>
                <a:latin typeface="宋体" panose="02010600030101010101" pitchFamily="2" charset="-122"/>
                <a:ea typeface="宋体" panose="02010600030101010101" pitchFamily="2" charset="-122"/>
              </a:rPr>
              <a:t>容器内会默认运行以下命令，启动主进程。</a:t>
            </a:r>
            <a:endParaRPr lang="zh-CN" altLang="en-US" sz="2000" dirty="0">
              <a:solidFill>
                <a:srgbClr val="333333"/>
              </a:solidFill>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2"/>
          <a:stretch>
            <a:fillRect/>
          </a:stretch>
        </p:blipFill>
        <p:spPr>
          <a:xfrm>
            <a:off x="9372599" y="4567454"/>
            <a:ext cx="2931459" cy="415950"/>
          </a:xfrm>
          <a:prstGeom prst="rect">
            <a:avLst/>
          </a:prstGeom>
        </p:spPr>
      </p:pic>
      <p:sp>
        <p:nvSpPr>
          <p:cNvPr id="7" name="矩形 6"/>
          <p:cNvSpPr/>
          <p:nvPr/>
        </p:nvSpPr>
        <p:spPr>
          <a:xfrm>
            <a:off x="248091" y="5138597"/>
            <a:ext cx="1609736" cy="400110"/>
          </a:xfrm>
          <a:prstGeom prst="rect">
            <a:avLst/>
          </a:prstGeom>
        </p:spPr>
        <p:txBody>
          <a:bodyPr wrap="none">
            <a:spAutoFit/>
          </a:bodyPr>
          <a:lstStyle/>
          <a:p>
            <a:r>
              <a:rPr lang="en-US" altLang="zh-CN" sz="2000" dirty="0">
                <a:solidFill>
                  <a:srgbClr val="333333"/>
                </a:solidFill>
                <a:latin typeface="宋体" panose="02010600030101010101" pitchFamily="2" charset="-122"/>
                <a:ea typeface="宋体" panose="02010600030101010101" pitchFamily="2" charset="-122"/>
              </a:rPr>
              <a:t>2</a:t>
            </a:r>
            <a:r>
              <a:rPr lang="zh-CN" altLang="en-US" sz="2000" dirty="0">
                <a:solidFill>
                  <a:srgbClr val="333333"/>
                </a:solidFill>
                <a:latin typeface="宋体" panose="02010600030101010101" pitchFamily="2" charset="-122"/>
                <a:ea typeface="宋体" panose="02010600030101010101" pitchFamily="2" charset="-122"/>
              </a:rPr>
              <a:t>、传参运行</a:t>
            </a:r>
            <a:endParaRPr lang="zh-CN" altLang="en-US" sz="2000" dirty="0">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3"/>
          <a:stretch>
            <a:fillRect/>
          </a:stretch>
        </p:blipFill>
        <p:spPr>
          <a:xfrm>
            <a:off x="1978897" y="5124388"/>
            <a:ext cx="5944524" cy="448900"/>
          </a:xfrm>
          <a:prstGeom prst="rect">
            <a:avLst/>
          </a:prstGeom>
        </p:spPr>
      </p:pic>
      <p:sp>
        <p:nvSpPr>
          <p:cNvPr id="12" name="矩形 11"/>
          <p:cNvSpPr/>
          <p:nvPr/>
        </p:nvSpPr>
        <p:spPr>
          <a:xfrm>
            <a:off x="567797" y="5856033"/>
            <a:ext cx="11060096" cy="400110"/>
          </a:xfrm>
          <a:prstGeom prst="rect">
            <a:avLst/>
          </a:prstGeom>
        </p:spPr>
        <p:txBody>
          <a:bodyPr wrap="square">
            <a:spAutoFit/>
          </a:bodyPr>
          <a:lstStyle/>
          <a:p>
            <a:r>
              <a:rPr lang="zh-CN" altLang="en-US" sz="2000" dirty="0">
                <a:solidFill>
                  <a:srgbClr val="333333"/>
                </a:solidFill>
                <a:latin typeface="宋体" panose="02010600030101010101" pitchFamily="2" charset="-122"/>
                <a:ea typeface="宋体" panose="02010600030101010101" pitchFamily="2" charset="-122"/>
              </a:rPr>
              <a:t>容器内会默认运行以下命令，启动主进程</a:t>
            </a:r>
            <a:r>
              <a:rPr lang="en-US" altLang="zh-CN" sz="2000" dirty="0">
                <a:solidFill>
                  <a:srgbClr val="333333"/>
                </a:solidFill>
                <a:latin typeface="宋体" panose="02010600030101010101" pitchFamily="2" charset="-122"/>
                <a:ea typeface="宋体" panose="02010600030101010101" pitchFamily="2" charset="-122"/>
              </a:rPr>
              <a:t>(/</a:t>
            </a:r>
            <a:r>
              <a:rPr lang="en-US" altLang="zh-CN" sz="2000" dirty="0" err="1">
                <a:solidFill>
                  <a:srgbClr val="333333"/>
                </a:solidFill>
                <a:latin typeface="宋体" panose="02010600030101010101" pitchFamily="2" charset="-122"/>
                <a:ea typeface="宋体" panose="02010600030101010101" pitchFamily="2" charset="-122"/>
              </a:rPr>
              <a:t>etc</a:t>
            </a:r>
            <a:r>
              <a:rPr lang="en-US" altLang="zh-CN" sz="2000" dirty="0">
                <a:solidFill>
                  <a:srgbClr val="333333"/>
                </a:solidFill>
                <a:latin typeface="宋体" panose="02010600030101010101" pitchFamily="2" charset="-122"/>
                <a:ea typeface="宋体" panose="02010600030101010101" pitchFamily="2" charset="-122"/>
              </a:rPr>
              <a:t>/</a:t>
            </a:r>
            <a:r>
              <a:rPr lang="en-US" altLang="zh-CN" sz="2000" dirty="0" err="1">
                <a:solidFill>
                  <a:srgbClr val="333333"/>
                </a:solidFill>
                <a:latin typeface="宋体" panose="02010600030101010101" pitchFamily="2" charset="-122"/>
                <a:ea typeface="宋体" panose="02010600030101010101" pitchFamily="2" charset="-122"/>
              </a:rPr>
              <a:t>nginx</a:t>
            </a:r>
            <a:r>
              <a:rPr lang="en-US" altLang="zh-CN" sz="2000" dirty="0">
                <a:solidFill>
                  <a:srgbClr val="333333"/>
                </a:solidFill>
                <a:latin typeface="宋体" panose="02010600030101010101" pitchFamily="2" charset="-122"/>
                <a:ea typeface="宋体" panose="02010600030101010101" pitchFamily="2" charset="-122"/>
              </a:rPr>
              <a:t>/</a:t>
            </a:r>
            <a:r>
              <a:rPr lang="en-US" altLang="zh-CN" sz="2000" dirty="0" err="1">
                <a:solidFill>
                  <a:srgbClr val="333333"/>
                </a:solidFill>
                <a:latin typeface="宋体" panose="02010600030101010101" pitchFamily="2" charset="-122"/>
                <a:ea typeface="宋体" panose="02010600030101010101" pitchFamily="2" charset="-122"/>
              </a:rPr>
              <a:t>new.conf</a:t>
            </a:r>
            <a:r>
              <a:rPr lang="en-US" altLang="zh-CN" sz="2000" dirty="0">
                <a:solidFill>
                  <a:srgbClr val="333333"/>
                </a:solidFill>
                <a:latin typeface="宋体" panose="02010600030101010101" pitchFamily="2" charset="-122"/>
                <a:ea typeface="宋体" panose="02010600030101010101" pitchFamily="2" charset="-122"/>
              </a:rPr>
              <a:t>:</a:t>
            </a:r>
            <a:r>
              <a:rPr lang="zh-CN" altLang="en-US" sz="2000" dirty="0">
                <a:solidFill>
                  <a:srgbClr val="333333"/>
                </a:solidFill>
                <a:latin typeface="宋体" panose="02010600030101010101" pitchFamily="2" charset="-122"/>
                <a:ea typeface="宋体" panose="02010600030101010101" pitchFamily="2" charset="-122"/>
              </a:rPr>
              <a:t>假设容器内已有此文件</a:t>
            </a:r>
            <a:r>
              <a:rPr lang="en-US" altLang="zh-CN" sz="2000" dirty="0">
                <a:solidFill>
                  <a:srgbClr val="333333"/>
                </a:solidFill>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4"/>
          <a:stretch>
            <a:fillRect/>
          </a:stretch>
        </p:blipFill>
        <p:spPr>
          <a:xfrm>
            <a:off x="1857827" y="6273450"/>
            <a:ext cx="4435375" cy="530875"/>
          </a:xfrm>
          <a:prstGeom prst="rect">
            <a:avLst/>
          </a:prstGeom>
        </p:spPr>
      </p:pic>
      <p:pic>
        <p:nvPicPr>
          <p:cNvPr id="15" name="图片 14"/>
          <p:cNvPicPr>
            <a:picLocks noChangeAspect="1"/>
          </p:cNvPicPr>
          <p:nvPr/>
        </p:nvPicPr>
        <p:blipFill>
          <a:blip r:embed="rId5"/>
          <a:stretch>
            <a:fillRect/>
          </a:stretch>
        </p:blipFill>
        <p:spPr>
          <a:xfrm>
            <a:off x="1978897" y="4517748"/>
            <a:ext cx="2478790" cy="4606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259306" y="1723579"/>
            <a:ext cx="11673387" cy="3722173"/>
          </a:xfrm>
          <a:prstGeom prst="rect">
            <a:avLst/>
          </a:prstGeom>
          <a:noFill/>
        </p:spPr>
        <p:txBody>
          <a:bodyPr wrap="square" rtlCol="0">
            <a:spAutoFit/>
          </a:bodyPr>
          <a:lstStyle/>
          <a:p>
            <a:pPr>
              <a:lnSpc>
                <a:spcPct val="125000"/>
              </a:lnSpc>
            </a:pPr>
            <a:r>
              <a:rPr lang="en-US" altLang="zh-CN" sz="2400" b="1" dirty="0">
                <a:latin typeface="宋体" panose="02010600030101010101" pitchFamily="2" charset="-122"/>
                <a:ea typeface="宋体" panose="02010600030101010101" pitchFamily="2" charset="-122"/>
              </a:rPr>
              <a:t>6</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ENV</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lvl="1">
              <a:lnSpc>
                <a:spcPct val="125000"/>
              </a:lnSpc>
            </a:pPr>
            <a:r>
              <a:rPr lang="zh-CN" altLang="en-US" sz="2400" dirty="0">
                <a:latin typeface="宋体" panose="02010600030101010101" pitchFamily="2" charset="-122"/>
                <a:ea typeface="宋体" panose="02010600030101010101" pitchFamily="2" charset="-122"/>
              </a:rPr>
              <a:t>设置环境变量，定义了环境变量，那么在后续的指令中，就可以使用这个环境变量</a:t>
            </a:r>
            <a:r>
              <a:rPr lang="zh-CN"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lvl="1">
              <a:lnSpc>
                <a:spcPct val="125000"/>
              </a:lnSpc>
            </a:pPr>
            <a:r>
              <a:rPr lang="zh-CN" altLang="zh-CN" sz="2400" dirty="0">
                <a:latin typeface="宋体" panose="02010600030101010101" pitchFamily="2" charset="-122"/>
                <a:ea typeface="宋体" panose="02010600030101010101" pitchFamily="2" charset="-122"/>
              </a:rPr>
              <a:t>其指令格式如下</a:t>
            </a:r>
            <a:r>
              <a:rPr lang="zh-CN" altLang="en-US" sz="2400" dirty="0">
                <a:latin typeface="宋体" panose="02010600030101010101" pitchFamily="2" charset="-122"/>
                <a:ea typeface="宋体" panose="02010600030101010101" pitchFamily="2" charset="-122"/>
              </a:rPr>
              <a:t>：</a:t>
            </a:r>
            <a:endParaRPr lang="zh-CN" altLang="zh-CN" sz="2400" dirty="0">
              <a:latin typeface="宋体" panose="02010600030101010101" pitchFamily="2" charset="-122"/>
              <a:ea typeface="宋体" panose="02010600030101010101" pitchFamily="2" charset="-122"/>
            </a:endParaRPr>
          </a:p>
          <a:p>
            <a:pPr lvl="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ENV &lt;key&gt; &lt;value&gt;</a:t>
            </a:r>
            <a:endParaRPr lang="zh-CN" altLang="zh-CN" sz="2400" dirty="0">
              <a:latin typeface="宋体" panose="02010600030101010101" pitchFamily="2" charset="-122"/>
              <a:ea typeface="宋体" panose="02010600030101010101" pitchFamily="2" charset="-122"/>
            </a:endParaRPr>
          </a:p>
          <a:p>
            <a:pPr lvl="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ENV &lt;key1&gt;=&lt;value1&gt; &lt;key2&gt;=&lt;value2&gt;...</a:t>
            </a:r>
            <a:endParaRPr lang="en-US" altLang="zh-CN" sz="2400" dirty="0">
              <a:latin typeface="宋体" panose="02010600030101010101" pitchFamily="2" charset="-122"/>
              <a:ea typeface="宋体" panose="02010600030101010101" pitchFamily="2" charset="-122"/>
            </a:endParaRPr>
          </a:p>
          <a:p>
            <a:pPr lvl="1">
              <a:lnSpc>
                <a:spcPct val="125000"/>
              </a:lnSpc>
            </a:pPr>
            <a:r>
              <a:rPr lang="zh-CN" altLang="en-US" sz="2400" dirty="0">
                <a:latin typeface="宋体" panose="02010600030101010101" pitchFamily="2" charset="-122"/>
                <a:ea typeface="宋体" panose="02010600030101010101" pitchFamily="2" charset="-122"/>
              </a:rPr>
              <a:t>以下示例设置 </a:t>
            </a:r>
            <a:r>
              <a:rPr lang="en-US" altLang="zh-CN" sz="2400" dirty="0">
                <a:latin typeface="宋体" panose="02010600030101010101" pitchFamily="2" charset="-122"/>
                <a:ea typeface="宋体" panose="02010600030101010101" pitchFamily="2" charset="-122"/>
              </a:rPr>
              <a:t>NODE_VERSION = 7.2.0 </a:t>
            </a:r>
            <a:r>
              <a:rPr lang="zh-CN" altLang="en-US" sz="2400" dirty="0">
                <a:latin typeface="宋体" panose="02010600030101010101" pitchFamily="2" charset="-122"/>
                <a:ea typeface="宋体" panose="02010600030101010101" pitchFamily="2" charset="-122"/>
              </a:rPr>
              <a:t>， 在后续的指令中可以通</a:t>
            </a:r>
            <a:r>
              <a:rPr lang="en-US" altLang="zh-CN" sz="2400" dirty="0">
                <a:latin typeface="宋体" panose="02010600030101010101" pitchFamily="2" charset="-122"/>
                <a:ea typeface="宋体" panose="02010600030101010101" pitchFamily="2" charset="-122"/>
              </a:rPr>
              <a:t>$NODE_VERSION </a:t>
            </a:r>
            <a:r>
              <a:rPr lang="zh-CN" altLang="en-US" sz="2400" dirty="0">
                <a:latin typeface="宋体" panose="02010600030101010101" pitchFamily="2" charset="-122"/>
                <a:ea typeface="宋体" panose="02010600030101010101" pitchFamily="2" charset="-122"/>
              </a:rPr>
              <a:t>引用：</a:t>
            </a:r>
            <a:endParaRPr lang="en-US" altLang="zh-CN" sz="2400" dirty="0">
              <a:latin typeface="宋体" panose="02010600030101010101" pitchFamily="2" charset="-122"/>
              <a:ea typeface="宋体" panose="02010600030101010101" pitchFamily="2" charset="-122"/>
            </a:endParaRPr>
          </a:p>
          <a:p>
            <a:pPr lvl="1">
              <a:lnSpc>
                <a:spcPct val="125000"/>
              </a:lnSpc>
            </a:pPr>
            <a:endParaRPr lang="zh-CN"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583333" y="5070793"/>
            <a:ext cx="11206352" cy="15915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63690" y="1637949"/>
            <a:ext cx="12164704" cy="5730415"/>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7</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ARG</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400" dirty="0">
                <a:latin typeface="宋体" panose="02010600030101010101" pitchFamily="2" charset="-122"/>
                <a:ea typeface="宋体" panose="02010600030101010101" pitchFamily="2" charset="-122"/>
              </a:rPr>
              <a:t>构建参数，与 </a:t>
            </a:r>
            <a:r>
              <a:rPr lang="en-US" altLang="zh-CN" sz="2400" dirty="0">
                <a:latin typeface="宋体" panose="02010600030101010101" pitchFamily="2" charset="-122"/>
                <a:ea typeface="宋体" panose="02010600030101010101" pitchFamily="2" charset="-122"/>
              </a:rPr>
              <a:t>ENV </a:t>
            </a:r>
            <a:r>
              <a:rPr lang="zh-CN" altLang="en-US" sz="2400" dirty="0">
                <a:latin typeface="宋体" panose="02010600030101010101" pitchFamily="2" charset="-122"/>
                <a:ea typeface="宋体" panose="02010600030101010101" pitchFamily="2" charset="-122"/>
              </a:rPr>
              <a:t>作用一致。不过作用域不一样。</a:t>
            </a:r>
            <a:r>
              <a:rPr lang="en-US" altLang="zh-CN" sz="2400" dirty="0">
                <a:latin typeface="宋体" panose="02010600030101010101" pitchFamily="2" charset="-122"/>
                <a:ea typeface="宋体" panose="02010600030101010101" pitchFamily="2" charset="-122"/>
              </a:rPr>
              <a:t>ARG </a:t>
            </a:r>
            <a:r>
              <a:rPr lang="zh-CN" altLang="en-US" sz="2400" dirty="0">
                <a:latin typeface="宋体" panose="02010600030101010101" pitchFamily="2" charset="-122"/>
                <a:ea typeface="宋体" panose="02010600030101010101" pitchFamily="2" charset="-122"/>
              </a:rPr>
              <a:t>设置的环境变量仅对 </a:t>
            </a:r>
            <a:r>
              <a:rPr lang="en-US" altLang="zh-CN" sz="2400" dirty="0" err="1">
                <a:latin typeface="宋体" panose="02010600030101010101" pitchFamily="2" charset="-122"/>
                <a:ea typeface="宋体" panose="02010600030101010101" pitchFamily="2" charset="-122"/>
              </a:rPr>
              <a:t>Dockerfile</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内有效，也就是说只有 </a:t>
            </a:r>
            <a:r>
              <a:rPr lang="en-US" altLang="zh-CN" sz="2400" dirty="0">
                <a:latin typeface="宋体" panose="02010600030101010101" pitchFamily="2" charset="-122"/>
                <a:ea typeface="宋体" panose="02010600030101010101" pitchFamily="2" charset="-122"/>
              </a:rPr>
              <a:t>docker build </a:t>
            </a:r>
            <a:r>
              <a:rPr lang="zh-CN" altLang="en-US" sz="2400" dirty="0">
                <a:latin typeface="宋体" panose="02010600030101010101" pitchFamily="2" charset="-122"/>
                <a:ea typeface="宋体" panose="02010600030101010101" pitchFamily="2" charset="-122"/>
              </a:rPr>
              <a:t>的过程中有效，构建好的镜像内不存在此环境变量。</a:t>
            </a:r>
            <a:endParaRPr lang="en-US"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400" dirty="0">
                <a:latin typeface="宋体" panose="02010600030101010101" pitchFamily="2" charset="-122"/>
                <a:ea typeface="宋体" panose="02010600030101010101" pitchFamily="2" charset="-122"/>
              </a:rPr>
              <a:t>构建命令 </a:t>
            </a:r>
            <a:r>
              <a:rPr lang="en-US" altLang="zh-CN" sz="2400" dirty="0">
                <a:latin typeface="宋体" panose="02010600030101010101" pitchFamily="2" charset="-122"/>
                <a:ea typeface="宋体" panose="02010600030101010101" pitchFamily="2" charset="-122"/>
              </a:rPr>
              <a:t>docker build </a:t>
            </a:r>
            <a:r>
              <a:rPr lang="zh-CN" altLang="en-US" sz="2400" dirty="0">
                <a:latin typeface="宋体" panose="02010600030101010101" pitchFamily="2" charset="-122"/>
                <a:ea typeface="宋体" panose="02010600030101010101" pitchFamily="2" charset="-122"/>
              </a:rPr>
              <a:t>中可以用 </a:t>
            </a:r>
            <a:r>
              <a:rPr lang="en-US" altLang="zh-CN" sz="2400" dirty="0">
                <a:latin typeface="宋体" panose="02010600030101010101" pitchFamily="2" charset="-122"/>
                <a:ea typeface="宋体" panose="02010600030101010101" pitchFamily="2" charset="-122"/>
              </a:rPr>
              <a:t>--build-</a:t>
            </a:r>
            <a:r>
              <a:rPr lang="en-US" altLang="zh-CN" sz="2400" dirty="0" err="1">
                <a:latin typeface="宋体" panose="02010600030101010101" pitchFamily="2" charset="-122"/>
                <a:ea typeface="宋体" panose="02010600030101010101" pitchFamily="2" charset="-122"/>
              </a:rPr>
              <a:t>arg</a:t>
            </a:r>
            <a:r>
              <a:rPr lang="en-US" altLang="zh-CN" sz="2400" dirty="0">
                <a:latin typeface="宋体" panose="02010600030101010101" pitchFamily="2" charset="-122"/>
                <a:ea typeface="宋体" panose="02010600030101010101" pitchFamily="2" charset="-122"/>
              </a:rPr>
              <a:t> &lt;</a:t>
            </a:r>
            <a:r>
              <a:rPr lang="zh-CN" altLang="en-US" sz="2400" dirty="0">
                <a:latin typeface="宋体" panose="02010600030101010101" pitchFamily="2" charset="-122"/>
                <a:ea typeface="宋体" panose="02010600030101010101" pitchFamily="2" charset="-122"/>
              </a:rPr>
              <a:t>参数名</a:t>
            </a:r>
            <a:r>
              <a:rPr lang="en-US" altLang="zh-CN" sz="2400" dirty="0">
                <a:latin typeface="宋体" panose="02010600030101010101" pitchFamily="2" charset="-122"/>
                <a:ea typeface="宋体" panose="02010600030101010101" pitchFamily="2" charset="-122"/>
              </a:rPr>
              <a:t>&gt;=&lt;</a:t>
            </a:r>
            <a:r>
              <a:rPr lang="zh-CN" altLang="en-US" sz="2400" dirty="0">
                <a:latin typeface="宋体" panose="02010600030101010101" pitchFamily="2" charset="-122"/>
                <a:ea typeface="宋体" panose="02010600030101010101" pitchFamily="2" charset="-122"/>
              </a:rPr>
              <a:t>值</a:t>
            </a:r>
            <a:r>
              <a:rPr lang="en-US" altLang="zh-CN" sz="2400" dirty="0">
                <a:latin typeface="宋体" panose="02010600030101010101" pitchFamily="2" charset="-122"/>
                <a:ea typeface="宋体" panose="02010600030101010101" pitchFamily="2" charset="-122"/>
              </a:rPr>
              <a:t>&gt; </a:t>
            </a:r>
            <a:r>
              <a:rPr lang="zh-CN" altLang="en-US" sz="2400" dirty="0">
                <a:latin typeface="宋体" panose="02010600030101010101" pitchFamily="2" charset="-122"/>
                <a:ea typeface="宋体" panose="02010600030101010101" pitchFamily="2" charset="-122"/>
              </a:rPr>
              <a:t>来覆盖。</a:t>
            </a:r>
            <a:endParaRPr lang="en-US"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400" dirty="0">
                <a:latin typeface="宋体" panose="02010600030101010101" pitchFamily="2" charset="-122"/>
                <a:ea typeface="宋体" panose="02010600030101010101" pitchFamily="2" charset="-122"/>
              </a:rPr>
              <a:t>其指令格式</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ARG &lt;</a:t>
            </a:r>
            <a:r>
              <a:rPr lang="zh-CN" altLang="zh-CN" sz="2400" dirty="0">
                <a:latin typeface="宋体" panose="02010600030101010101" pitchFamily="2" charset="-122"/>
                <a:ea typeface="宋体" panose="02010600030101010101" pitchFamily="2" charset="-122"/>
              </a:rPr>
              <a:t>参数名</a:t>
            </a:r>
            <a:r>
              <a:rPr lang="en-US" altLang="zh-CN" sz="2400" dirty="0">
                <a:latin typeface="宋体" panose="02010600030101010101" pitchFamily="2" charset="-122"/>
                <a:ea typeface="宋体" panose="02010600030101010101" pitchFamily="2" charset="-122"/>
              </a:rPr>
              <a:t>&gt;[=&lt;</a:t>
            </a:r>
            <a:r>
              <a:rPr lang="zh-CN" altLang="zh-CN" sz="2400" dirty="0">
                <a:latin typeface="宋体" panose="02010600030101010101" pitchFamily="2" charset="-122"/>
                <a:ea typeface="宋体" panose="02010600030101010101" pitchFamily="2" charset="-122"/>
              </a:rPr>
              <a:t>默认值</a:t>
            </a:r>
            <a:r>
              <a:rPr lang="en-US" altLang="zh-CN" sz="2400" dirty="0">
                <a:latin typeface="宋体" panose="02010600030101010101" pitchFamily="2" charset="-122"/>
                <a:ea typeface="宋体" panose="02010600030101010101" pitchFamily="2" charset="-122"/>
              </a:rPr>
              <a:t>&gt;]</a:t>
            </a:r>
            <a:endParaRPr lang="en-US"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400" dirty="0">
                <a:latin typeface="宋体" panose="02010600030101010101" pitchFamily="2" charset="-122"/>
                <a:ea typeface="宋体" panose="02010600030101010101" pitchFamily="2" charset="-122"/>
              </a:rPr>
              <a:t>举例：</a:t>
            </a:r>
            <a:endParaRPr lang="en-US"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400" dirty="0">
                <a:latin typeface="宋体" panose="02010600030101010101" pitchFamily="2" charset="-122"/>
                <a:ea typeface="宋体" panose="02010600030101010101" pitchFamily="2" charset="-122"/>
              </a:rPr>
              <a:t>--build-</a:t>
            </a:r>
            <a:r>
              <a:rPr lang="en-US" altLang="zh-CN" sz="2400" dirty="0" err="1">
                <a:latin typeface="宋体" panose="02010600030101010101" pitchFamily="2" charset="-122"/>
                <a:ea typeface="宋体" panose="02010600030101010101" pitchFamily="2" charset="-122"/>
              </a:rPr>
              <a:t>arg</a:t>
            </a:r>
            <a:r>
              <a:rPr lang="en-US" altLang="zh-CN" sz="2400" dirty="0">
                <a:latin typeface="宋体" panose="02010600030101010101" pitchFamily="2" charset="-122"/>
                <a:ea typeface="宋体" panose="02010600030101010101" pitchFamily="2" charset="-122"/>
              </a:rPr>
              <a:t> </a:t>
            </a:r>
            <a:r>
              <a:rPr lang="en-US" altLang="zh-CN" sz="2400" dirty="0" err="1">
                <a:latin typeface="宋体" panose="02010600030101010101" pitchFamily="2" charset="-122"/>
                <a:ea typeface="宋体" panose="02010600030101010101" pitchFamily="2" charset="-122"/>
              </a:rPr>
              <a:t>user_name</a:t>
            </a:r>
            <a:r>
              <a:rPr lang="en-US"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username_value</a:t>
            </a:r>
            <a:endParaRPr lang="en-US" altLang="zh-CN"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latin typeface="宋体" panose="02010600030101010101" pitchFamily="2" charset="-122"/>
                <a:ea typeface="宋体" panose="02010600030101010101" pitchFamily="2" charset="-122"/>
              </a:rPr>
              <a:t>   如果利用</a:t>
            </a:r>
            <a:r>
              <a:rPr lang="en-US" altLang="zh-CN" sz="2400" dirty="0">
                <a:latin typeface="宋体" panose="02010600030101010101" pitchFamily="2" charset="-122"/>
                <a:ea typeface="宋体" panose="02010600030101010101" pitchFamily="2" charset="-122"/>
              </a:rPr>
              <a:t>docker build</a:t>
            </a:r>
            <a:r>
              <a:rPr lang="zh-CN" altLang="en-US" sz="2400" dirty="0">
                <a:latin typeface="宋体" panose="02010600030101010101" pitchFamily="2" charset="-122"/>
                <a:ea typeface="宋体" panose="02010600030101010101" pitchFamily="2" charset="-122"/>
              </a:rPr>
              <a:t>命令传递的参数在</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中没有对应的参数，则会抛    出警告，但从</a:t>
            </a:r>
            <a:r>
              <a:rPr lang="en-US" altLang="zh-CN" sz="2400" dirty="0">
                <a:latin typeface="宋体" panose="02010600030101010101" pitchFamily="2" charset="-122"/>
                <a:ea typeface="宋体" panose="02010600030101010101" pitchFamily="2" charset="-122"/>
              </a:rPr>
              <a:t>1.13</a:t>
            </a:r>
            <a:r>
              <a:rPr lang="zh-CN" altLang="en-US" sz="2400" dirty="0">
                <a:latin typeface="宋体" panose="02010600030101010101" pitchFamily="2" charset="-122"/>
                <a:ea typeface="宋体" panose="02010600030101010101" pitchFamily="2" charset="-122"/>
              </a:rPr>
              <a:t>版本开始，不再保存退出，只是警告，可以继续构建镜像。</a:t>
            </a:r>
            <a:endParaRPr lang="en-US" altLang="zh-CN"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不过在构建镜像的过程中，不建议以参数的形式传递机密信息，比如密码信息。</a:t>
            </a:r>
            <a:endParaRPr lang="zh-CN" altLang="en-US" sz="2400" dirty="0">
              <a:latin typeface="宋体" panose="02010600030101010101" pitchFamily="2" charset="-122"/>
              <a:ea typeface="宋体" panose="02010600030101010101" pitchFamily="2" charset="-122"/>
            </a:endParaRPr>
          </a:p>
          <a:p>
            <a:pPr lvl="1">
              <a:lnSpc>
                <a:spcPct val="150000"/>
              </a:lnSpc>
            </a:pPr>
            <a:endParaRPr lang="zh-CN"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5945346"/>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8</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ADD</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400" dirty="0">
                <a:latin typeface="宋体" panose="02010600030101010101" pitchFamily="2" charset="-122"/>
                <a:ea typeface="宋体" panose="02010600030101010101" pitchFamily="2" charset="-122"/>
              </a:rPr>
              <a:t>ADD</a:t>
            </a:r>
            <a:r>
              <a:rPr lang="zh-CN" altLang="zh-CN" sz="2400" dirty="0">
                <a:latin typeface="宋体" panose="02010600030101010101" pitchFamily="2" charset="-122"/>
                <a:ea typeface="宋体" panose="02010600030101010101" pitchFamily="2" charset="-122"/>
              </a:rPr>
              <a:t>指令的功能是将主机目录中的文件</a:t>
            </a:r>
            <a:r>
              <a:rPr lang="zh-CN" altLang="en-US"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目录及一个</a:t>
            </a:r>
            <a:r>
              <a:rPr lang="en-US" altLang="zh-CN" sz="2400" dirty="0">
                <a:latin typeface="宋体" panose="02010600030101010101" pitchFamily="2" charset="-122"/>
                <a:ea typeface="宋体" panose="02010600030101010101" pitchFamily="2" charset="-122"/>
              </a:rPr>
              <a:t>URL</a:t>
            </a:r>
            <a:r>
              <a:rPr lang="zh-CN" altLang="zh-CN" sz="2400" dirty="0">
                <a:latin typeface="宋体" panose="02010600030101010101" pitchFamily="2" charset="-122"/>
                <a:ea typeface="宋体" panose="02010600030101010101" pitchFamily="2" charset="-122"/>
              </a:rPr>
              <a:t>标记的文件复制到镜像中。其指令格式如下。</a:t>
            </a:r>
            <a:endParaRPr lang="zh-CN"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ADD &lt;</a:t>
            </a:r>
            <a:r>
              <a:rPr lang="en-US" altLang="zh-CN" sz="2400" dirty="0" err="1">
                <a:latin typeface="宋体" panose="02010600030101010101" pitchFamily="2" charset="-122"/>
                <a:ea typeface="宋体" panose="02010600030101010101" pitchFamily="2" charset="-122"/>
              </a:rPr>
              <a:t>src</a:t>
            </a:r>
            <a:r>
              <a:rPr lang="en-US" altLang="zh-CN" sz="2400" dirty="0">
                <a:latin typeface="宋体" panose="02010600030101010101" pitchFamily="2" charset="-122"/>
                <a:ea typeface="宋体" panose="02010600030101010101" pitchFamily="2" charset="-122"/>
              </a:rPr>
              <a:t>&gt;... &lt;</a:t>
            </a:r>
            <a:r>
              <a:rPr lang="en-US" altLang="zh-CN" sz="2400" dirty="0" err="1">
                <a:latin typeface="宋体" panose="02010600030101010101" pitchFamily="2" charset="-122"/>
                <a:ea typeface="宋体" panose="02010600030101010101" pitchFamily="2" charset="-122"/>
              </a:rPr>
              <a:t>dest</a:t>
            </a:r>
            <a:r>
              <a:rPr lang="en-US" altLang="zh-CN" sz="2400" dirty="0">
                <a:latin typeface="宋体" panose="02010600030101010101" pitchFamily="2" charset="-122"/>
                <a:ea typeface="宋体" panose="02010600030101010101" pitchFamily="2" charset="-122"/>
              </a:rPr>
              <a:t>&gt;</a:t>
            </a:r>
            <a:endParaRPr lang="zh-CN"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ADD ["&lt;</a:t>
            </a:r>
            <a:r>
              <a:rPr lang="en-US" altLang="zh-CN" sz="2400" dirty="0" err="1">
                <a:latin typeface="宋体" panose="02010600030101010101" pitchFamily="2" charset="-122"/>
                <a:ea typeface="宋体" panose="02010600030101010101" pitchFamily="2" charset="-122"/>
              </a:rPr>
              <a:t>src</a:t>
            </a:r>
            <a:r>
              <a:rPr lang="en-US" altLang="zh-CN" sz="2400" dirty="0">
                <a:latin typeface="宋体" panose="02010600030101010101" pitchFamily="2" charset="-122"/>
                <a:ea typeface="宋体" panose="02010600030101010101" pitchFamily="2" charset="-122"/>
              </a:rPr>
              <a:t>&gt;",... "&lt;</a:t>
            </a:r>
            <a:r>
              <a:rPr lang="en-US" altLang="zh-CN" sz="2400" dirty="0" err="1">
                <a:latin typeface="宋体" panose="02010600030101010101" pitchFamily="2" charset="-122"/>
                <a:ea typeface="宋体" panose="02010600030101010101" pitchFamily="2" charset="-122"/>
              </a:rPr>
              <a:t>dest</a:t>
            </a:r>
            <a:r>
              <a:rPr lang="en-US" altLang="zh-CN" sz="2400" dirty="0">
                <a:latin typeface="宋体" panose="02010600030101010101" pitchFamily="2" charset="-122"/>
                <a:ea typeface="宋体" panose="02010600030101010101" pitchFamily="2" charset="-122"/>
              </a:rPr>
              <a:t>&gt;"]</a:t>
            </a:r>
            <a:endParaRPr lang="en-US" altLang="zh-CN" sz="24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400" dirty="0">
                <a:latin typeface="宋体" panose="02010600030101010101" pitchFamily="2" charset="-122"/>
                <a:ea typeface="宋体" panose="02010600030101010101" pitchFamily="2" charset="-122"/>
              </a:rPr>
              <a:t>说明：两个格式基本相同，区别是，</a:t>
            </a: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可以用于处理文件路径有空格的情况。</a:t>
            </a:r>
            <a:endParaRPr lang="en-US" altLang="zh-CN" sz="2400" dirty="0">
              <a:latin typeface="宋体" panose="02010600030101010101" pitchFamily="2" charset="-122"/>
              <a:ea typeface="宋体" panose="02010600030101010101" pitchFamily="2" charset="-122"/>
            </a:endParaRPr>
          </a:p>
          <a:p>
            <a:pPr indent="720090" algn="just" latinLnBrk="1">
              <a:lnSpc>
                <a:spcPct val="125000"/>
              </a:lnSpc>
            </a:pPr>
            <a:r>
              <a:rPr lang="zh-CN" altLang="en-US" sz="2400" dirty="0">
                <a:latin typeface="宋体" panose="02010600030101010101" pitchFamily="2" charset="-122"/>
                <a:ea typeface="宋体" panose="02010600030101010101" pitchFamily="2" charset="-122"/>
              </a:rPr>
              <a:t>当</a:t>
            </a:r>
            <a:r>
              <a:rPr lang="en-US" altLang="zh-CN" sz="2400" dirty="0" err="1">
                <a:latin typeface="宋体" panose="02010600030101010101" pitchFamily="2" charset="-122"/>
                <a:ea typeface="宋体" panose="02010600030101010101" pitchFamily="2" charset="-122"/>
              </a:rPr>
              <a:t>src</a:t>
            </a:r>
            <a:r>
              <a:rPr lang="zh-CN" altLang="en-US" sz="2400" dirty="0">
                <a:latin typeface="宋体" panose="02010600030101010101" pitchFamily="2" charset="-122"/>
                <a:ea typeface="宋体" panose="02010600030101010101" pitchFamily="2" charset="-122"/>
              </a:rPr>
              <a:t>标记的是本地路径或目录时，其相对路径应该是相对于</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所在目录的路径。在</a:t>
            </a:r>
            <a:r>
              <a:rPr lang="en-US" altLang="zh-CN" sz="2400" dirty="0" err="1">
                <a:latin typeface="宋体" panose="02010600030101010101" pitchFamily="2" charset="-122"/>
                <a:ea typeface="宋体" panose="02010600030101010101" pitchFamily="2" charset="-122"/>
              </a:rPr>
              <a:t>src</a:t>
            </a:r>
            <a:r>
              <a:rPr lang="zh-CN" altLang="en-US" sz="2400" dirty="0">
                <a:latin typeface="宋体" panose="02010600030101010101" pitchFamily="2" charset="-122"/>
                <a:ea typeface="宋体" panose="02010600030101010101" pitchFamily="2" charset="-122"/>
              </a:rPr>
              <a:t>标记的路径中，允许使用通配符。</a:t>
            </a:r>
            <a:r>
              <a:rPr lang="en-US" altLang="zh-CN" sz="2400" dirty="0" err="1">
                <a:latin typeface="宋体" panose="02010600030101010101" pitchFamily="2" charset="-122"/>
                <a:ea typeface="宋体" panose="02010600030101010101" pitchFamily="2" charset="-122"/>
              </a:rPr>
              <a:t>dest</a:t>
            </a:r>
            <a:r>
              <a:rPr lang="zh-CN" altLang="en-US" sz="2400" dirty="0">
                <a:latin typeface="宋体" panose="02010600030101010101" pitchFamily="2" charset="-122"/>
                <a:ea typeface="宋体" panose="02010600030101010101" pitchFamily="2" charset="-122"/>
              </a:rPr>
              <a:t>指向容器中的目录，不允许使用通配符。其指定的路径必须是绝对路径，或者相对于</a:t>
            </a:r>
            <a:r>
              <a:rPr lang="en-US" altLang="zh-CN" sz="2400" dirty="0">
                <a:latin typeface="宋体" panose="02010600030101010101" pitchFamily="2" charset="-122"/>
                <a:ea typeface="宋体" panose="02010600030101010101" pitchFamily="2" charset="-122"/>
              </a:rPr>
              <a:t>WORKDIR</a:t>
            </a:r>
            <a:r>
              <a:rPr lang="zh-CN" altLang="en-US" sz="2400" dirty="0">
                <a:latin typeface="宋体" panose="02010600030101010101" pitchFamily="2" charset="-122"/>
                <a:ea typeface="宋体" panose="02010600030101010101" pitchFamily="2" charset="-122"/>
              </a:rPr>
              <a:t>的相对路径。如果</a:t>
            </a:r>
            <a:r>
              <a:rPr lang="en-US" altLang="zh-CN" sz="2400" dirty="0" err="1">
                <a:latin typeface="宋体" panose="02010600030101010101" pitchFamily="2" charset="-122"/>
                <a:ea typeface="宋体" panose="02010600030101010101" pitchFamily="2" charset="-122"/>
              </a:rPr>
              <a:t>dest</a:t>
            </a:r>
            <a:r>
              <a:rPr lang="zh-CN" altLang="en-US" sz="2400" dirty="0">
                <a:latin typeface="宋体" panose="02010600030101010101" pitchFamily="2" charset="-122"/>
                <a:ea typeface="宋体" panose="02010600030101010101" pitchFamily="2" charset="-122"/>
              </a:rPr>
              <a:t>指定的目录不存在，则当</a:t>
            </a:r>
            <a:r>
              <a:rPr lang="en-US" altLang="zh-CN" sz="2400" dirty="0">
                <a:latin typeface="宋体" panose="02010600030101010101" pitchFamily="2" charset="-122"/>
                <a:ea typeface="宋体" panose="02010600030101010101" pitchFamily="2" charset="-122"/>
              </a:rPr>
              <a:t>ADD</a:t>
            </a:r>
            <a:r>
              <a:rPr lang="zh-CN" altLang="en-US" sz="2400" dirty="0">
                <a:latin typeface="宋体" panose="02010600030101010101" pitchFamily="2" charset="-122"/>
                <a:ea typeface="宋体" panose="02010600030101010101" pitchFamily="2" charset="-122"/>
              </a:rPr>
              <a:t>执行命令时，将会在容器中自动创建此目录。</a:t>
            </a:r>
            <a:endParaRPr lang="en-US" altLang="zh-CN" sz="2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a:p>
            <a:pPr lvl="1">
              <a:lnSpc>
                <a:spcPct val="150000"/>
              </a:lnSpc>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4991751"/>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8</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ADD</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其指令格式如下。</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ADD &lt;</a:t>
            </a:r>
            <a:r>
              <a:rPr lang="en-US" altLang="zh-CN" sz="2400" dirty="0" err="1">
                <a:latin typeface="宋体" panose="02010600030101010101" pitchFamily="2" charset="-122"/>
                <a:ea typeface="宋体" panose="02010600030101010101" pitchFamily="2" charset="-122"/>
              </a:rPr>
              <a:t>src</a:t>
            </a:r>
            <a:r>
              <a:rPr lang="en-US" altLang="zh-CN" sz="2400" dirty="0">
                <a:latin typeface="宋体" panose="02010600030101010101" pitchFamily="2" charset="-122"/>
                <a:ea typeface="宋体" panose="02010600030101010101" pitchFamily="2" charset="-122"/>
              </a:rPr>
              <a:t>&gt;... &lt;</a:t>
            </a:r>
            <a:r>
              <a:rPr lang="en-US" altLang="zh-CN" sz="2400" dirty="0" err="1">
                <a:latin typeface="宋体" panose="02010600030101010101" pitchFamily="2" charset="-122"/>
                <a:ea typeface="宋体" panose="02010600030101010101" pitchFamily="2" charset="-122"/>
              </a:rPr>
              <a:t>dest</a:t>
            </a:r>
            <a:r>
              <a:rPr lang="en-US" altLang="zh-CN" sz="2400" dirty="0">
                <a:latin typeface="宋体" panose="02010600030101010101" pitchFamily="2" charset="-122"/>
                <a:ea typeface="宋体" panose="02010600030101010101" pitchFamily="2" charset="-122"/>
              </a:rPr>
              <a:t>&gt;</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ADD ["&lt;</a:t>
            </a:r>
            <a:r>
              <a:rPr lang="en-US" altLang="zh-CN" sz="2400" dirty="0" err="1">
                <a:latin typeface="宋体" panose="02010600030101010101" pitchFamily="2" charset="-122"/>
                <a:ea typeface="宋体" panose="02010600030101010101" pitchFamily="2" charset="-122"/>
              </a:rPr>
              <a:t>src</a:t>
            </a:r>
            <a:r>
              <a:rPr lang="en-US" altLang="zh-CN" sz="2400" dirty="0">
                <a:latin typeface="宋体" panose="02010600030101010101" pitchFamily="2" charset="-122"/>
                <a:ea typeface="宋体" panose="02010600030101010101" pitchFamily="2" charset="-122"/>
              </a:rPr>
              <a:t>&gt;",... "&lt;</a:t>
            </a:r>
            <a:r>
              <a:rPr lang="en-US" altLang="zh-CN" sz="2400" dirty="0" err="1">
                <a:latin typeface="宋体" panose="02010600030101010101" pitchFamily="2" charset="-122"/>
                <a:ea typeface="宋体" panose="02010600030101010101" pitchFamily="2" charset="-122"/>
              </a:rPr>
              <a:t>dest</a:t>
            </a:r>
            <a:r>
              <a:rPr lang="en-US" altLang="zh-CN" sz="2400" dirty="0">
                <a:latin typeface="宋体" panose="02010600030101010101" pitchFamily="2" charset="-122"/>
                <a:ea typeface="宋体" panose="02010600030101010101" pitchFamily="2" charset="-122"/>
              </a:rPr>
              <a:t>&gt;"]</a:t>
            </a:r>
            <a:endParaRPr lang="en-US" altLang="zh-CN" sz="2400" dirty="0">
              <a:latin typeface="宋体" panose="02010600030101010101" pitchFamily="2" charset="-122"/>
              <a:ea typeface="宋体" panose="02010600030101010101" pitchFamily="2" charset="-122"/>
            </a:endParaRPr>
          </a:p>
          <a:p>
            <a:pPr lvl="1">
              <a:lnSpc>
                <a:spcPct val="150000"/>
              </a:lnSpc>
            </a:pPr>
            <a:r>
              <a:rPr lang="zh-CN" altLang="en-US" sz="2400" dirty="0">
                <a:solidFill>
                  <a:srgbClr val="FF0000"/>
                </a:solidFill>
                <a:latin typeface="宋体" panose="02010600030101010101" pitchFamily="2" charset="-122"/>
                <a:ea typeface="宋体" panose="02010600030101010101" pitchFamily="2" charset="-122"/>
              </a:rPr>
              <a:t>举例：</a:t>
            </a:r>
            <a:endParaRPr lang="en-US" altLang="zh-CN" sz="2400" dirty="0">
              <a:solidFill>
                <a:srgbClr val="FF0000"/>
              </a:solidFill>
              <a:latin typeface="宋体" panose="02010600030101010101" pitchFamily="2" charset="-122"/>
              <a:ea typeface="宋体" panose="02010600030101010101" pitchFamily="2" charset="-122"/>
            </a:endParaRPr>
          </a:p>
          <a:p>
            <a:pPr lvl="1">
              <a:lnSpc>
                <a:spcPct val="150000"/>
              </a:lnSpc>
            </a:pPr>
            <a:r>
              <a:rPr lang="en-US" altLang="zh-CN" sz="2400" dirty="0">
                <a:latin typeface="宋体" panose="02010600030101010101" pitchFamily="2" charset="-122"/>
                <a:ea typeface="宋体" panose="02010600030101010101" pitchFamily="2" charset="-122"/>
              </a:rPr>
              <a:t>ADD   *.conf   /</a:t>
            </a:r>
            <a:r>
              <a:rPr lang="en-US" altLang="zh-CN" sz="2400" dirty="0" err="1">
                <a:latin typeface="宋体" panose="02010600030101010101" pitchFamily="2" charset="-122"/>
                <a:ea typeface="宋体" panose="02010600030101010101" pitchFamily="2" charset="-122"/>
              </a:rPr>
              <a:t>myconf</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用</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代表多个任意字符</a:t>
            </a:r>
            <a:endParaRPr lang="en-US" altLang="zh-CN" sz="2400" dirty="0">
              <a:latin typeface="宋体" panose="02010600030101010101" pitchFamily="2" charset="-122"/>
              <a:ea typeface="宋体" panose="02010600030101010101" pitchFamily="2" charset="-122"/>
            </a:endParaRPr>
          </a:p>
          <a:p>
            <a:pPr lvl="1">
              <a:lnSpc>
                <a:spcPct val="150000"/>
              </a:lnSpc>
            </a:pPr>
            <a:r>
              <a:rPr lang="en-US" altLang="zh-CN" sz="2400" dirty="0">
                <a:latin typeface="宋体" panose="02010600030101010101" pitchFamily="2" charset="-122"/>
                <a:ea typeface="宋体" panose="02010600030101010101" pitchFamily="2" charset="-122"/>
              </a:rPr>
              <a:t>ADD   ?.txt     /</a:t>
            </a:r>
            <a:r>
              <a:rPr lang="en-US" altLang="zh-CN" sz="2400" dirty="0" err="1">
                <a:latin typeface="宋体" panose="02010600030101010101" pitchFamily="2" charset="-122"/>
                <a:ea typeface="宋体" panose="02010600030101010101" pitchFamily="2" charset="-122"/>
              </a:rPr>
              <a:t>myconf</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用？代表</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个任意字符</a:t>
            </a:r>
            <a:endParaRPr lang="en-US" altLang="zh-CN" sz="2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a:p>
            <a:pPr lvl="1">
              <a:lnSpc>
                <a:spcPct val="150000"/>
              </a:lnSpc>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64738" y="1446880"/>
            <a:ext cx="11659024" cy="7007688"/>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8</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ADD</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注意（</a:t>
            </a:r>
            <a:r>
              <a:rPr lang="en-US" altLang="zh-CN" sz="2200" dirty="0" err="1">
                <a:latin typeface="宋体" panose="02010600030101010101" pitchFamily="2" charset="-122"/>
                <a:ea typeface="宋体" panose="02010600030101010101" pitchFamily="2" charset="-122"/>
              </a:rPr>
              <a:t>src</a:t>
            </a:r>
            <a:r>
              <a:rPr lang="zh-CN" altLang="en-US" sz="2200" dirty="0">
                <a:latin typeface="宋体" panose="02010600030101010101" pitchFamily="2" charset="-122"/>
                <a:ea typeface="宋体" panose="02010600030101010101" pitchFamily="2" charset="-122"/>
              </a:rPr>
              <a:t>源路径，</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目标路径）</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1</a:t>
            </a:r>
            <a:r>
              <a:rPr lang="zh-CN" altLang="en-US" sz="2200" dirty="0">
                <a:latin typeface="宋体" panose="02010600030101010101" pitchFamily="2" charset="-122"/>
                <a:ea typeface="宋体" panose="02010600030101010101" pitchFamily="2" charset="-122"/>
              </a:rPr>
              <a:t>、如果</a:t>
            </a:r>
            <a:r>
              <a:rPr lang="en-US" altLang="zh-CN" sz="2200" dirty="0" err="1">
                <a:latin typeface="宋体" panose="02010600030101010101" pitchFamily="2" charset="-122"/>
                <a:ea typeface="宋体" panose="02010600030101010101" pitchFamily="2" charset="-122"/>
              </a:rPr>
              <a:t>src</a:t>
            </a:r>
            <a:r>
              <a:rPr lang="zh-CN" altLang="en-US" sz="2200" dirty="0">
                <a:latin typeface="宋体" panose="02010600030101010101" pitchFamily="2" charset="-122"/>
                <a:ea typeface="宋体" panose="02010600030101010101" pitchFamily="2" charset="-122"/>
              </a:rPr>
              <a:t>是一个文件，且</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是以</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结尾的，则</a:t>
            </a:r>
            <a:r>
              <a:rPr lang="en-US" altLang="zh-CN" sz="2200" dirty="0">
                <a:latin typeface="宋体" panose="02010600030101010101" pitchFamily="2" charset="-122"/>
                <a:ea typeface="宋体" panose="02010600030101010101" pitchFamily="2" charset="-122"/>
              </a:rPr>
              <a:t>docker</a:t>
            </a:r>
            <a:r>
              <a:rPr lang="zh-CN" altLang="en-US" sz="2200" dirty="0">
                <a:latin typeface="宋体" panose="02010600030101010101" pitchFamily="2" charset="-122"/>
                <a:ea typeface="宋体" panose="02010600030101010101" pitchFamily="2" charset="-122"/>
              </a:rPr>
              <a:t>会把目标路径当做一个目录，并把源文件复制该目录中。如果</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不存在，则会自动创建</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、如果</a:t>
            </a:r>
            <a:r>
              <a:rPr lang="en-US" altLang="zh-CN" sz="2200" dirty="0" err="1">
                <a:latin typeface="宋体" panose="02010600030101010101" pitchFamily="2" charset="-122"/>
                <a:ea typeface="宋体" panose="02010600030101010101" pitchFamily="2" charset="-122"/>
              </a:rPr>
              <a:t>src</a:t>
            </a:r>
            <a:r>
              <a:rPr lang="zh-CN" altLang="en-US" sz="2200" dirty="0">
                <a:latin typeface="宋体" panose="02010600030101010101" pitchFamily="2" charset="-122"/>
                <a:ea typeface="宋体" panose="02010600030101010101" pitchFamily="2" charset="-122"/>
              </a:rPr>
              <a:t>是一个文件，且</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不是以</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结尾的，则</a:t>
            </a:r>
            <a:r>
              <a:rPr lang="en-US" altLang="zh-CN" sz="2200" dirty="0">
                <a:latin typeface="宋体" panose="02010600030101010101" pitchFamily="2" charset="-122"/>
                <a:ea typeface="宋体" panose="02010600030101010101" pitchFamily="2" charset="-122"/>
              </a:rPr>
              <a:t>docker</a:t>
            </a:r>
            <a:r>
              <a:rPr lang="zh-CN" altLang="en-US" sz="2200" dirty="0">
                <a:latin typeface="宋体" panose="02010600030101010101" pitchFamily="2" charset="-122"/>
                <a:ea typeface="宋体" panose="02010600030101010101" pitchFamily="2" charset="-122"/>
              </a:rPr>
              <a:t>会把目标路径当做一个文件。如果</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不存在，则会以</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为名创建一个文件，内容同源文件；如果</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存在，则会用源文件覆盖它，但只是内容覆盖，文件名还是目标文件名；如果</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实际是一个存在的目录，则会源文件复制到该目录中。</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3</a:t>
            </a:r>
            <a:r>
              <a:rPr lang="zh-CN" altLang="en-US" sz="2200" dirty="0">
                <a:latin typeface="宋体" panose="02010600030101010101" pitchFamily="2" charset="-122"/>
                <a:ea typeface="宋体" panose="02010600030101010101" pitchFamily="2" charset="-122"/>
              </a:rPr>
              <a:t>、如果</a:t>
            </a:r>
            <a:r>
              <a:rPr lang="en-US" altLang="zh-CN" sz="2200" dirty="0" err="1">
                <a:latin typeface="宋体" panose="02010600030101010101" pitchFamily="2" charset="-122"/>
                <a:ea typeface="宋体" panose="02010600030101010101" pitchFamily="2" charset="-122"/>
              </a:rPr>
              <a:t>src</a:t>
            </a:r>
            <a:r>
              <a:rPr lang="zh-CN" altLang="en-US" sz="2200" dirty="0">
                <a:latin typeface="宋体" panose="02010600030101010101" pitchFamily="2" charset="-122"/>
                <a:ea typeface="宋体" panose="02010600030101010101" pitchFamily="2" charset="-122"/>
              </a:rPr>
              <a:t>是一个目录，且</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不存在，则</a:t>
            </a:r>
            <a:r>
              <a:rPr lang="en-US" altLang="zh-CN" sz="2200" dirty="0">
                <a:latin typeface="宋体" panose="02010600030101010101" pitchFamily="2" charset="-122"/>
                <a:ea typeface="宋体" panose="02010600030101010101" pitchFamily="2" charset="-122"/>
              </a:rPr>
              <a:t>docker</a:t>
            </a:r>
            <a:r>
              <a:rPr lang="zh-CN" altLang="en-US" sz="2200" dirty="0">
                <a:latin typeface="宋体" panose="02010600030101010101" pitchFamily="2" charset="-122"/>
                <a:ea typeface="宋体" panose="02010600030101010101" pitchFamily="2" charset="-122"/>
              </a:rPr>
              <a:t>会自动以目标路径创建一个目录，并把源文件复制该目录中。如果</a:t>
            </a:r>
            <a:r>
              <a:rPr lang="en-US" altLang="zh-CN" sz="2200" dirty="0" err="1">
                <a:latin typeface="宋体" panose="02010600030101010101" pitchFamily="2" charset="-122"/>
                <a:ea typeface="宋体" panose="02010600030101010101" pitchFamily="2" charset="-122"/>
              </a:rPr>
              <a:t>dest</a:t>
            </a:r>
            <a:r>
              <a:rPr lang="zh-CN" altLang="en-US" sz="2200" dirty="0">
                <a:latin typeface="宋体" panose="02010600030101010101" pitchFamily="2" charset="-122"/>
                <a:ea typeface="宋体" panose="02010600030101010101" pitchFamily="2" charset="-122"/>
              </a:rPr>
              <a:t>是一个存在的目录，则会把源文件复制该目录中。</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4</a:t>
            </a:r>
            <a:r>
              <a:rPr lang="zh-CN" altLang="en-US" sz="2200" dirty="0">
                <a:latin typeface="宋体" panose="02010600030101010101" pitchFamily="2" charset="-122"/>
                <a:ea typeface="宋体" panose="02010600030101010101" pitchFamily="2" charset="-122"/>
              </a:rPr>
              <a:t>、如果</a:t>
            </a:r>
            <a:r>
              <a:rPr lang="en-US" altLang="zh-CN" sz="2200" dirty="0" err="1">
                <a:latin typeface="宋体" panose="02010600030101010101" pitchFamily="2" charset="-122"/>
                <a:ea typeface="宋体" panose="02010600030101010101" pitchFamily="2" charset="-122"/>
              </a:rPr>
              <a:t>src</a:t>
            </a:r>
            <a:r>
              <a:rPr lang="zh-CN" altLang="en-US" sz="2200" dirty="0">
                <a:latin typeface="宋体" panose="02010600030101010101" pitchFamily="2" charset="-122"/>
                <a:ea typeface="宋体" panose="02010600030101010101" pitchFamily="2" charset="-122"/>
              </a:rPr>
              <a:t>是一个归档文件（压缩文件），则</a:t>
            </a:r>
            <a:r>
              <a:rPr lang="en-US" altLang="zh-CN" sz="2200" dirty="0">
                <a:latin typeface="宋体" panose="02010600030101010101" pitchFamily="2" charset="-122"/>
                <a:ea typeface="宋体" panose="02010600030101010101" pitchFamily="2" charset="-122"/>
              </a:rPr>
              <a:t>Docker</a:t>
            </a:r>
            <a:r>
              <a:rPr lang="zh-CN" altLang="en-US" sz="2200" dirty="0">
                <a:latin typeface="宋体" panose="02010600030101010101" pitchFamily="2" charset="-122"/>
                <a:ea typeface="宋体" panose="02010600030101010101" pitchFamily="2" charset="-122"/>
              </a:rPr>
              <a:t>会自动解压此文件。</a:t>
            </a:r>
            <a:endParaRPr lang="en-US" altLang="zh-CN" sz="22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a:p>
            <a:pPr lvl="1">
              <a:lnSpc>
                <a:spcPct val="150000"/>
              </a:lnSpc>
            </a:pPr>
            <a:endParaRPr lang="en-US" altLang="zh-CN" sz="2400" dirty="0">
              <a:latin typeface="宋体" panose="02010600030101010101" pitchFamily="2" charset="-122"/>
              <a:ea typeface="宋体" panose="02010600030101010101" pitchFamily="2" charset="-122"/>
            </a:endParaRPr>
          </a:p>
          <a:p>
            <a:pPr lvl="1">
              <a:lnSpc>
                <a:spcPct val="150000"/>
              </a:lnSpc>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4468018"/>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9</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COPY</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       COPY</a:t>
            </a:r>
            <a:r>
              <a:rPr lang="zh-CN" altLang="zh-CN" sz="2400" dirty="0">
                <a:latin typeface="宋体" panose="02010600030101010101" pitchFamily="2" charset="-122"/>
                <a:ea typeface="宋体" panose="02010600030101010101" pitchFamily="2" charset="-122"/>
              </a:rPr>
              <a:t>指令和</a:t>
            </a:r>
            <a:r>
              <a:rPr lang="en-US" altLang="zh-CN" sz="2400" dirty="0">
                <a:latin typeface="宋体" panose="02010600030101010101" pitchFamily="2" charset="-122"/>
                <a:ea typeface="宋体" panose="02010600030101010101" pitchFamily="2" charset="-122"/>
              </a:rPr>
              <a:t>ADD</a:t>
            </a:r>
            <a:r>
              <a:rPr lang="zh-CN" altLang="zh-CN" sz="2400" dirty="0">
                <a:latin typeface="宋体" panose="02010600030101010101" pitchFamily="2" charset="-122"/>
                <a:ea typeface="宋体" panose="02010600030101010101" pitchFamily="2" charset="-122"/>
              </a:rPr>
              <a:t>指令的功能及使用方法基本相同，只是</a:t>
            </a:r>
            <a:r>
              <a:rPr lang="en-US" altLang="zh-CN" sz="2400" dirty="0">
                <a:latin typeface="宋体" panose="02010600030101010101" pitchFamily="2" charset="-122"/>
                <a:ea typeface="宋体" panose="02010600030101010101" pitchFamily="2" charset="-122"/>
              </a:rPr>
              <a:t>COPY</a:t>
            </a:r>
            <a:r>
              <a:rPr lang="zh-CN" altLang="zh-CN" sz="2400" dirty="0">
                <a:latin typeface="宋体" panose="02010600030101010101" pitchFamily="2" charset="-122"/>
                <a:ea typeface="宋体" panose="02010600030101010101" pitchFamily="2" charset="-122"/>
              </a:rPr>
              <a:t>指令不会做自动解压工作，其指令格式如下。</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COPY &lt;</a:t>
            </a:r>
            <a:r>
              <a:rPr lang="en-US" altLang="zh-CN" sz="2400" dirty="0" err="1">
                <a:latin typeface="宋体" panose="02010600030101010101" pitchFamily="2" charset="-122"/>
                <a:ea typeface="宋体" panose="02010600030101010101" pitchFamily="2" charset="-122"/>
              </a:rPr>
              <a:t>src</a:t>
            </a:r>
            <a:r>
              <a:rPr lang="en-US" altLang="zh-CN" sz="2400" dirty="0">
                <a:latin typeface="宋体" panose="02010600030101010101" pitchFamily="2" charset="-122"/>
                <a:ea typeface="宋体" panose="02010600030101010101" pitchFamily="2" charset="-122"/>
              </a:rPr>
              <a:t>&gt;... &lt;</a:t>
            </a:r>
            <a:r>
              <a:rPr lang="en-US" altLang="zh-CN" sz="2400" dirty="0" err="1">
                <a:latin typeface="宋体" panose="02010600030101010101" pitchFamily="2" charset="-122"/>
                <a:ea typeface="宋体" panose="02010600030101010101" pitchFamily="2" charset="-122"/>
              </a:rPr>
              <a:t>dest</a:t>
            </a:r>
            <a:r>
              <a:rPr lang="en-US" altLang="zh-CN" sz="2400" dirty="0">
                <a:latin typeface="宋体" panose="02010600030101010101" pitchFamily="2" charset="-122"/>
                <a:ea typeface="宋体" panose="02010600030101010101" pitchFamily="2" charset="-122"/>
              </a:rPr>
              <a:t>&gt;</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COPY ["&lt;</a:t>
            </a:r>
            <a:r>
              <a:rPr lang="en-US" altLang="zh-CN" sz="2400" dirty="0" err="1">
                <a:latin typeface="宋体" panose="02010600030101010101" pitchFamily="2" charset="-122"/>
                <a:ea typeface="宋体" panose="02010600030101010101" pitchFamily="2" charset="-122"/>
              </a:rPr>
              <a:t>src</a:t>
            </a:r>
            <a:r>
              <a:rPr lang="en-US" altLang="zh-CN" sz="2400" dirty="0">
                <a:latin typeface="宋体" panose="02010600030101010101" pitchFamily="2" charset="-122"/>
                <a:ea typeface="宋体" panose="02010600030101010101" pitchFamily="2" charset="-122"/>
              </a:rPr>
              <a:t>&gt;",... "&lt;</a:t>
            </a:r>
            <a:r>
              <a:rPr lang="en-US" altLang="zh-CN" sz="2400" dirty="0" err="1">
                <a:latin typeface="宋体" panose="02010600030101010101" pitchFamily="2" charset="-122"/>
                <a:ea typeface="宋体" panose="02010600030101010101" pitchFamily="2" charset="-122"/>
              </a:rPr>
              <a:t>dest</a:t>
            </a:r>
            <a:r>
              <a:rPr lang="en-US" altLang="zh-CN" sz="2400" dirty="0">
                <a:latin typeface="宋体" panose="02010600030101010101" pitchFamily="2" charset="-122"/>
                <a:ea typeface="宋体" panose="02010600030101010101" pitchFamily="2" charset="-122"/>
              </a:rPr>
              <a:t>&gt;"]</a:t>
            </a:r>
            <a:endParaRPr lang="zh-CN" altLang="zh-CN" sz="2400" dirty="0">
              <a:latin typeface="宋体" panose="02010600030101010101" pitchFamily="2" charset="-122"/>
              <a:ea typeface="宋体" panose="02010600030101010101" pitchFamily="2" charset="-122"/>
            </a:endParaRPr>
          </a:p>
          <a:p>
            <a:pPr lvl="1">
              <a:lnSpc>
                <a:spcPct val="150000"/>
              </a:lnSpc>
            </a:pPr>
            <a:r>
              <a:rPr lang="zh-CN" altLang="zh-CN" sz="2400" dirty="0">
                <a:latin typeface="宋体" panose="02010600030101010101" pitchFamily="2" charset="-122"/>
                <a:ea typeface="宋体" panose="02010600030101010101" pitchFamily="2" charset="-122"/>
              </a:rPr>
              <a:t>同</a:t>
            </a:r>
            <a:r>
              <a:rPr lang="en-US" altLang="zh-CN" sz="2400" dirty="0">
                <a:latin typeface="宋体" panose="02010600030101010101" pitchFamily="2" charset="-122"/>
                <a:ea typeface="宋体" panose="02010600030101010101" pitchFamily="2" charset="-122"/>
              </a:rPr>
              <a:t>ADD</a:t>
            </a:r>
            <a:r>
              <a:rPr lang="zh-CN" altLang="zh-CN" sz="2400" dirty="0">
                <a:latin typeface="宋体" panose="02010600030101010101" pitchFamily="2" charset="-122"/>
                <a:ea typeface="宋体" panose="02010600030101010101" pitchFamily="2" charset="-122"/>
              </a:rPr>
              <a:t>指令一样，</a:t>
            </a:r>
            <a:r>
              <a:rPr lang="en-US" altLang="zh-CN" sz="2400" dirty="0">
                <a:latin typeface="宋体" panose="02010600030101010101" pitchFamily="2" charset="-122"/>
                <a:ea typeface="宋体" panose="02010600030101010101" pitchFamily="2" charset="-122"/>
              </a:rPr>
              <a:t>COPY</a:t>
            </a:r>
            <a:r>
              <a:rPr lang="zh-CN" altLang="zh-CN" sz="2400" dirty="0">
                <a:latin typeface="宋体" panose="02010600030101010101" pitchFamily="2" charset="-122"/>
                <a:ea typeface="宋体" panose="02010600030101010101" pitchFamily="2" charset="-122"/>
              </a:rPr>
              <a:t>指令格式</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也用于处理路径中存在空格的情况。</a:t>
            </a:r>
            <a:endParaRPr lang="en-US" altLang="zh-CN" sz="2400" dirty="0">
              <a:latin typeface="宋体" panose="02010600030101010101" pitchFamily="2" charset="-122"/>
              <a:ea typeface="宋体" panose="02010600030101010101" pitchFamily="2" charset="-122"/>
            </a:endParaRPr>
          </a:p>
          <a:p>
            <a:pPr lvl="1">
              <a:lnSpc>
                <a:spcPct val="150000"/>
              </a:lnSpc>
            </a:pPr>
            <a:r>
              <a:rPr lang="en-US" altLang="zh-CN" sz="2400" dirty="0">
                <a:latin typeface="宋体" panose="02010600030101010101" pitchFamily="2" charset="-122"/>
                <a:ea typeface="宋体" panose="02010600030101010101" pitchFamily="2" charset="-122"/>
              </a:rPr>
              <a:t>COPY</a:t>
            </a:r>
            <a:r>
              <a:rPr lang="zh-CN" altLang="en-US" sz="2400" dirty="0">
                <a:latin typeface="宋体" panose="02010600030101010101" pitchFamily="2" charset="-122"/>
                <a:ea typeface="宋体" panose="02010600030101010101" pitchFamily="2" charset="-122"/>
              </a:rPr>
              <a:t>指令的</a:t>
            </a:r>
            <a:r>
              <a:rPr lang="en-US" altLang="zh-CN" sz="2400" dirty="0" err="1">
                <a:latin typeface="宋体" panose="02010600030101010101" pitchFamily="2" charset="-122"/>
                <a:ea typeface="宋体" panose="02010600030101010101" pitchFamily="2" charset="-122"/>
              </a:rPr>
              <a:t>dest</a:t>
            </a:r>
            <a:r>
              <a:rPr lang="zh-CN" altLang="en-US" sz="2400" dirty="0">
                <a:latin typeface="宋体" panose="02010600030101010101" pitchFamily="2" charset="-122"/>
                <a:ea typeface="宋体" panose="02010600030101010101" pitchFamily="2" charset="-122"/>
              </a:rPr>
              <a:t>必须是绝对路径或是相对于</a:t>
            </a:r>
            <a:r>
              <a:rPr lang="en-US" altLang="zh-CN" sz="2400" dirty="0">
                <a:latin typeface="宋体" panose="02010600030101010101" pitchFamily="2" charset="-122"/>
                <a:ea typeface="宋体" panose="02010600030101010101" pitchFamily="2" charset="-122"/>
              </a:rPr>
              <a:t>WORKDIR</a:t>
            </a:r>
            <a:r>
              <a:rPr lang="zh-CN" altLang="en-US" sz="2400" dirty="0">
                <a:latin typeface="宋体" panose="02010600030101010101" pitchFamily="2" charset="-122"/>
                <a:ea typeface="宋体" panose="02010600030101010101" pitchFamily="2" charset="-122"/>
              </a:rPr>
              <a:t>的相对路径。</a:t>
            </a:r>
            <a:endParaRPr lang="en-US" altLang="zh-CN" sz="2400" dirty="0">
              <a:latin typeface="宋体" panose="02010600030101010101" pitchFamily="2" charset="-122"/>
              <a:ea typeface="宋体" panose="02010600030101010101" pitchFamily="2" charset="-122"/>
            </a:endParaRPr>
          </a:p>
          <a:p>
            <a:pPr lvl="1">
              <a:lnSpc>
                <a:spcPct val="150000"/>
              </a:lnSpc>
            </a:pPr>
            <a:endParaRPr lang="zh-CN"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322997" y="1637949"/>
            <a:ext cx="11869004" cy="4076116"/>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9</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COPY</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COPY</a:t>
            </a:r>
            <a:r>
              <a:rPr lang="zh-CN" altLang="en-US" sz="2200" dirty="0">
                <a:latin typeface="宋体" panose="02010600030101010101" pitchFamily="2" charset="-122"/>
                <a:ea typeface="宋体" panose="02010600030101010101" pitchFamily="2" charset="-122"/>
              </a:rPr>
              <a:t>指令与</a:t>
            </a:r>
            <a:r>
              <a:rPr lang="en-US" altLang="zh-CN" sz="2200" dirty="0">
                <a:latin typeface="宋体" panose="02010600030101010101" pitchFamily="2" charset="-122"/>
                <a:ea typeface="宋体" panose="02010600030101010101" pitchFamily="2" charset="-122"/>
              </a:rPr>
              <a:t>ADD</a:t>
            </a:r>
            <a:r>
              <a:rPr lang="zh-CN" altLang="en-US" sz="2200" dirty="0">
                <a:latin typeface="宋体" panose="02010600030101010101" pitchFamily="2" charset="-122"/>
                <a:ea typeface="宋体" panose="02010600030101010101" pitchFamily="2" charset="-122"/>
              </a:rPr>
              <a:t>指令不同之处如下：</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1</a:t>
            </a:r>
            <a:r>
              <a:rPr lang="zh-CN" altLang="en-US" sz="2200" dirty="0">
                <a:latin typeface="宋体" panose="02010600030101010101" pitchFamily="2" charset="-122"/>
                <a:ea typeface="宋体" panose="02010600030101010101" pitchFamily="2" charset="-122"/>
              </a:rPr>
              <a:t>、在实际应用中，如果只是复制文件，则建议使用</a:t>
            </a:r>
            <a:r>
              <a:rPr lang="en-US" altLang="zh-CN" sz="2200" dirty="0">
                <a:latin typeface="宋体" panose="02010600030101010101" pitchFamily="2" charset="-122"/>
                <a:ea typeface="宋体" panose="02010600030101010101" pitchFamily="2" charset="-122"/>
              </a:rPr>
              <a:t>COPY</a:t>
            </a:r>
            <a:r>
              <a:rPr lang="zh-CN" altLang="en-US" sz="2200" dirty="0">
                <a:latin typeface="宋体" panose="02010600030101010101" pitchFamily="2" charset="-122"/>
                <a:ea typeface="宋体" panose="02010600030101010101" pitchFamily="2" charset="-122"/>
              </a:rPr>
              <a:t>指令；而如果需要自动解压文件，则建议使用</a:t>
            </a:r>
            <a:r>
              <a:rPr lang="en-US" altLang="zh-CN" sz="2200" dirty="0">
                <a:latin typeface="宋体" panose="02010600030101010101" pitchFamily="2" charset="-122"/>
                <a:ea typeface="宋体" panose="02010600030101010101" pitchFamily="2" charset="-122"/>
              </a:rPr>
              <a:t>ADD</a:t>
            </a:r>
            <a:r>
              <a:rPr lang="zh-CN" altLang="en-US" sz="2200" dirty="0">
                <a:latin typeface="宋体" panose="02010600030101010101" pitchFamily="2" charset="-122"/>
                <a:ea typeface="宋体" panose="02010600030101010101" pitchFamily="2" charset="-122"/>
              </a:rPr>
              <a:t>指令。</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ADD </a:t>
            </a:r>
            <a:r>
              <a:rPr lang="zh-CN" altLang="en-US" sz="2200" dirty="0">
                <a:latin typeface="宋体" panose="02010600030101010101" pitchFamily="2" charset="-122"/>
                <a:ea typeface="宋体" panose="02010600030101010101" pitchFamily="2" charset="-122"/>
              </a:rPr>
              <a:t>的优点：在执行 </a:t>
            </a:r>
            <a:r>
              <a:rPr lang="en-US" altLang="zh-CN" sz="2200" dirty="0">
                <a:latin typeface="宋体" panose="02010600030101010101" pitchFamily="2" charset="-122"/>
                <a:ea typeface="宋体" panose="02010600030101010101" pitchFamily="2" charset="-122"/>
              </a:rPr>
              <a:t>&lt;</a:t>
            </a:r>
            <a:r>
              <a:rPr lang="zh-CN" altLang="en-US" sz="2200" dirty="0">
                <a:latin typeface="宋体" panose="02010600030101010101" pitchFamily="2" charset="-122"/>
                <a:ea typeface="宋体" panose="02010600030101010101" pitchFamily="2" charset="-122"/>
              </a:rPr>
              <a:t>源文件</a:t>
            </a:r>
            <a:r>
              <a:rPr lang="en-US" altLang="zh-CN" sz="2200" dirty="0">
                <a:latin typeface="宋体" panose="02010600030101010101" pitchFamily="2" charset="-122"/>
                <a:ea typeface="宋体" panose="02010600030101010101" pitchFamily="2" charset="-122"/>
              </a:rPr>
              <a:t>&gt; </a:t>
            </a:r>
            <a:r>
              <a:rPr lang="zh-CN" altLang="en-US" sz="2200" dirty="0">
                <a:latin typeface="宋体" panose="02010600030101010101" pitchFamily="2" charset="-122"/>
                <a:ea typeface="宋体" panose="02010600030101010101" pitchFamily="2" charset="-122"/>
              </a:rPr>
              <a:t>为 </a:t>
            </a:r>
            <a:r>
              <a:rPr lang="en-US" altLang="zh-CN" sz="2200" dirty="0">
                <a:latin typeface="宋体" panose="02010600030101010101" pitchFamily="2" charset="-122"/>
                <a:ea typeface="宋体" panose="02010600030101010101" pitchFamily="2" charset="-122"/>
              </a:rPr>
              <a:t>tar </a:t>
            </a:r>
            <a:r>
              <a:rPr lang="zh-CN" altLang="en-US" sz="2200" dirty="0">
                <a:latin typeface="宋体" panose="02010600030101010101" pitchFamily="2" charset="-122"/>
                <a:ea typeface="宋体" panose="02010600030101010101" pitchFamily="2" charset="-122"/>
              </a:rPr>
              <a:t>压缩文件的话，压缩格式为 </a:t>
            </a:r>
            <a:r>
              <a:rPr lang="en-US" altLang="zh-CN" sz="2200" dirty="0" err="1">
                <a:latin typeface="宋体" panose="02010600030101010101" pitchFamily="2" charset="-122"/>
                <a:ea typeface="宋体" panose="02010600030101010101" pitchFamily="2" charset="-122"/>
              </a:rPr>
              <a:t>gzip</a:t>
            </a:r>
            <a:r>
              <a:rPr lang="en-US" altLang="zh-CN" sz="2200" dirty="0">
                <a:latin typeface="宋体" panose="02010600030101010101" pitchFamily="2" charset="-122"/>
                <a:ea typeface="宋体" panose="02010600030101010101" pitchFamily="2" charset="-122"/>
              </a:rPr>
              <a:t>, bzip2 </a:t>
            </a:r>
            <a:r>
              <a:rPr lang="zh-CN" altLang="en-US" sz="2200" dirty="0">
                <a:latin typeface="宋体" panose="02010600030101010101" pitchFamily="2" charset="-122"/>
                <a:ea typeface="宋体" panose="02010600030101010101" pitchFamily="2" charset="-122"/>
              </a:rPr>
              <a:t>以及 </a:t>
            </a:r>
            <a:r>
              <a:rPr lang="en-US" altLang="zh-CN" sz="2200" dirty="0" err="1">
                <a:latin typeface="宋体" panose="02010600030101010101" pitchFamily="2" charset="-122"/>
                <a:ea typeface="宋体" panose="02010600030101010101" pitchFamily="2" charset="-122"/>
              </a:rPr>
              <a:t>xz</a:t>
            </a: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的情况下，会自动复制并解压到 </a:t>
            </a:r>
            <a:r>
              <a:rPr lang="en-US" altLang="zh-CN" sz="2200" dirty="0">
                <a:latin typeface="宋体" panose="02010600030101010101" pitchFamily="2" charset="-122"/>
                <a:ea typeface="宋体" panose="02010600030101010101" pitchFamily="2" charset="-122"/>
              </a:rPr>
              <a:t>&lt;</a:t>
            </a:r>
            <a:r>
              <a:rPr lang="zh-CN" altLang="en-US" sz="2200" dirty="0">
                <a:latin typeface="宋体" panose="02010600030101010101" pitchFamily="2" charset="-122"/>
                <a:ea typeface="宋体" panose="02010600030101010101" pitchFamily="2" charset="-122"/>
              </a:rPr>
              <a:t>目标路径</a:t>
            </a:r>
            <a:r>
              <a:rPr lang="en-US" altLang="zh-CN" sz="2200" dirty="0">
                <a:latin typeface="宋体" panose="02010600030101010101" pitchFamily="2" charset="-122"/>
                <a:ea typeface="宋体" panose="02010600030101010101" pitchFamily="2" charset="-122"/>
              </a:rPr>
              <a:t>&gt;</a:t>
            </a:r>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3</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ADD </a:t>
            </a:r>
            <a:r>
              <a:rPr lang="zh-CN" altLang="en-US" sz="2200" dirty="0">
                <a:latin typeface="宋体" panose="02010600030101010101" pitchFamily="2" charset="-122"/>
                <a:ea typeface="宋体" panose="02010600030101010101" pitchFamily="2" charset="-122"/>
              </a:rPr>
              <a:t>的缺点：在不解压的前提下，无法复制 </a:t>
            </a:r>
            <a:r>
              <a:rPr lang="en-US" altLang="zh-CN" sz="2200" dirty="0">
                <a:latin typeface="宋体" panose="02010600030101010101" pitchFamily="2" charset="-122"/>
                <a:ea typeface="宋体" panose="02010600030101010101" pitchFamily="2" charset="-122"/>
              </a:rPr>
              <a:t>tar </a:t>
            </a:r>
            <a:r>
              <a:rPr lang="zh-CN" altLang="en-US" sz="2200" dirty="0">
                <a:latin typeface="宋体" panose="02010600030101010101" pitchFamily="2" charset="-122"/>
                <a:ea typeface="宋体" panose="02010600030101010101" pitchFamily="2" charset="-122"/>
              </a:rPr>
              <a:t>压缩文件。会令镜像构建缓存失效，从而可能会令镜像构建变得比较缓慢。具体是否使用，可以根据是否需要自动解压来决定。</a:t>
            </a:r>
            <a:endParaRPr lang="zh-CN" altLang="en-US" sz="2200" dirty="0">
              <a:latin typeface="宋体" panose="02010600030101010101" pitchFamily="2" charset="-122"/>
              <a:ea typeface="宋体" panose="02010600030101010101" pitchFamily="2" charset="-122"/>
            </a:endParaRPr>
          </a:p>
          <a:p>
            <a:pPr>
              <a:lnSpc>
                <a:spcPct val="150000"/>
              </a:lnSpc>
            </a:pPr>
            <a:endParaRPr lang="zh-CN" altLang="zh-CN" sz="24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50230" cy="4858574"/>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10</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VOLUME</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4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VOLUME</a:t>
            </a:r>
            <a:r>
              <a:rPr lang="zh-CN" altLang="zh-CN" sz="2200" dirty="0">
                <a:latin typeface="宋体" panose="02010600030101010101" pitchFamily="2" charset="-122"/>
                <a:ea typeface="宋体" panose="02010600030101010101" pitchFamily="2" charset="-122"/>
              </a:rPr>
              <a:t>指令可实现挂载功能，可以将本地文件夹或者其他容器的文件夹挂载到某个容器中，</a:t>
            </a:r>
            <a:r>
              <a:rPr lang="zh-CN" altLang="en-US" sz="2200" dirty="0">
                <a:latin typeface="宋体" panose="02010600030101010101" pitchFamily="2" charset="-122"/>
                <a:ea typeface="宋体" panose="02010600030101010101" pitchFamily="2" charset="-122"/>
              </a:rPr>
              <a:t>用于定义匿名数据卷。在启动容器时忘记挂载数据卷，会自动挂载到匿名卷。</a:t>
            </a:r>
            <a:endParaRPr lang="zh-CN" altLang="en-US"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作用：</a:t>
            </a:r>
            <a:endParaRPr lang="zh-CN" altLang="en-US" sz="2200" dirty="0">
              <a:latin typeface="宋体" panose="02010600030101010101" pitchFamily="2" charset="-122"/>
              <a:ea typeface="宋体" panose="02010600030101010101" pitchFamily="2" charset="-122"/>
            </a:endParaRPr>
          </a:p>
          <a:p>
            <a:pPr marL="342900" lvl="1" indent="-342900" algn="just" latinLnBrk="1">
              <a:lnSpc>
                <a:spcPct val="1250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避免重要的数据，因容器重启而丢失，这是非常致命的。</a:t>
            </a:r>
            <a:endParaRPr lang="zh-CN" altLang="en-US" sz="2200" dirty="0">
              <a:latin typeface="宋体" panose="02010600030101010101" pitchFamily="2" charset="-122"/>
              <a:ea typeface="宋体" panose="02010600030101010101" pitchFamily="2" charset="-122"/>
            </a:endParaRPr>
          </a:p>
          <a:p>
            <a:pPr marL="342900" lvl="1" indent="-342900" algn="just" latinLnBrk="1">
              <a:lnSpc>
                <a:spcPct val="1250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避免容器不断变大。</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200" dirty="0">
                <a:latin typeface="宋体" panose="02010600030101010101" pitchFamily="2" charset="-122"/>
                <a:ea typeface="宋体" panose="02010600030101010101" pitchFamily="2" charset="-122"/>
              </a:rPr>
              <a:t>其指令格式如下</a:t>
            </a:r>
            <a:r>
              <a:rPr lang="zh-CN" altLang="en-US" sz="2200" dirty="0">
                <a:latin typeface="宋体" panose="02010600030101010101" pitchFamily="2" charset="-122"/>
                <a:ea typeface="宋体" panose="02010600030101010101" pitchFamily="2" charset="-122"/>
              </a:rPr>
              <a:t>：</a:t>
            </a:r>
            <a:endParaRPr lang="zh-CN"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200" dirty="0">
                <a:latin typeface="宋体" panose="02010600030101010101" pitchFamily="2" charset="-122"/>
                <a:ea typeface="宋体" panose="02010600030101010101" pitchFamily="2" charset="-122"/>
              </a:rPr>
              <a:t>格式</a:t>
            </a:r>
            <a:r>
              <a:rPr lang="en-US" altLang="zh-CN" sz="2200" dirty="0">
                <a:latin typeface="宋体" panose="02010600030101010101" pitchFamily="2" charset="-122"/>
                <a:ea typeface="宋体" panose="02010600030101010101" pitchFamily="2" charset="-122"/>
              </a:rPr>
              <a:t>1</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VOLUME &lt;</a:t>
            </a:r>
            <a:r>
              <a:rPr lang="zh-CN" altLang="zh-CN" sz="2200" dirty="0">
                <a:latin typeface="宋体" panose="02010600030101010101" pitchFamily="2" charset="-122"/>
                <a:ea typeface="宋体" panose="02010600030101010101" pitchFamily="2" charset="-122"/>
              </a:rPr>
              <a:t>路径</a:t>
            </a:r>
            <a:r>
              <a:rPr lang="en-US" altLang="zh-CN" sz="2200" dirty="0">
                <a:latin typeface="宋体" panose="02010600030101010101" pitchFamily="2" charset="-122"/>
                <a:ea typeface="宋体" panose="02010600030101010101" pitchFamily="2" charset="-122"/>
              </a:rPr>
              <a:t>&gt;</a:t>
            </a:r>
            <a:endParaRPr lang="zh-CN"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200" dirty="0">
                <a:latin typeface="宋体" panose="02010600030101010101" pitchFamily="2" charset="-122"/>
                <a:ea typeface="宋体" panose="02010600030101010101" pitchFamily="2" charset="-122"/>
              </a:rPr>
              <a:t>格式</a:t>
            </a:r>
            <a:r>
              <a:rPr lang="en-US" altLang="zh-CN" sz="2200" dirty="0">
                <a:latin typeface="宋体" panose="02010600030101010101" pitchFamily="2" charset="-122"/>
                <a:ea typeface="宋体" panose="02010600030101010101" pitchFamily="2" charset="-122"/>
              </a:rPr>
              <a:t>2</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VOLUME ["&lt;</a:t>
            </a:r>
            <a:r>
              <a:rPr lang="zh-CN" altLang="zh-CN" sz="2200" dirty="0">
                <a:latin typeface="宋体" panose="02010600030101010101" pitchFamily="2" charset="-122"/>
                <a:ea typeface="宋体" panose="02010600030101010101" pitchFamily="2" charset="-122"/>
              </a:rPr>
              <a:t>路径</a:t>
            </a:r>
            <a:r>
              <a:rPr lang="en-US" altLang="zh-CN" sz="2200" dirty="0">
                <a:latin typeface="宋体" panose="02010600030101010101" pitchFamily="2" charset="-122"/>
                <a:ea typeface="宋体" panose="02010600030101010101" pitchFamily="2" charset="-122"/>
              </a:rPr>
              <a:t>1&gt;", "&lt;</a:t>
            </a:r>
            <a:r>
              <a:rPr lang="zh-CN" altLang="zh-CN" sz="2200" dirty="0">
                <a:latin typeface="宋体" panose="02010600030101010101" pitchFamily="2" charset="-122"/>
                <a:ea typeface="宋体" panose="02010600030101010101" pitchFamily="2" charset="-122"/>
              </a:rPr>
              <a:t>路径</a:t>
            </a:r>
            <a:r>
              <a:rPr lang="en-US" altLang="zh-CN" sz="2200" dirty="0">
                <a:latin typeface="宋体" panose="02010600030101010101" pitchFamily="2" charset="-122"/>
                <a:ea typeface="宋体" panose="02010600030101010101" pitchFamily="2" charset="-122"/>
              </a:rPr>
              <a:t>2&gt;", </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在启动容器 </a:t>
            </a:r>
            <a:r>
              <a:rPr lang="en-US" altLang="zh-CN" sz="2200" dirty="0">
                <a:latin typeface="宋体" panose="02010600030101010101" pitchFamily="2" charset="-122"/>
                <a:ea typeface="宋体" panose="02010600030101010101" pitchFamily="2" charset="-122"/>
              </a:rPr>
              <a:t>docker run </a:t>
            </a:r>
            <a:r>
              <a:rPr lang="zh-CN" altLang="en-US" sz="2200" dirty="0">
                <a:latin typeface="宋体" panose="02010600030101010101" pitchFamily="2" charset="-122"/>
                <a:ea typeface="宋体" panose="02010600030101010101" pitchFamily="2" charset="-122"/>
              </a:rPr>
              <a:t>的时候，我们可以通过 </a:t>
            </a:r>
            <a:r>
              <a:rPr lang="en-US" altLang="zh-CN" sz="2200" dirty="0">
                <a:latin typeface="宋体" panose="02010600030101010101" pitchFamily="2" charset="-122"/>
                <a:ea typeface="宋体" panose="02010600030101010101" pitchFamily="2" charset="-122"/>
              </a:rPr>
              <a:t>-v </a:t>
            </a:r>
            <a:r>
              <a:rPr lang="zh-CN" altLang="en-US" sz="2200" dirty="0">
                <a:latin typeface="宋体" panose="02010600030101010101" pitchFamily="2" charset="-122"/>
                <a:ea typeface="宋体" panose="02010600030101010101" pitchFamily="2" charset="-122"/>
              </a:rPr>
              <a:t>参数修改挂载点。</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举例：</a:t>
            </a:r>
            <a:r>
              <a:rPr lang="en-US" altLang="zh-CN" sz="2200" dirty="0">
                <a:latin typeface="宋体" panose="02010600030101010101" pitchFamily="2" charset="-122"/>
                <a:ea typeface="宋体" panose="02010600030101010101" pitchFamily="2" charset="-122"/>
              </a:rPr>
              <a:t>volume [“/abv”]</a:t>
            </a:r>
            <a:endParaRPr lang="zh-CN" altLang="zh-CN" sz="22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00189" cy="2280945"/>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10</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VOLUME</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注意：</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1</a:t>
            </a:r>
            <a:r>
              <a:rPr lang="zh-CN" altLang="en-US" sz="2200" dirty="0">
                <a:latin typeface="宋体" panose="02010600030101010101" pitchFamily="2" charset="-122"/>
                <a:ea typeface="宋体" panose="02010600030101010101" pitchFamily="2" charset="-122"/>
              </a:rPr>
              <a:t>、在启动容器 </a:t>
            </a:r>
            <a:r>
              <a:rPr lang="en-US" altLang="zh-CN" sz="2200" dirty="0">
                <a:latin typeface="宋体" panose="02010600030101010101" pitchFamily="2" charset="-122"/>
                <a:ea typeface="宋体" panose="02010600030101010101" pitchFamily="2" charset="-122"/>
              </a:rPr>
              <a:t>docker run </a:t>
            </a:r>
            <a:r>
              <a:rPr lang="zh-CN" altLang="en-US" sz="2200" dirty="0">
                <a:latin typeface="宋体" panose="02010600030101010101" pitchFamily="2" charset="-122"/>
                <a:ea typeface="宋体" panose="02010600030101010101" pitchFamily="2" charset="-122"/>
              </a:rPr>
              <a:t>的时候，我们可以通过 </a:t>
            </a:r>
            <a:r>
              <a:rPr lang="en-US" altLang="zh-CN" sz="2200" dirty="0">
                <a:latin typeface="宋体" panose="02010600030101010101" pitchFamily="2" charset="-122"/>
                <a:ea typeface="宋体" panose="02010600030101010101" pitchFamily="2" charset="-122"/>
              </a:rPr>
              <a:t>-v </a:t>
            </a:r>
            <a:r>
              <a:rPr lang="zh-CN" altLang="en-US" sz="2200" dirty="0">
                <a:latin typeface="宋体" panose="02010600030101010101" pitchFamily="2" charset="-122"/>
                <a:ea typeface="宋体" panose="02010600030101010101" pitchFamily="2" charset="-122"/>
              </a:rPr>
              <a:t>参数修改挂载点。</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、如果</a:t>
            </a:r>
            <a:r>
              <a:rPr lang="en-US" altLang="zh-CN" sz="2200" dirty="0" err="1">
                <a:latin typeface="宋体" panose="02010600030101010101" pitchFamily="2" charset="-122"/>
                <a:ea typeface="宋体" panose="02010600030101010101" pitchFamily="2" charset="-122"/>
              </a:rPr>
              <a:t>Dokerfile</a:t>
            </a:r>
            <a:r>
              <a:rPr lang="zh-CN" altLang="en-US" sz="2200" dirty="0">
                <a:latin typeface="宋体" panose="02010600030101010101" pitchFamily="2" charset="-122"/>
                <a:ea typeface="宋体" panose="02010600030101010101" pitchFamily="2" charset="-122"/>
              </a:rPr>
              <a:t>中已经声明了某个挂载点，那么以后对此挂载点文件的操作将不会生效，因此，建议在</a:t>
            </a:r>
            <a:r>
              <a:rPr lang="en-US" altLang="zh-CN" sz="2200" dirty="0" err="1">
                <a:latin typeface="宋体" panose="02010600030101010101" pitchFamily="2" charset="-122"/>
                <a:ea typeface="宋体" panose="02010600030101010101" pitchFamily="2" charset="-122"/>
              </a:rPr>
              <a:t>Dokcerfile</a:t>
            </a:r>
            <a:r>
              <a:rPr lang="zh-CN" altLang="en-US" sz="2200" dirty="0">
                <a:latin typeface="宋体" panose="02010600030101010101" pitchFamily="2" charset="-122"/>
                <a:ea typeface="宋体" panose="02010600030101010101" pitchFamily="2" charset="-122"/>
              </a:rPr>
              <a:t>文件的结尾声明挂载点。</a:t>
            </a:r>
            <a:endParaRPr lang="zh-CN" altLang="zh-CN" sz="22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550524"/>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12</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WORKDIR</a:t>
            </a:r>
            <a:r>
              <a:rPr lang="zh-CN" altLang="zh-CN" sz="2400" b="1" dirty="0">
                <a:latin typeface="宋体" panose="02010600030101010101" pitchFamily="2" charset="-122"/>
                <a:ea typeface="宋体" panose="02010600030101010101" pitchFamily="2" charset="-122"/>
              </a:rPr>
              <a:t>指令</a:t>
            </a:r>
            <a:endParaRPr lang="en-US"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WORKDIR</a:t>
            </a:r>
            <a:r>
              <a:rPr lang="zh-CN" altLang="zh-CN" sz="2200" dirty="0">
                <a:latin typeface="宋体" panose="02010600030101010101" pitchFamily="2" charset="-122"/>
                <a:ea typeface="宋体" panose="02010600030101010101" pitchFamily="2" charset="-122"/>
              </a:rPr>
              <a:t>指令用于设置容器的工作目录</a:t>
            </a:r>
            <a:r>
              <a:rPr lang="en-US" altLang="zh-CN"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zh-CN" sz="2200" b="1" dirty="0">
                <a:latin typeface="宋体" panose="02010600030101010101" pitchFamily="2" charset="-122"/>
                <a:ea typeface="宋体" panose="02010600030101010101" pitchFamily="2" charset="-122"/>
              </a:rPr>
              <a:t>其指令格式如下</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WORKDIR &lt;</a:t>
            </a:r>
            <a:r>
              <a:rPr lang="zh-CN" altLang="zh-CN" sz="2200" dirty="0">
                <a:latin typeface="宋体" panose="02010600030101010101" pitchFamily="2" charset="-122"/>
                <a:ea typeface="宋体" panose="02010600030101010101" pitchFamily="2" charset="-122"/>
              </a:rPr>
              <a:t>工作目录</a:t>
            </a:r>
            <a:r>
              <a:rPr lang="en-US" altLang="zh-CN" sz="2200" dirty="0">
                <a:latin typeface="宋体" panose="02010600030101010101" pitchFamily="2" charset="-122"/>
                <a:ea typeface="宋体" panose="02010600030101010101" pitchFamily="2" charset="-122"/>
              </a:rPr>
              <a:t>&gt;</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WORKDIR</a:t>
            </a:r>
            <a:r>
              <a:rPr lang="zh-CN" altLang="zh-CN" sz="2200" dirty="0">
                <a:latin typeface="宋体" panose="02010600030101010101" pitchFamily="2" charset="-122"/>
                <a:ea typeface="宋体" panose="02010600030101010101" pitchFamily="2" charset="-122"/>
              </a:rPr>
              <a:t>指令指定的工作目录不存在时，会自动创建该目录。</a:t>
            </a:r>
            <a:r>
              <a:rPr lang="en-US" altLang="zh-CN" sz="2200" dirty="0">
                <a:latin typeface="宋体" panose="02010600030101010101" pitchFamily="2" charset="-122"/>
                <a:ea typeface="宋体" panose="02010600030101010101" pitchFamily="2" charset="-122"/>
              </a:rPr>
              <a:t>WORKDIR</a:t>
            </a:r>
            <a:r>
              <a:rPr lang="zh-CN" altLang="zh-CN" sz="2200" dirty="0">
                <a:latin typeface="宋体" panose="02010600030101010101" pitchFamily="2" charset="-122"/>
                <a:ea typeface="宋体" panose="02010600030101010101" pitchFamily="2" charset="-122"/>
              </a:rPr>
              <a:t>指令可以为</a:t>
            </a:r>
            <a:r>
              <a:rPr lang="en-US" altLang="zh-CN" sz="2200" dirty="0">
                <a:latin typeface="宋体" panose="02010600030101010101" pitchFamily="2" charset="-122"/>
                <a:ea typeface="宋体" panose="02010600030101010101" pitchFamily="2" charset="-122"/>
              </a:rPr>
              <a:t>RUN</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CMD</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ENTRYPOINT</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COPY</a:t>
            </a:r>
            <a:r>
              <a:rPr lang="zh-CN" altLang="zh-CN"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ADD</a:t>
            </a:r>
            <a:r>
              <a:rPr lang="zh-CN" altLang="zh-CN" sz="2200" dirty="0">
                <a:latin typeface="宋体" panose="02010600030101010101" pitchFamily="2" charset="-122"/>
                <a:ea typeface="宋体" panose="02010600030101010101" pitchFamily="2" charset="-122"/>
              </a:rPr>
              <a:t>指令配置工作目录。</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docker build </a:t>
            </a:r>
            <a:r>
              <a:rPr lang="zh-CN" altLang="en-US" sz="2200" dirty="0">
                <a:latin typeface="宋体" panose="02010600030101010101" pitchFamily="2" charset="-122"/>
                <a:ea typeface="宋体" panose="02010600030101010101" pitchFamily="2" charset="-122"/>
              </a:rPr>
              <a:t>构建镜像过程中的，每一个 </a:t>
            </a:r>
            <a:r>
              <a:rPr lang="en-US" altLang="zh-CN" sz="2200" dirty="0">
                <a:latin typeface="宋体" panose="02010600030101010101" pitchFamily="2" charset="-122"/>
                <a:ea typeface="宋体" panose="02010600030101010101" pitchFamily="2" charset="-122"/>
              </a:rPr>
              <a:t>RUN </a:t>
            </a:r>
            <a:r>
              <a:rPr lang="zh-CN" altLang="en-US" sz="2200" dirty="0">
                <a:latin typeface="宋体" panose="02010600030101010101" pitchFamily="2" charset="-122"/>
                <a:ea typeface="宋体" panose="02010600030101010101" pitchFamily="2" charset="-122"/>
              </a:rPr>
              <a:t>命令都是新建的一层。只有通过 </a:t>
            </a:r>
            <a:r>
              <a:rPr lang="en-US" altLang="zh-CN" sz="2200" dirty="0">
                <a:latin typeface="宋体" panose="02010600030101010101" pitchFamily="2" charset="-122"/>
                <a:ea typeface="宋体" panose="02010600030101010101" pitchFamily="2" charset="-122"/>
              </a:rPr>
              <a:t>WORKDIR </a:t>
            </a:r>
            <a:r>
              <a:rPr lang="zh-CN" altLang="en-US" sz="2200" dirty="0">
                <a:latin typeface="宋体" panose="02010600030101010101" pitchFamily="2" charset="-122"/>
                <a:ea typeface="宋体" panose="02010600030101010101" pitchFamily="2" charset="-122"/>
              </a:rPr>
              <a:t>创建的目录才会一直存在。</a:t>
            </a:r>
            <a:endParaRPr lang="zh-CN" altLang="zh-CN" sz="22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8968249" y="0"/>
            <a:ext cx="2800964" cy="2284807"/>
          </a:xfrm>
          <a:prstGeom prst="rect">
            <a:avLst/>
          </a:prstGeom>
        </p:spPr>
      </p:pic>
      <p:pic>
        <p:nvPicPr>
          <p:cNvPr id="7" name="图片 6"/>
          <p:cNvPicPr>
            <a:picLocks noChangeAspect="1"/>
          </p:cNvPicPr>
          <p:nvPr/>
        </p:nvPicPr>
        <p:blipFill>
          <a:blip r:embed="rId2"/>
          <a:stretch>
            <a:fillRect/>
          </a:stretch>
        </p:blipFill>
        <p:spPr>
          <a:xfrm>
            <a:off x="9002160" y="1999137"/>
            <a:ext cx="2110071" cy="28567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6170920"/>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12</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WORKDIR</a:t>
            </a:r>
            <a:r>
              <a:rPr lang="zh-CN" altLang="zh-CN" sz="2400" b="1" dirty="0">
                <a:latin typeface="宋体" panose="02010600030101010101" pitchFamily="2" charset="-122"/>
                <a:ea typeface="宋体" panose="02010600030101010101" pitchFamily="2" charset="-122"/>
              </a:rPr>
              <a:t>指令</a:t>
            </a:r>
            <a:endParaRPr lang="zh-CN" altLang="zh-CN" sz="2400" b="1"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4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注意：</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	</a:t>
            </a:r>
            <a:r>
              <a:rPr lang="en-US" altLang="zh-CN" sz="2200" dirty="0" err="1">
                <a:latin typeface="宋体" panose="02010600030101010101" pitchFamily="2" charset="-122"/>
                <a:ea typeface="宋体" panose="02010600030101010101" pitchFamily="2" charset="-122"/>
              </a:rPr>
              <a:t>Dockerfile</a:t>
            </a:r>
            <a:r>
              <a:rPr lang="zh-CN" altLang="en-US" sz="2200" dirty="0">
                <a:latin typeface="宋体" panose="02010600030101010101" pitchFamily="2" charset="-122"/>
                <a:ea typeface="宋体" panose="02010600030101010101" pitchFamily="2" charset="-122"/>
              </a:rPr>
              <a:t>文件中允许出现多个</a:t>
            </a:r>
            <a:r>
              <a:rPr lang="en-US" altLang="zh-CN" sz="2200" dirty="0">
                <a:latin typeface="宋体" panose="02010600030101010101" pitchFamily="2" charset="-122"/>
                <a:ea typeface="宋体" panose="02010600030101010101" pitchFamily="2" charset="-122"/>
              </a:rPr>
              <a:t>WORDIR,</a:t>
            </a:r>
            <a:r>
              <a:rPr lang="zh-CN" altLang="en-US" sz="2200" dirty="0">
                <a:latin typeface="宋体" panose="02010600030101010101" pitchFamily="2" charset="-122"/>
                <a:ea typeface="宋体" panose="02010600030101010101" pitchFamily="2" charset="-122"/>
              </a:rPr>
              <a:t>但最终生效的路径是所有</a:t>
            </a:r>
            <a:r>
              <a:rPr lang="en-US" altLang="zh-CN" sz="2200" dirty="0">
                <a:latin typeface="宋体" panose="02010600030101010101" pitchFamily="2" charset="-122"/>
                <a:ea typeface="宋体" panose="02010600030101010101" pitchFamily="2" charset="-122"/>
              </a:rPr>
              <a:t>WORKDIR</a:t>
            </a:r>
            <a:r>
              <a:rPr lang="zh-CN" altLang="en-US" sz="2200" dirty="0">
                <a:latin typeface="宋体" panose="02010600030101010101" pitchFamily="2" charset="-122"/>
                <a:ea typeface="宋体" panose="02010600030101010101" pitchFamily="2" charset="-122"/>
              </a:rPr>
              <a:t>指定路径的叠加。</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举例：</a:t>
            </a:r>
            <a:r>
              <a:rPr lang="en-US" altLang="zh-CN" sz="2200" dirty="0">
                <a:latin typeface="宋体" panose="02010600030101010101" pitchFamily="2" charset="-122"/>
                <a:ea typeface="宋体" panose="02010600030101010101" pitchFamily="2" charset="-122"/>
              </a:rPr>
              <a:t>WORKDIR</a:t>
            </a: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/user</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	    WORKDIR compute</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	    WORKDIR </a:t>
            </a:r>
            <a:r>
              <a:rPr lang="en-US" altLang="zh-CN" sz="2200" dirty="0" err="1">
                <a:latin typeface="宋体" panose="02010600030101010101" pitchFamily="2" charset="-122"/>
                <a:ea typeface="宋体" panose="02010600030101010101" pitchFamily="2" charset="-122"/>
              </a:rPr>
              <a:t>zhang</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en-US" altLang="zh-CN" sz="2200" dirty="0">
                <a:latin typeface="宋体" panose="02010600030101010101" pitchFamily="2" charset="-122"/>
                <a:ea typeface="宋体" panose="02010600030101010101" pitchFamily="2" charset="-122"/>
              </a:rPr>
              <a:t>	    RUN </a:t>
            </a:r>
            <a:r>
              <a:rPr lang="en-US" altLang="zh-CN" sz="2200" dirty="0" err="1">
                <a:latin typeface="宋体" panose="02010600030101010101" pitchFamily="2" charset="-122"/>
                <a:ea typeface="宋体" panose="02010600030101010101" pitchFamily="2" charset="-122"/>
              </a:rPr>
              <a:t>pwd</a:t>
            </a:r>
            <a:endParaRPr lang="en-US" altLang="zh-CN" sz="2200" dirty="0">
              <a:latin typeface="宋体" panose="02010600030101010101" pitchFamily="2" charset="-122"/>
              <a:ea typeface="宋体" panose="02010600030101010101" pitchFamily="2" charset="-122"/>
            </a:endParaRPr>
          </a:p>
          <a:p>
            <a:pPr marL="0" lvl="1" indent="720090" algn="just" latinLnBrk="1">
              <a:lnSpc>
                <a:spcPct val="125000"/>
              </a:lnSpc>
            </a:pPr>
            <a:r>
              <a:rPr lang="zh-CN" altLang="en-US" sz="2200" dirty="0">
                <a:latin typeface="宋体" panose="02010600030101010101" pitchFamily="2" charset="-122"/>
                <a:ea typeface="宋体" panose="02010600030101010101" pitchFamily="2" charset="-122"/>
              </a:rPr>
              <a:t>其最终目录是</a:t>
            </a:r>
            <a:r>
              <a:rPr lang="en-US" altLang="zh-CN" sz="2200" dirty="0">
                <a:latin typeface="宋体" panose="02010600030101010101" pitchFamily="2" charset="-122"/>
                <a:ea typeface="宋体" panose="02010600030101010101" pitchFamily="2" charset="-122"/>
              </a:rPr>
              <a:t>/user/compute/</a:t>
            </a:r>
            <a:r>
              <a:rPr lang="en-US" altLang="zh-CN" sz="2200" dirty="0" err="1">
                <a:latin typeface="宋体" panose="02010600030101010101" pitchFamily="2" charset="-122"/>
                <a:ea typeface="宋体" panose="02010600030101010101" pitchFamily="2" charset="-122"/>
              </a:rPr>
              <a:t>zhang</a:t>
            </a:r>
            <a:r>
              <a:rPr lang="zh-CN" altLang="en-US" sz="2200" dirty="0">
                <a:latin typeface="宋体" panose="02010600030101010101" pitchFamily="2" charset="-122"/>
                <a:ea typeface="宋体" panose="02010600030101010101" pitchFamily="2" charset="-122"/>
              </a:rPr>
              <a:t> 。</a:t>
            </a:r>
            <a:endParaRPr lang="en-US" altLang="zh-CN" sz="2200" dirty="0">
              <a:latin typeface="宋体" panose="02010600030101010101" pitchFamily="2" charset="-122"/>
              <a:ea typeface="宋体" panose="02010600030101010101" pitchFamily="2" charset="-122"/>
            </a:endParaRPr>
          </a:p>
          <a:p>
            <a:pPr>
              <a:lnSpc>
                <a:spcPct val="150000"/>
              </a:lnSpc>
            </a:pPr>
            <a:endParaRPr lang="en-US" altLang="zh-CN" sz="3200" dirty="0">
              <a:latin typeface="宋体" panose="02010600030101010101" pitchFamily="2" charset="-122"/>
              <a:ea typeface="宋体" panose="02010600030101010101" pitchFamily="2" charset="-122"/>
            </a:endParaRPr>
          </a:p>
          <a:p>
            <a:pPr>
              <a:lnSpc>
                <a:spcPct val="150000"/>
              </a:lnSpc>
            </a:pPr>
            <a:endParaRPr lang="en-US" altLang="zh-CN" sz="3200" dirty="0">
              <a:latin typeface="宋体" panose="02010600030101010101" pitchFamily="2" charset="-122"/>
              <a:ea typeface="宋体" panose="02010600030101010101" pitchFamily="2" charset="-122"/>
            </a:endParaRPr>
          </a:p>
          <a:p>
            <a:pPr>
              <a:lnSpc>
                <a:spcPct val="150000"/>
              </a:lnSpc>
            </a:pPr>
            <a:endParaRPr lang="zh-CN" altLang="zh-CN" sz="3200" dirty="0">
              <a:latin typeface="宋体" panose="02010600030101010101" pitchFamily="2" charset="-122"/>
              <a:ea typeface="宋体" panose="02010600030101010101" pitchFamily="2" charset="-122"/>
            </a:endParaRPr>
          </a:p>
        </p:txBody>
      </p:sp>
      <p:sp>
        <p:nvSpPr>
          <p:cNvPr id="8"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1"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4"/>
          <p:cNvSpPr>
            <a:spLocks noGrp="1"/>
          </p:cNvSpPr>
          <p:nvPr>
            <p:ph type="body" sz="quarter" idx="11"/>
          </p:nvPr>
        </p:nvSpPr>
        <p:spPr>
          <a:xfrm>
            <a:off x="3023999" y="105223"/>
            <a:ext cx="6969087"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dirty="0">
                <a:latin typeface="宋体" panose="02010600030101010101" pitchFamily="2" charset="-122"/>
                <a:ea typeface="宋体" panose="02010600030101010101" pitchFamily="2" charset="-122"/>
              </a:rPr>
              <a:t>相关知识</a:t>
            </a:r>
            <a:endParaRPr lang="zh-CN" altLang="en-US" sz="3200" b="1" dirty="0">
              <a:latin typeface="宋体" panose="02010600030101010101" pitchFamily="2" charset="-122"/>
              <a:ea typeface="宋体" panose="02010600030101010101" pitchFamily="2" charset="-122"/>
            </a:endParaRPr>
          </a:p>
        </p:txBody>
      </p:sp>
      <p:sp>
        <p:nvSpPr>
          <p:cNvPr id="10"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graphicFrame>
        <p:nvGraphicFramePr>
          <p:cNvPr id="8" name="表格 7"/>
          <p:cNvGraphicFramePr/>
          <p:nvPr/>
        </p:nvGraphicFramePr>
        <p:xfrm>
          <a:off x="1149377" y="2065526"/>
          <a:ext cx="9339580" cy="4566074"/>
        </p:xfrm>
        <a:graphic>
          <a:graphicData uri="http://schemas.openxmlformats.org/drawingml/2006/table">
            <a:tbl>
              <a:tblPr firstRow="1" bandRow="1">
                <a:tableStyleId>{7DF18680-E054-41AD-8BC1-D1AEF772440D}</a:tableStyleId>
              </a:tblPr>
              <a:tblGrid>
                <a:gridCol w="3706707"/>
                <a:gridCol w="5632873"/>
              </a:tblGrid>
              <a:tr h="398780">
                <a:tc>
                  <a:txBody>
                    <a:bodyPr/>
                    <a:lstStyle/>
                    <a:p>
                      <a:pPr indent="0" algn="ctr">
                        <a:buNone/>
                      </a:pPr>
                      <a:r>
                        <a:rPr lang="en-US" sz="1600" dirty="0" err="1">
                          <a:latin typeface="微软雅黑" panose="020B0503020204020204" pitchFamily="34" charset="-122"/>
                          <a:ea typeface="微软雅黑" panose="020B0503020204020204" pitchFamily="34" charset="-122"/>
                        </a:rPr>
                        <a:t>指令</a:t>
                      </a:r>
                      <a:endParaRPr lang="en-US" altLang="en-US" sz="1600" dirty="0">
                        <a:latin typeface="微软雅黑" panose="020B0503020204020204" pitchFamily="34" charset="-122"/>
                        <a:ea typeface="微软雅黑" panose="020B0503020204020204" pitchFamily="34" charset="-122"/>
                      </a:endParaRPr>
                    </a:p>
                  </a:txBody>
                  <a:tcPr marT="0" marB="0" anchor="ctr"/>
                </a:tc>
                <a:tc>
                  <a:txBody>
                    <a:bodyPr/>
                    <a:lstStyle/>
                    <a:p>
                      <a:pPr indent="0" algn="ctr">
                        <a:buNone/>
                      </a:pPr>
                      <a:r>
                        <a:rPr lang="en-US" sz="1600">
                          <a:latin typeface="微软雅黑" panose="020B0503020204020204" pitchFamily="34" charset="-122"/>
                          <a:ea typeface="微软雅黑" panose="020B0503020204020204" pitchFamily="34" charset="-122"/>
                        </a:rPr>
                        <a:t>含义</a:t>
                      </a:r>
                      <a:endParaRPr lang="en-US" altLang="en-US" sz="1600">
                        <a:latin typeface="微软雅黑" panose="020B0503020204020204" pitchFamily="34" charset="-122"/>
                        <a:ea typeface="微软雅黑" panose="020B0503020204020204" pitchFamily="34" charset="-122"/>
                      </a:endParaRPr>
                    </a:p>
                  </a:txBody>
                  <a:tcPr marT="0" marB="0" anchor="ctr"/>
                </a:tc>
              </a:tr>
              <a:tr h="595207">
                <a:tc>
                  <a:txBody>
                    <a:bodyPr/>
                    <a:lstStyle/>
                    <a:p>
                      <a:pPr indent="0" algn="l">
                        <a:buNone/>
                      </a:pPr>
                      <a:r>
                        <a:rPr lang="en-US" sz="1600" dirty="0">
                          <a:latin typeface="微软雅黑" panose="020B0503020204020204" pitchFamily="34" charset="-122"/>
                          <a:ea typeface="微软雅黑" panose="020B0503020204020204" pitchFamily="34" charset="-122"/>
                          <a:cs typeface="微软雅黑" panose="020B0503020204020204" pitchFamily="34" charset="-122"/>
                        </a:rPr>
                        <a:t>FROM </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镜像</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指定新镜像所基于的镜像，第一条指令必须为FROM指令，每创建一个镜像就需要一条FROM指令</a:t>
                      </a:r>
                      <a:r>
                        <a:rPr 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MAINTAINER 名字</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rPr>
                        <a:t>说明新镜像的维护人信息</a:t>
                      </a:r>
                      <a:endParaRPr lang="en-US" altLang="en-US" sz="1600">
                        <a:latin typeface="微软雅黑" panose="020B0503020204020204" pitchFamily="34" charset="-122"/>
                        <a:ea typeface="微软雅黑" panose="020B0503020204020204" pitchFamily="34" charset="-122"/>
                      </a:endParaRPr>
                    </a:p>
                  </a:txBody>
                  <a:tcPr marT="0" marB="0" anchor="ctr"/>
                </a:tc>
              </a:tr>
              <a:tr h="298873">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RUN命令</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rPr>
                        <a:t>在所基于的镜像上执行命令，并提交到新的镜像中</a:t>
                      </a:r>
                      <a:endParaRPr lang="en-US" altLang="en-US" sz="1600" dirty="0">
                        <a:latin typeface="微软雅黑" panose="020B0503020204020204" pitchFamily="34" charset="-122"/>
                        <a:ea typeface="微软雅黑" panose="020B0503020204020204" pitchFamily="34" charset="-122"/>
                      </a:endParaRPr>
                    </a:p>
                  </a:txBody>
                  <a:tcPr marT="0" marB="0" anchor="ctr"/>
                </a:tc>
              </a:tr>
              <a:tr h="59436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CMD[“要运行的程序“，”参数1，“参数2“]</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指令启动容器时要运行的命令或者脚本，Dockerfile只能有一条CMD命令，如果指定多条则只能最后一条被执行</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dirty="0">
                          <a:latin typeface="微软雅黑" panose="020B0503020204020204" pitchFamily="34" charset="-122"/>
                          <a:ea typeface="微软雅黑" panose="020B0503020204020204" pitchFamily="34" charset="-122"/>
                          <a:cs typeface="微软雅黑" panose="020B0503020204020204" pitchFamily="34" charset="-122"/>
                        </a:rPr>
                        <a:t>EXPOSE </a:t>
                      </a:r>
                      <a:r>
                        <a:rPr lang="en-US" sz="1600" dirty="0" err="1">
                          <a:latin typeface="微软雅黑" panose="020B0503020204020204" pitchFamily="34" charset="-122"/>
                          <a:ea typeface="微软雅黑" panose="020B0503020204020204" pitchFamily="34" charset="-122"/>
                          <a:cs typeface="微软雅黑" panose="020B0503020204020204" pitchFamily="34" charset="-122"/>
                        </a:rPr>
                        <a:t>端口号</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指定新镜像加载到Docker时要开启的端口</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8027">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ENV 环境变量 变量值</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设置一个环境变量的值，会被后面的RUN使用</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595207">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ADD 源文件/目录 目标文件/目录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将源文件复制到目标文件，源文件要与Dockerfile位于相同目录中，或者是一个URL</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595207">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COPY 源文件/目录 目标文件/目录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将本地主机上的文件/目录复制到目标地点，源文件/目录要与Dockerfile在相同的目录中</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r h="297180">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VOLUME [“目录“]</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a:latin typeface="微软雅黑" panose="020B0503020204020204" pitchFamily="34" charset="-122"/>
                          <a:ea typeface="微软雅黑" panose="020B0503020204020204" pitchFamily="34" charset="-122"/>
                        </a:rPr>
                        <a:t>在容器中创建一个挂载点</a:t>
                      </a:r>
                      <a:endParaRPr lang="en-US" altLang="en-US" sz="1600">
                        <a:latin typeface="微软雅黑" panose="020B0503020204020204" pitchFamily="34" charset="-122"/>
                        <a:ea typeface="微软雅黑" panose="020B0503020204020204" pitchFamily="34" charset="-122"/>
                      </a:endParaRPr>
                    </a:p>
                  </a:txBody>
                  <a:tcPr marT="0" marB="0" anchor="ctr"/>
                </a:tc>
              </a:tr>
              <a:tr h="298873">
                <a:tc>
                  <a:txBody>
                    <a:bodyPr/>
                    <a:lstStyle/>
                    <a:p>
                      <a:pPr indent="0" algn="l">
                        <a:buNone/>
                      </a:pPr>
                      <a:r>
                        <a:rPr lang="en-US" sz="1600">
                          <a:latin typeface="微软雅黑" panose="020B0503020204020204" pitchFamily="34" charset="-122"/>
                          <a:ea typeface="微软雅黑" panose="020B0503020204020204" pitchFamily="34" charset="-122"/>
                          <a:cs typeface="微软雅黑" panose="020B0503020204020204" pitchFamily="34" charset="-122"/>
                        </a:rPr>
                        <a:t>WORKDIR 路径</a:t>
                      </a:r>
                      <a:endParaRPr lang="en-US"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c>
                  <a:txBody>
                    <a:bodyPr/>
                    <a:lstStyle/>
                    <a:p>
                      <a:pPr indent="0" algn="l">
                        <a:buNone/>
                      </a:pPr>
                      <a:r>
                        <a:rPr lang="en-US" sz="1600" dirty="0" err="1">
                          <a:latin typeface="微软雅黑" panose="020B0503020204020204" pitchFamily="34" charset="-122"/>
                          <a:ea typeface="微软雅黑" panose="020B0503020204020204" pitchFamily="34" charset="-122"/>
                          <a:cs typeface="微软雅黑" panose="020B0503020204020204" pitchFamily="34" charset="-122"/>
                        </a:rPr>
                        <a:t>为后续的RUN、CMD、ENTRYPOINT指定工作目录</a:t>
                      </a:r>
                      <a:endParaRPr lang="en-US"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marT="0" marB="0" anchor="ctr"/>
                </a:tc>
              </a:tr>
            </a:tbl>
          </a:graphicData>
        </a:graphic>
      </p:graphicFrame>
      <p:sp>
        <p:nvSpPr>
          <p:cNvPr id="7" name="文本占位符 11"/>
          <p:cNvSpPr txBox="1"/>
          <p:nvPr/>
        </p:nvSpPr>
        <p:spPr>
          <a:xfrm>
            <a:off x="337664" y="1524001"/>
            <a:ext cx="4549775" cy="6096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rgbClr val="00B0F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rgbClr val="00B0F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b="1" kern="1200">
                <a:solidFill>
                  <a:srgbClr val="00B0F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b="1" kern="1200">
                <a:solidFill>
                  <a:srgbClr val="00B0F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b="1" kern="1200">
                <a:solidFill>
                  <a:srgbClr val="00B0F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dirty="0" err="1">
                <a:solidFill>
                  <a:schemeClr val="tx1"/>
                </a:solidFill>
                <a:latin typeface="宋体" panose="02010600030101010101" pitchFamily="2" charset="-122"/>
                <a:ea typeface="宋体" panose="02010600030101010101" pitchFamily="2" charset="-122"/>
              </a:rPr>
              <a:t>Dockerfile</a:t>
            </a:r>
            <a:r>
              <a:rPr lang="zh-CN" altLang="en-US" b="1" dirty="0">
                <a:solidFill>
                  <a:schemeClr val="tx1"/>
                </a:solidFill>
                <a:latin typeface="宋体" panose="02010600030101010101" pitchFamily="2" charset="-122"/>
                <a:ea typeface="宋体" panose="02010600030101010101" pitchFamily="2" charset="-122"/>
              </a:rPr>
              <a:t>操作指令</a:t>
            </a:r>
            <a:endParaRPr lang="zh-CN" altLang="en-US" b="1"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5355312"/>
          </a:xfrm>
          <a:prstGeom prst="rect">
            <a:avLst/>
          </a:prstGeom>
          <a:noFill/>
        </p:spPr>
        <p:txBody>
          <a:bodyPr wrap="square" rtlCol="0">
            <a:spAutoFit/>
          </a:bodyPr>
          <a:lstStyle/>
          <a:p>
            <a:pPr algn="just" fontAlgn="ctr">
              <a:lnSpc>
                <a:spcPct val="150000"/>
              </a:lnSpc>
            </a:pPr>
            <a:r>
              <a:rPr lang="zh-CN" altLang="en-US" sz="2400" dirty="0">
                <a:latin typeface="宋体" panose="02010600030101010101" pitchFamily="2" charset="-122"/>
                <a:ea typeface="宋体" panose="02010600030101010101" pitchFamily="2" charset="-122"/>
              </a:rPr>
              <a:t>实训目的</a:t>
            </a:r>
            <a:endParaRPr lang="en-US" altLang="zh-CN" sz="24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）掌握利用</a:t>
            </a:r>
            <a:r>
              <a:rPr lang="en-US" altLang="zh-CN" sz="2000" dirty="0">
                <a:latin typeface="宋体" panose="02010600030101010101" pitchFamily="2" charset="-122"/>
                <a:ea typeface="宋体" panose="02010600030101010101" pitchFamily="2" charset="-122"/>
              </a:rPr>
              <a:t>commit</a:t>
            </a:r>
            <a:r>
              <a:rPr lang="zh-CN" altLang="zh-CN" sz="2000" dirty="0">
                <a:latin typeface="宋体" panose="02010600030101010101" pitchFamily="2" charset="-122"/>
                <a:ea typeface="宋体" panose="02010600030101010101" pitchFamily="2" charset="-122"/>
              </a:rPr>
              <a:t>命令构建镜像的方法。</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）掌握利用</a:t>
            </a:r>
            <a:r>
              <a:rPr lang="en-US" altLang="zh-CN" sz="2000" dirty="0" err="1">
                <a:latin typeface="宋体" panose="02010600030101010101" pitchFamily="2" charset="-122"/>
                <a:ea typeface="宋体" panose="02010600030101010101" pitchFamily="2" charset="-122"/>
              </a:rPr>
              <a:t>Dockerfile</a:t>
            </a:r>
            <a:r>
              <a:rPr lang="zh-CN" altLang="zh-CN" sz="2000" dirty="0">
                <a:latin typeface="宋体" panose="02010600030101010101" pitchFamily="2" charset="-122"/>
                <a:ea typeface="宋体" panose="02010600030101010101" pitchFamily="2" charset="-122"/>
              </a:rPr>
              <a:t>构建镜像的方法。</a:t>
            </a:r>
            <a:endParaRPr lang="en-US" altLang="zh-CN" sz="2000" dirty="0">
              <a:latin typeface="宋体" panose="02010600030101010101" pitchFamily="2" charset="-122"/>
              <a:ea typeface="宋体" panose="02010600030101010101" pitchFamily="2" charset="-122"/>
            </a:endParaRPr>
          </a:p>
          <a:p>
            <a:pPr algn="just" fontAlgn="ctr">
              <a:lnSpc>
                <a:spcPct val="150000"/>
              </a:lnSpc>
            </a:pPr>
            <a:r>
              <a:rPr lang="zh-CN" altLang="en-US" sz="2400" dirty="0">
                <a:latin typeface="宋体" panose="02010600030101010101" pitchFamily="2" charset="-122"/>
                <a:ea typeface="宋体" panose="02010600030101010101" pitchFamily="2" charset="-122"/>
              </a:rPr>
              <a:t>实训步骤（利用</a:t>
            </a:r>
            <a:r>
              <a:rPr lang="en-US" altLang="zh-CN" sz="2400" dirty="0">
                <a:latin typeface="宋体" panose="02010600030101010101" pitchFamily="2" charset="-122"/>
                <a:ea typeface="宋体" panose="02010600030101010101" pitchFamily="2" charset="-122"/>
              </a:rPr>
              <a:t>docker commit</a:t>
            </a:r>
            <a:r>
              <a:rPr lang="zh-CN" altLang="en-US" sz="2400" dirty="0">
                <a:latin typeface="宋体" panose="02010600030101010101" pitchFamily="2" charset="-122"/>
                <a:ea typeface="宋体" panose="02010600030101010101" pitchFamily="2" charset="-122"/>
              </a:rPr>
              <a:t>方式构建基于</a:t>
            </a:r>
            <a:r>
              <a:rPr lang="en-US" altLang="zh-CN" sz="2400" dirty="0" err="1">
                <a:latin typeface="宋体" panose="02010600030101010101" pitchFamily="2" charset="-122"/>
                <a:ea typeface="宋体" panose="02010600030101010101" pitchFamily="2" charset="-122"/>
              </a:rPr>
              <a:t>redhat</a:t>
            </a:r>
            <a:r>
              <a:rPr lang="zh-CN" altLang="en-US" sz="2400" dirty="0">
                <a:latin typeface="宋体" panose="02010600030101010101" pitchFamily="2" charset="-122"/>
                <a:ea typeface="宋体" panose="02010600030101010101" pitchFamily="2" charset="-122"/>
              </a:rPr>
              <a:t>的</a:t>
            </a:r>
            <a:r>
              <a:rPr lang="en-US" altLang="zh-CN" sz="2400" dirty="0">
                <a:latin typeface="宋体" panose="02010600030101010101" pitchFamily="2" charset="-122"/>
                <a:ea typeface="宋体" panose="02010600030101010101" pitchFamily="2" charset="-122"/>
              </a:rPr>
              <a:t>Tomcat</a:t>
            </a:r>
            <a:r>
              <a:rPr lang="zh-CN" altLang="en-US" sz="2400" dirty="0">
                <a:latin typeface="宋体" panose="02010600030101010101" pitchFamily="2" charset="-122"/>
                <a:ea typeface="宋体" panose="02010600030101010101" pitchFamily="2" charset="-122"/>
              </a:rPr>
              <a:t>镜像）</a:t>
            </a:r>
            <a:endParaRPr lang="en-US" altLang="zh-CN" sz="24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查看本地是否存在</a:t>
            </a:r>
            <a:r>
              <a:rPr lang="en-US" altLang="zh-CN" sz="2000" dirty="0" err="1">
                <a:latin typeface="宋体" panose="02010600030101010101" pitchFamily="2" charset="-122"/>
                <a:ea typeface="宋体" panose="02010600030101010101" pitchFamily="2" charset="-122"/>
              </a:rPr>
              <a:t>redhat</a:t>
            </a:r>
            <a:r>
              <a:rPr lang="en-US" altLang="zh-CN" sz="2000" dirty="0">
                <a:latin typeface="宋体" panose="02010600030101010101" pitchFamily="2" charset="-122"/>
                <a:ea typeface="宋体" panose="02010600030101010101" pitchFamily="2" charset="-122"/>
              </a:rPr>
              <a:t>/ubi8</a:t>
            </a:r>
            <a:r>
              <a:rPr lang="zh-CN" altLang="en-US" sz="2000" dirty="0">
                <a:latin typeface="宋体" panose="02010600030101010101" pitchFamily="2" charset="-122"/>
                <a:ea typeface="宋体" panose="02010600030101010101" pitchFamily="2" charset="-122"/>
              </a:rPr>
              <a:t>镜像</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利用</a:t>
            </a:r>
            <a:r>
              <a:rPr lang="en-US" altLang="zh-CN" sz="2000" dirty="0">
                <a:latin typeface="宋体" panose="02010600030101010101" pitchFamily="2" charset="-122"/>
                <a:ea typeface="宋体" panose="02010600030101010101" pitchFamily="2" charset="-122"/>
              </a:rPr>
              <a:t>centos</a:t>
            </a:r>
            <a:r>
              <a:rPr lang="zh-CN" altLang="en-US" sz="2000" dirty="0">
                <a:latin typeface="宋体" panose="02010600030101010101" pitchFamily="2" charset="-122"/>
                <a:ea typeface="宋体" panose="02010600030101010101" pitchFamily="2" charset="-122"/>
              </a:rPr>
              <a:t>镜像建立容器，并运行该容器</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将</a:t>
            </a:r>
            <a:r>
              <a:rPr lang="en-US" altLang="zh-CN" sz="2000" dirty="0" err="1">
                <a:latin typeface="宋体" panose="02010600030101010101" pitchFamily="2" charset="-122"/>
                <a:ea typeface="宋体" panose="02010600030101010101" pitchFamily="2" charset="-122"/>
              </a:rPr>
              <a:t>jdk</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tomcat</a:t>
            </a:r>
            <a:r>
              <a:rPr lang="zh-CN" altLang="en-US" sz="2000" dirty="0">
                <a:latin typeface="宋体" panose="02010600030101010101" pitchFamily="2" charset="-122"/>
                <a:ea typeface="宋体" panose="02010600030101010101" pitchFamily="2" charset="-122"/>
              </a:rPr>
              <a:t>压缩包上传至该容器的</a:t>
            </a:r>
            <a:r>
              <a:rPr lang="en-US" altLang="zh-CN"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usr</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目录下，并进入容器配置</a:t>
            </a:r>
            <a:r>
              <a:rPr lang="en-US" altLang="zh-CN" sz="2000" dirty="0" err="1">
                <a:latin typeface="宋体" panose="02010600030101010101" pitchFamily="2" charset="-122"/>
                <a:ea typeface="宋体" panose="02010600030101010101" pitchFamily="2" charset="-122"/>
              </a:rPr>
              <a:t>jdk</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在该容器下，配置</a:t>
            </a:r>
            <a:r>
              <a:rPr lang="en-US" altLang="zh-CN" sz="2000" dirty="0">
                <a:latin typeface="宋体" panose="02010600030101010101" pitchFamily="2" charset="-122"/>
                <a:ea typeface="宋体" panose="02010600030101010101" pitchFamily="2" charset="-122"/>
              </a:rPr>
              <a:t>tomcat</a:t>
            </a:r>
            <a:r>
              <a:rPr lang="zh-CN" altLang="en-US" sz="2000" dirty="0">
                <a:latin typeface="宋体" panose="02010600030101010101" pitchFamily="2" charset="-122"/>
                <a:ea typeface="宋体" panose="02010600030101010101" pitchFamily="2" charset="-122"/>
              </a:rPr>
              <a:t>，并创建启动脚本</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5</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退出容器，使用</a:t>
            </a:r>
            <a:r>
              <a:rPr lang="en-US" altLang="zh-CN" sz="2000" dirty="0">
                <a:latin typeface="宋体" panose="02010600030101010101" pitchFamily="2" charset="-122"/>
                <a:ea typeface="宋体" panose="02010600030101010101" pitchFamily="2" charset="-122"/>
              </a:rPr>
              <a:t>commit</a:t>
            </a:r>
            <a:r>
              <a:rPr lang="zh-CN" altLang="en-US" sz="2000" dirty="0">
                <a:latin typeface="宋体" panose="02010600030101010101" pitchFamily="2" charset="-122"/>
                <a:ea typeface="宋体" panose="02010600030101010101" pitchFamily="2" charset="-122"/>
              </a:rPr>
              <a:t>命令构建新镜像</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6</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利用新构建的镜像生成容器，并查看容器是否已经构建</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7</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测试页面是否访问正</a:t>
            </a:r>
            <a:r>
              <a:rPr lang="zh-CN"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p:txBody>
      </p:sp>
      <p:sp>
        <p:nvSpPr>
          <p:cNvPr id="5" name="文本占位符 4"/>
          <p:cNvSpPr>
            <a:spLocks noGrp="1"/>
          </p:cNvSpPr>
          <p:nvPr>
            <p:ph type="body" sz="quarter" idx="11"/>
          </p:nvPr>
        </p:nvSpPr>
        <p:spPr>
          <a:xfrm>
            <a:off x="2950140" y="346514"/>
            <a:ext cx="7291140"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12" name="文本占位符 11"/>
          <p:cNvSpPr>
            <a:spLocks noGrp="1"/>
          </p:cNvSpPr>
          <p:nvPr>
            <p:ph type="body" sz="quarter" idx="15"/>
          </p:nvPr>
        </p:nvSpPr>
        <p:spPr>
          <a:xfrm>
            <a:off x="3023999" y="1134920"/>
            <a:ext cx="4549775" cy="609600"/>
          </a:xfrm>
        </p:spPr>
        <p:txBody>
          <a:bodyPr/>
          <a:lstStyle/>
          <a:p>
            <a:r>
              <a:rPr lang="zh-CN" altLang="en-US" b="1" dirty="0">
                <a:latin typeface="宋体" panose="02010600030101010101" pitchFamily="2" charset="-122"/>
                <a:ea typeface="宋体" panose="02010600030101010101" pitchFamily="2" charset="-122"/>
              </a:rPr>
              <a:t>项目实训  创建定制</a:t>
            </a:r>
            <a:r>
              <a:rPr lang="en-US" altLang="zh-CN" b="1" dirty="0" err="1">
                <a:latin typeface="宋体" panose="02010600030101010101" pitchFamily="2" charset="-122"/>
                <a:ea typeface="宋体" panose="02010600030101010101" pitchFamily="2" charset="-122"/>
              </a:rPr>
              <a:t>Docker</a:t>
            </a:r>
            <a:r>
              <a:rPr lang="zh-CN" altLang="en-US" b="1" dirty="0">
                <a:latin typeface="宋体" panose="02010600030101010101" pitchFamily="2" charset="-122"/>
                <a:ea typeface="宋体" panose="02010600030101010101" pitchFamily="2" charset="-122"/>
              </a:rPr>
              <a:t>镜像</a:t>
            </a:r>
            <a:endParaRPr lang="zh-CN" altLang="en-US" b="1" dirty="0">
              <a:latin typeface="宋体" panose="02010600030101010101" pitchFamily="2" charset="-122"/>
              <a:ea typeface="宋体" panose="02010600030101010101" pitchFamily="2" charset="-122"/>
            </a:endParaRPr>
          </a:p>
        </p:txBody>
      </p:sp>
      <p:sp>
        <p:nvSpPr>
          <p:cNvPr id="7"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805850"/>
          </a:xfrm>
          <a:prstGeom prst="rect">
            <a:avLst/>
          </a:prstGeom>
          <a:noFill/>
        </p:spPr>
        <p:txBody>
          <a:bodyPr wrap="square" rtlCol="0">
            <a:spAutoFit/>
          </a:bodyPr>
          <a:lstStyle/>
          <a:p>
            <a:pPr algn="just" fontAlgn="ctr">
              <a:lnSpc>
                <a:spcPct val="150000"/>
              </a:lnSpc>
            </a:pPr>
            <a:r>
              <a:rPr lang="zh-CN" altLang="en-US" sz="2400">
                <a:latin typeface="宋体" panose="02010600030101010101" pitchFamily="2" charset="-122"/>
                <a:ea typeface="宋体" panose="02010600030101010101" pitchFamily="2" charset="-122"/>
              </a:rPr>
              <a:t>实</a:t>
            </a:r>
            <a:r>
              <a:rPr lang="zh-CN" altLang="en-US" sz="2400" dirty="0">
                <a:latin typeface="宋体" panose="02010600030101010101" pitchFamily="2" charset="-122"/>
                <a:ea typeface="宋体" panose="02010600030101010101" pitchFamily="2" charset="-122"/>
              </a:rPr>
              <a:t>训步骤（利用</a:t>
            </a:r>
            <a:r>
              <a:rPr lang="en-US" altLang="zh-CN" sz="2400" dirty="0" err="1">
                <a:latin typeface="宋体" panose="02010600030101010101" pitchFamily="2" charset="-122"/>
                <a:ea typeface="宋体" panose="02010600030101010101" pitchFamily="2" charset="-122"/>
              </a:rPr>
              <a:t>Dockerfile</a:t>
            </a:r>
            <a:r>
              <a:rPr lang="zh-CN" altLang="en-US" sz="2400" dirty="0">
                <a:latin typeface="宋体" panose="02010600030101010101" pitchFamily="2" charset="-122"/>
                <a:ea typeface="宋体" panose="02010600030101010101" pitchFamily="2" charset="-122"/>
              </a:rPr>
              <a:t>方式构建基于</a:t>
            </a:r>
            <a:r>
              <a:rPr lang="en-US" altLang="zh-CN" sz="2400" dirty="0" err="1">
                <a:latin typeface="宋体" panose="02010600030101010101" pitchFamily="2" charset="-122"/>
                <a:ea typeface="宋体" panose="02010600030101010101" pitchFamily="2" charset="-122"/>
              </a:rPr>
              <a:t>redhat</a:t>
            </a:r>
            <a:r>
              <a:rPr lang="zh-CN" altLang="en-US" sz="2400" dirty="0">
                <a:latin typeface="宋体" panose="02010600030101010101" pitchFamily="2" charset="-122"/>
                <a:ea typeface="宋体" panose="02010600030101010101" pitchFamily="2" charset="-122"/>
              </a:rPr>
              <a:t>的</a:t>
            </a:r>
            <a:r>
              <a:rPr lang="en-US" altLang="zh-CN" sz="2400" dirty="0">
                <a:latin typeface="宋体" panose="02010600030101010101" pitchFamily="2" charset="-122"/>
                <a:ea typeface="宋体" panose="02010600030101010101" pitchFamily="2" charset="-122"/>
              </a:rPr>
              <a:t>Tomcat</a:t>
            </a:r>
            <a:r>
              <a:rPr lang="zh-CN" altLang="en-US" sz="2400" dirty="0">
                <a:latin typeface="宋体" panose="02010600030101010101" pitchFamily="2" charset="-122"/>
                <a:ea typeface="宋体" panose="02010600030101010101" pitchFamily="2" charset="-122"/>
              </a:rPr>
              <a:t>镜像）</a:t>
            </a:r>
            <a:endParaRPr lang="en-US" altLang="zh-CN" sz="24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创建目录</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编写</a:t>
            </a:r>
            <a:r>
              <a:rPr lang="en-US" altLang="zh-CN" sz="2000" dirty="0" err="1">
                <a:latin typeface="宋体" panose="02010600030101010101" pitchFamily="2" charset="-122"/>
                <a:ea typeface="宋体" panose="02010600030101010101" pitchFamily="2" charset="-122"/>
              </a:rPr>
              <a:t>Dockerfile</a:t>
            </a:r>
            <a:r>
              <a:rPr lang="zh-CN" altLang="en-US" sz="2000" dirty="0">
                <a:latin typeface="宋体" panose="02010600030101010101" pitchFamily="2" charset="-122"/>
                <a:ea typeface="宋体" panose="02010600030101010101" pitchFamily="2" charset="-122"/>
              </a:rPr>
              <a:t>文件</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将</a:t>
            </a:r>
            <a:r>
              <a:rPr lang="en-US" altLang="zh-CN" sz="2000" dirty="0" err="1">
                <a:latin typeface="宋体" panose="02010600030101010101" pitchFamily="2" charset="-122"/>
                <a:ea typeface="宋体" panose="02010600030101010101" pitchFamily="2" charset="-122"/>
              </a:rPr>
              <a:t>jdk</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apache</a:t>
            </a:r>
            <a:r>
              <a:rPr lang="zh-CN" altLang="en-US" sz="2000" dirty="0">
                <a:latin typeface="宋体" panose="02010600030101010101" pitchFamily="2" charset="-122"/>
                <a:ea typeface="宋体" panose="02010600030101010101" pitchFamily="2" charset="-122"/>
              </a:rPr>
              <a:t>安装包上传到</a:t>
            </a:r>
            <a:r>
              <a:rPr lang="en-US" altLang="zh-CN" sz="2000" dirty="0">
                <a:latin typeface="宋体" panose="02010600030101010101" pitchFamily="2" charset="-122"/>
                <a:ea typeface="宋体" panose="02010600030101010101" pitchFamily="2" charset="-122"/>
              </a:rPr>
              <a:t>/user/docker</a:t>
            </a:r>
            <a:r>
              <a:rPr lang="zh-CN" altLang="en-US" sz="2000" dirty="0">
                <a:latin typeface="宋体" panose="02010600030101010101" pitchFamily="2" charset="-122"/>
                <a:ea typeface="宋体" panose="02010600030101010101" pitchFamily="2" charset="-122"/>
              </a:rPr>
              <a:t>目录下</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构建自定义镜像</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5</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查看已构建的镜像</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6</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利用已构建镜像来创建容器</a:t>
            </a:r>
            <a:r>
              <a:rPr lang="zh-CN"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lvl="1">
              <a:lnSpc>
                <a:spcPct val="150000"/>
              </a:lnSpc>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7</a:t>
            </a:r>
            <a:r>
              <a:rPr lang="zh-CN"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测试页面是否正常访问</a:t>
            </a:r>
            <a:r>
              <a:rPr lang="zh-CN"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p:txBody>
      </p:sp>
      <p:sp>
        <p:nvSpPr>
          <p:cNvPr id="5" name="文本占位符 4"/>
          <p:cNvSpPr>
            <a:spLocks noGrp="1"/>
          </p:cNvSpPr>
          <p:nvPr>
            <p:ph type="body" sz="quarter" idx="11"/>
          </p:nvPr>
        </p:nvSpPr>
        <p:spPr>
          <a:xfrm>
            <a:off x="2950140" y="346514"/>
            <a:ext cx="7291140" cy="480131"/>
          </a:xfrm>
        </p:spPr>
        <p:txBody>
          <a:bodyPr/>
          <a:lstStyle/>
          <a:p>
            <a:r>
              <a:rPr lang="zh-CN" altLang="en-US" dirty="0">
                <a:latin typeface="宋体" panose="02010600030101010101" pitchFamily="2" charset="-122"/>
                <a:ea typeface="宋体" panose="02010600030101010101" pitchFamily="2" charset="-122"/>
              </a:rPr>
              <a:t>任务</a:t>
            </a:r>
            <a:r>
              <a:rPr lang="en-US" altLang="zh-CN" dirty="0">
                <a:latin typeface="宋体" panose="02010600030101010101" pitchFamily="2" charset="-122"/>
                <a:ea typeface="宋体" panose="02010600030101010101" pitchFamily="2" charset="-122"/>
              </a:rPr>
              <a:t>2.3 </a:t>
            </a:r>
            <a:r>
              <a:rPr lang="zh-CN" altLang="en-US" dirty="0">
                <a:latin typeface="宋体" panose="02010600030101010101" pitchFamily="2" charset="-122"/>
                <a:ea typeface="宋体" panose="02010600030101010101" pitchFamily="2" charset="-122"/>
              </a:rPr>
              <a:t>创建定制的</a:t>
            </a:r>
            <a:r>
              <a:rPr lang="en-US" altLang="zh-CN" dirty="0">
                <a:latin typeface="宋体" panose="02010600030101010101" pitchFamily="2" charset="-122"/>
                <a:ea typeface="宋体" panose="02010600030101010101" pitchFamily="2" charset="-122"/>
              </a:rPr>
              <a:t>Docker</a:t>
            </a:r>
            <a:r>
              <a:rPr lang="zh-CN" altLang="en-US" dirty="0">
                <a:latin typeface="宋体" panose="02010600030101010101" pitchFamily="2" charset="-122"/>
                <a:ea typeface="宋体" panose="02010600030101010101" pitchFamily="2" charset="-122"/>
              </a:rPr>
              <a:t>镜像</a:t>
            </a:r>
            <a:endParaRPr lang="zh-CN" altLang="zh-CN" dirty="0">
              <a:latin typeface="宋体" panose="02010600030101010101" pitchFamily="2" charset="-122"/>
              <a:ea typeface="宋体" panose="02010600030101010101" pitchFamily="2" charset="-122"/>
            </a:endParaRPr>
          </a:p>
        </p:txBody>
      </p:sp>
      <p:sp>
        <p:nvSpPr>
          <p:cNvPr id="12" name="文本占位符 11"/>
          <p:cNvSpPr>
            <a:spLocks noGrp="1"/>
          </p:cNvSpPr>
          <p:nvPr>
            <p:ph type="body" sz="quarter" idx="15"/>
          </p:nvPr>
        </p:nvSpPr>
        <p:spPr>
          <a:xfrm>
            <a:off x="3023999" y="1134920"/>
            <a:ext cx="4549775" cy="609600"/>
          </a:xfrm>
        </p:spPr>
        <p:txBody>
          <a:bodyPr/>
          <a:lstStyle/>
          <a:p>
            <a:r>
              <a:rPr lang="zh-CN" altLang="en-US" b="1" dirty="0">
                <a:latin typeface="宋体" panose="02010600030101010101" pitchFamily="2" charset="-122"/>
                <a:ea typeface="宋体" panose="02010600030101010101" pitchFamily="2" charset="-122"/>
              </a:rPr>
              <a:t>项目实训  创建定制</a:t>
            </a:r>
            <a:r>
              <a:rPr lang="en-US" altLang="zh-CN" b="1" dirty="0" err="1">
                <a:latin typeface="宋体" panose="02010600030101010101" pitchFamily="2" charset="-122"/>
                <a:ea typeface="宋体" panose="02010600030101010101" pitchFamily="2" charset="-122"/>
              </a:rPr>
              <a:t>Docker</a:t>
            </a:r>
            <a:r>
              <a:rPr lang="zh-CN" altLang="en-US" b="1" dirty="0">
                <a:latin typeface="宋体" panose="02010600030101010101" pitchFamily="2" charset="-122"/>
                <a:ea typeface="宋体" panose="02010600030101010101" pitchFamily="2" charset="-122"/>
              </a:rPr>
              <a:t>镜像</a:t>
            </a:r>
            <a:endParaRPr lang="zh-CN" altLang="en-US" b="1" dirty="0">
              <a:latin typeface="宋体" panose="02010600030101010101" pitchFamily="2" charset="-122"/>
              <a:ea typeface="宋体" panose="02010600030101010101" pitchFamily="2" charset="-122"/>
            </a:endParaRPr>
          </a:p>
        </p:txBody>
      </p:sp>
      <p:sp>
        <p:nvSpPr>
          <p:cNvPr id="7" name="文本占位符 2"/>
          <p:cNvSpPr>
            <a:spLocks noGrp="1"/>
          </p:cNvSpPr>
          <p:nvPr>
            <p:ph type="body" sz="quarter" idx="13"/>
          </p:nvPr>
        </p:nvSpPr>
        <p:spPr>
          <a:xfrm>
            <a:off x="-165356" y="580829"/>
            <a:ext cx="1077685" cy="646331"/>
          </a:xfrm>
        </p:spPr>
        <p:txBody>
          <a:bodyPr/>
          <a:lstStyle/>
          <a:p>
            <a:r>
              <a:rPr lang="en-US" altLang="zh-CN" sz="4000" dirty="0">
                <a:latin typeface="宋体" panose="02010600030101010101" pitchFamily="2" charset="-122"/>
                <a:ea typeface="宋体" panose="02010600030101010101" pitchFamily="2" charset="-122"/>
              </a:rPr>
              <a:t>2.3</a:t>
            </a:r>
            <a:endParaRPr lang="zh-CN" altLang="en-US" sz="4000" dirty="0">
              <a:latin typeface="宋体" panose="02010600030101010101" pitchFamily="2" charset="-122"/>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709609" y="2501900"/>
            <a:ext cx="2334293" cy="2754665"/>
          </a:xfrm>
        </p:spPr>
        <p:txBody>
          <a:bodyPr/>
          <a:lstStyle/>
          <a:p>
            <a:r>
              <a:rPr lang="en-US" altLang="zh-CN" dirty="0"/>
              <a:t>Thank</a:t>
            </a:r>
            <a:endParaRPr lang="en-US" altLang="zh-CN" dirty="0"/>
          </a:p>
          <a:p>
            <a:r>
              <a:rPr lang="en-US" altLang="zh-CN" dirty="0"/>
              <a:t>YOU!</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10770</Words>
  <Application>WPS 演示</Application>
  <PresentationFormat>宽屏</PresentationFormat>
  <Paragraphs>688</Paragraphs>
  <Slides>43</Slides>
  <Notes>38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43</vt:i4>
      </vt:variant>
    </vt:vector>
  </HeadingPairs>
  <TitlesOfParts>
    <vt:vector size="58" baseType="lpstr">
      <vt:lpstr>Arial</vt:lpstr>
      <vt:lpstr>宋体</vt:lpstr>
      <vt:lpstr>Wingdings</vt:lpstr>
      <vt:lpstr>Times New Roman</vt:lpstr>
      <vt:lpstr>微软雅黑</vt:lpstr>
      <vt:lpstr>Calibri</vt:lpstr>
      <vt:lpstr>华文中宋</vt:lpstr>
      <vt:lpstr>方正兰亭超细黑简体</vt:lpstr>
      <vt:lpstr>黑体</vt:lpstr>
      <vt:lpstr>思源黑体 CN Normal</vt:lpstr>
      <vt:lpstr>思源黑体 CN Bold</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郭晓伟</cp:lastModifiedBy>
  <cp:revision>2219</cp:revision>
  <dcterms:created xsi:type="dcterms:W3CDTF">2018-06-05T12:48:00Z</dcterms:created>
  <dcterms:modified xsi:type="dcterms:W3CDTF">2026-03-31T03:00:29Z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870228E35E6444678EE69F5A068E42D1_12</vt:lpwstr>
  </property>
  <property fmtid="{D5CDD505-2E9C-101B-9397-08002B2CF9AE}" pid="3" name="KSOProductBuildVer">
    <vt:lpwstr>2052-12.1.0.25225</vt:lpwstr>
  </property>
</Properties>
</file>